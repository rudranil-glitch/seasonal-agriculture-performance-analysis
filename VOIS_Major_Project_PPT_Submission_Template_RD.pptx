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62"/>
  </p:notesMasterIdLst>
  <p:handoutMasterIdLst>
    <p:handoutMasterId r:id="rId63"/>
  </p:handoutMasterIdLst>
  <p:sldIdLst>
    <p:sldId id="338" r:id="rId5"/>
    <p:sldId id="327" r:id="rId6"/>
    <p:sldId id="315" r:id="rId7"/>
    <p:sldId id="329" r:id="rId8"/>
    <p:sldId id="302" r:id="rId9"/>
    <p:sldId id="340" r:id="rId10"/>
    <p:sldId id="344" r:id="rId11"/>
    <p:sldId id="345" r:id="rId12"/>
    <p:sldId id="346" r:id="rId13"/>
    <p:sldId id="341"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76" r:id="rId44"/>
    <p:sldId id="377" r:id="rId45"/>
    <p:sldId id="378" r:id="rId46"/>
    <p:sldId id="379" r:id="rId47"/>
    <p:sldId id="380" r:id="rId48"/>
    <p:sldId id="381" r:id="rId49"/>
    <p:sldId id="382" r:id="rId50"/>
    <p:sldId id="383" r:id="rId51"/>
    <p:sldId id="384" r:id="rId52"/>
    <p:sldId id="385" r:id="rId53"/>
    <p:sldId id="386" r:id="rId54"/>
    <p:sldId id="387" r:id="rId55"/>
    <p:sldId id="388" r:id="rId56"/>
    <p:sldId id="389" r:id="rId57"/>
    <p:sldId id="390" r:id="rId58"/>
    <p:sldId id="342" r:id="rId59"/>
    <p:sldId id="343" r:id="rId60"/>
    <p:sldId id="304"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github.com/rudranil-glitch/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6" y="2703118"/>
            <a:ext cx="5818149" cy="721546"/>
          </a:xfrm>
        </p:spPr>
        <p:txBody>
          <a:bodyPr>
            <a:normAutofit fontScale="90000"/>
          </a:bodyPr>
          <a:lstStyle/>
          <a:p>
            <a:r>
              <a:rPr lang="en-GB" sz="3200" dirty="0"/>
              <a:t>Project Title -</a:t>
            </a:r>
            <a:r>
              <a:rPr lang="en-GB" sz="3200" dirty="0">
                <a:latin typeface="Bahnschrift SemiLight" panose="020B0502040204020203" pitchFamily="34" charset="0"/>
              </a:rPr>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9" name="TextBox 8">
            <a:extLst>
              <a:ext uri="{FF2B5EF4-FFF2-40B4-BE49-F238E27FC236}">
                <a16:creationId xmlns:a16="http://schemas.microsoft.com/office/drawing/2014/main" id="{8DF20B1B-E2A9-B469-F1DD-95C67BDFF8BD}"/>
              </a:ext>
            </a:extLst>
          </p:cNvPr>
          <p:cNvSpPr txBox="1"/>
          <p:nvPr/>
        </p:nvSpPr>
        <p:spPr>
          <a:xfrm>
            <a:off x="675956" y="3915376"/>
            <a:ext cx="6900501" cy="923330"/>
          </a:xfrm>
          <a:prstGeom prst="rect">
            <a:avLst/>
          </a:prstGeom>
          <a:noFill/>
        </p:spPr>
        <p:txBody>
          <a:bodyPr wrap="square" rtlCol="0">
            <a:spAutoFit/>
          </a:bodyPr>
          <a:lstStyle/>
          <a:p>
            <a:r>
              <a:rPr lang="en-US" dirty="0">
                <a:latin typeface="Bookman Old Style" panose="02050604050505020204" pitchFamily="18" charset="0"/>
              </a:rPr>
              <a:t>Student Name – </a:t>
            </a:r>
            <a:r>
              <a:rPr lang="en-US" dirty="0" err="1">
                <a:latin typeface="Bookman Old Style" panose="02050604050505020204" pitchFamily="18" charset="0"/>
              </a:rPr>
              <a:t>Rudranil</a:t>
            </a:r>
            <a:r>
              <a:rPr lang="en-US" dirty="0">
                <a:latin typeface="Bookman Old Style" panose="02050604050505020204" pitchFamily="18" charset="0"/>
              </a:rPr>
              <a:t> Dey</a:t>
            </a:r>
            <a:endParaRPr lang="en-IN" dirty="0">
              <a:latin typeface="Bookman Old Style" panose="02050604050505020204" pitchFamily="18" charset="0"/>
            </a:endParaRPr>
          </a:p>
          <a:p>
            <a:r>
              <a:rPr lang="en-US" dirty="0">
                <a:latin typeface="Bookman Old Style" panose="02050604050505020204" pitchFamily="18" charset="0"/>
              </a:rPr>
              <a:t>College Name - Institute Of Engineering &amp; Management</a:t>
            </a:r>
            <a:endParaRPr lang="en-IN" dirty="0">
              <a:latin typeface="Bookman Old Style" panose="02050604050505020204" pitchFamily="18" charset="0"/>
            </a:endParaRPr>
          </a:p>
          <a:p>
            <a:r>
              <a:rPr lang="en-US" dirty="0">
                <a:latin typeface="Bookman Old Style" panose="02050604050505020204" pitchFamily="18" charset="0"/>
              </a:rPr>
              <a:t>AICTE STU ID : STU6970f879c514d1769011321</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130455" y="2130222"/>
            <a:ext cx="6431280" cy="3607987"/>
          </a:xfrm>
        </p:spPr>
        <p:txBody>
          <a:bodyPr vert="horz" lIns="91440" tIns="45720" rIns="91440" bIns="45720" rtlCol="0" anchor="t">
            <a:normAutofit fontScale="55000" lnSpcReduction="20000"/>
          </a:bodyPr>
          <a:lstStyle/>
          <a:p>
            <a:pPr marL="0" indent="0">
              <a:lnSpc>
                <a:spcPct val="150000"/>
              </a:lnSpc>
              <a:buNone/>
            </a:pPr>
            <a:r>
              <a:rPr lang="en-US" sz="2900" dirty="0">
                <a:latin typeface="Bookman Old Style" panose="020506040505050202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900" dirty="0">
              <a:latin typeface="Bookman Old Style" panose="02050604050505020204" pitchFamily="18" charset="0"/>
            </a:endParaRPr>
          </a:p>
          <a:p>
            <a:pPr marL="0" indent="0">
              <a:lnSpc>
                <a:spcPct val="150000"/>
              </a:lnSpc>
              <a:buNone/>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209281" y="752690"/>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C848D2D-F33D-C0E1-6B9F-438CA4C63FEB}"/>
              </a:ext>
            </a:extLst>
          </p:cNvPr>
          <p:cNvSpPr txBox="1"/>
          <p:nvPr/>
        </p:nvSpPr>
        <p:spPr>
          <a:xfrm>
            <a:off x="1198471" y="2150414"/>
            <a:ext cx="7665610" cy="3693319"/>
          </a:xfrm>
          <a:prstGeom prst="rect">
            <a:avLst/>
          </a:prstGeom>
          <a:noFill/>
        </p:spPr>
        <p:txBody>
          <a:bodyPr wrap="square" rtlCol="0">
            <a:spAutoFit/>
          </a:bodyPr>
          <a:lstStyle/>
          <a:p>
            <a:r>
              <a:rPr lang="en-IN" dirty="0">
                <a:latin typeface="Bookman Old Style" panose="02050604050505020204" pitchFamily="18" charset="0"/>
              </a:rPr>
              <a:t>This project focuses on </a:t>
            </a:r>
            <a:r>
              <a:rPr lang="en-IN" dirty="0" err="1">
                <a:latin typeface="Bookman Old Style" panose="02050604050505020204" pitchFamily="18" charset="0"/>
              </a:rPr>
              <a:t>analyzing</a:t>
            </a:r>
            <a:r>
              <a:rPr lang="en-IN" dirty="0">
                <a:latin typeface="Bookman Old Style" panose="02050604050505020204" pitchFamily="18" charset="0"/>
              </a:rPr>
              <a:t> agricultural data across different seasons, geographical areas, and farming conditions. The analysis aims to identify seasonal patterns, trends, relationships, and variations in agricultural performance.</a:t>
            </a:r>
            <a:br>
              <a:rPr lang="en-IN" dirty="0">
                <a:latin typeface="Bookman Old Style" panose="02050604050505020204" pitchFamily="18" charset="0"/>
              </a:rPr>
            </a:br>
            <a:r>
              <a:rPr lang="en-IN" dirty="0">
                <a:latin typeface="Bookman Old Style" panose="02050604050505020204" pitchFamily="18" charset="0"/>
              </a:rPr>
              <a:t>The project involves data exploration, cleaning, statistical analysis, and visualization to understand how factors such as environmental conditions, farming practices, resource usage, crop production, and economic performance vary across seasons.</a:t>
            </a:r>
            <a:br>
              <a:rPr lang="en-IN" dirty="0">
                <a:latin typeface="Bookman Old Style" panose="02050604050505020204" pitchFamily="18" charset="0"/>
              </a:rPr>
            </a:br>
            <a:r>
              <a:rPr lang="en-IN" dirty="0">
                <a:latin typeface="Bookman Old Style" panose="02050604050505020204" pitchFamily="18" charset="0"/>
              </a:rPr>
              <a:t>The findings will help generate data-driven insights and recommendations for better understanding and planning of seasonal agricultural activities.</a:t>
            </a:r>
            <a:br>
              <a:rPr lang="en-IN" dirty="0">
                <a:latin typeface="Bookman Old Style" panose="02050604050505020204" pitchFamily="18" charset="0"/>
              </a:rPr>
            </a:br>
            <a:endParaRPr lang="en-IN" dirty="0"/>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234542" y="2075335"/>
            <a:ext cx="7904481" cy="3990023"/>
          </a:xfrm>
        </p:spPr>
        <p:txBody>
          <a:bodyPr>
            <a:normAutofit fontScale="62500" lnSpcReduction="20000"/>
          </a:bodyPr>
          <a:lstStyle/>
          <a:p>
            <a:pPr lvl="0"/>
            <a:r>
              <a:rPr lang="en-IN" sz="3600" b="1" dirty="0"/>
              <a:t>Farmers</a:t>
            </a:r>
            <a:r>
              <a:rPr lang="en-IN" sz="3600" dirty="0"/>
              <a:t> – To understand seasonal crop performance and improve farming decisions. </a:t>
            </a:r>
          </a:p>
          <a:p>
            <a:pPr lvl="0"/>
            <a:r>
              <a:rPr lang="en-IN" sz="3600" b="1" dirty="0"/>
              <a:t>Agricultural Planners</a:t>
            </a:r>
            <a:r>
              <a:rPr lang="en-IN" sz="3600" dirty="0"/>
              <a:t> – To support seasonal planning and resource allocation. </a:t>
            </a:r>
          </a:p>
          <a:p>
            <a:pPr lvl="0"/>
            <a:r>
              <a:rPr lang="en-IN" sz="3600" b="1" dirty="0"/>
              <a:t>Government &amp; Agricultural Departments</a:t>
            </a:r>
            <a:r>
              <a:rPr lang="en-IN" sz="3600" dirty="0"/>
              <a:t> – To understand agricultural trends and support planning. </a:t>
            </a:r>
          </a:p>
          <a:p>
            <a:pPr lvl="0"/>
            <a:r>
              <a:rPr lang="en-IN" sz="3600" b="1" dirty="0"/>
              <a:t>Agricultural Analysts/Researchers</a:t>
            </a:r>
            <a:r>
              <a:rPr lang="en-IN" sz="3600" dirty="0"/>
              <a:t> – To </a:t>
            </a:r>
            <a:r>
              <a:rPr lang="en-IN" sz="3600" dirty="0" err="1"/>
              <a:t>analyze</a:t>
            </a:r>
            <a:r>
              <a:rPr lang="en-IN" sz="3600" dirty="0"/>
              <a:t> seasonal patterns and agricultural performance. </a:t>
            </a:r>
          </a:p>
          <a:p>
            <a:pPr lvl="0"/>
            <a:r>
              <a:rPr lang="en-IN" sz="3600" b="1" dirty="0"/>
              <a:t>Agribusiness Stakeholders</a:t>
            </a:r>
            <a:r>
              <a:rPr lang="en-IN" sz="3600" dirty="0"/>
              <a:t> – To understand production and economic performance across seasons.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2411485" y="792642"/>
            <a:ext cx="6340629"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79663" y="1673814"/>
            <a:ext cx="9027702" cy="4389742"/>
          </a:xfrm>
        </p:spPr>
        <p:txBody>
          <a:bodyPr/>
          <a:lstStyle/>
          <a:p>
            <a:pPr lvl="0"/>
            <a:r>
              <a:rPr lang="en-IN" b="1" dirty="0"/>
              <a:t>Python</a:t>
            </a:r>
            <a:r>
              <a:rPr lang="en-IN" dirty="0"/>
              <a:t> – Data cleaning, analysis, and processing </a:t>
            </a:r>
          </a:p>
          <a:p>
            <a:pPr lvl="0"/>
            <a:r>
              <a:rPr lang="en-IN" b="1" dirty="0"/>
              <a:t>Pandas</a:t>
            </a:r>
            <a:r>
              <a:rPr lang="en-IN" dirty="0"/>
              <a:t> – Data manipulation and exploration </a:t>
            </a:r>
          </a:p>
          <a:p>
            <a:pPr lvl="0"/>
            <a:r>
              <a:rPr lang="en-IN" b="1" dirty="0"/>
              <a:t>NumPy</a:t>
            </a:r>
            <a:r>
              <a:rPr lang="en-IN" dirty="0"/>
              <a:t> – Numerical computations </a:t>
            </a:r>
          </a:p>
          <a:p>
            <a:pPr lvl="0"/>
            <a:r>
              <a:rPr lang="en-IN" b="1" dirty="0"/>
              <a:t>Matplotlib / Seaborn</a:t>
            </a:r>
            <a:r>
              <a:rPr lang="en-IN" dirty="0"/>
              <a:t> – Data visualization </a:t>
            </a:r>
          </a:p>
          <a:p>
            <a:pPr lvl="0"/>
            <a:r>
              <a:rPr lang="en-IN" b="1" dirty="0"/>
              <a:t>Jupyter Notebook</a:t>
            </a:r>
            <a:r>
              <a:rPr lang="en-IN" dirty="0"/>
              <a:t> – Performing and documenting the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058366" y="370535"/>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851918" y="1275371"/>
            <a:ext cx="5701004" cy="4434964"/>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3343561" cy="4150936"/>
          </a:xfrm>
        </p:spPr>
        <p:txBody>
          <a:bodyPr>
            <a:normAutofit/>
          </a:bodyPr>
          <a:lstStyle/>
          <a:p>
            <a:r>
              <a:rPr lang="en-IN" sz="1700" b="1" dirty="0">
                <a:solidFill>
                  <a:schemeClr val="tx1"/>
                </a:solidFill>
              </a:rPr>
              <a:t>print("Number of rows:", </a:t>
            </a:r>
            <a:r>
              <a:rPr lang="en-IN" sz="1700" b="1" dirty="0" err="1">
                <a:solidFill>
                  <a:schemeClr val="tx1"/>
                </a:solidFill>
              </a:rPr>
              <a:t>df.shape</a:t>
            </a:r>
            <a:r>
              <a:rPr lang="en-IN" sz="1700" b="1" dirty="0">
                <a:solidFill>
                  <a:schemeClr val="tx1"/>
                </a:solidFill>
              </a:rPr>
              <a:t>[0])</a:t>
            </a:r>
          </a:p>
          <a:p>
            <a:r>
              <a:rPr lang="en-IN" sz="1700" b="1" dirty="0">
                <a:solidFill>
                  <a:schemeClr val="tx1"/>
                </a:solidFill>
              </a:rPr>
              <a:t>print("Number of columns:", </a:t>
            </a:r>
            <a:r>
              <a:rPr lang="en-IN" sz="1700" b="1" dirty="0" err="1">
                <a:solidFill>
                  <a:schemeClr val="tx1"/>
                </a:solidFill>
              </a:rPr>
              <a:t>df.shape</a:t>
            </a:r>
            <a:r>
              <a:rPr lang="en-IN" sz="1700" b="1" dirty="0">
                <a:solidFill>
                  <a:schemeClr val="tx1"/>
                </a:solidFill>
              </a:rPr>
              <a:t>[1])</a:t>
            </a:r>
          </a:p>
          <a:p>
            <a:r>
              <a:rPr lang="en-IN" sz="1700" b="1" dirty="0">
                <a:solidFill>
                  <a:schemeClr val="tx1"/>
                </a:solidFill>
              </a:rPr>
              <a:t>print("\</a:t>
            </a:r>
            <a:r>
              <a:rPr lang="en-IN" sz="1700" b="1" dirty="0" err="1">
                <a:solidFill>
                  <a:schemeClr val="tx1"/>
                </a:solidFill>
              </a:rPr>
              <a:t>nColumn</a:t>
            </a:r>
            <a:r>
              <a:rPr lang="en-IN" sz="1700" b="1" dirty="0">
                <a:solidFill>
                  <a:schemeClr val="tx1"/>
                </a:solidFill>
              </a:rPr>
              <a:t> Names:")</a:t>
            </a:r>
          </a:p>
          <a:p>
            <a:r>
              <a:rPr lang="en-IN" sz="1700" b="1" dirty="0">
                <a:solidFill>
                  <a:schemeClr val="tx1"/>
                </a:solidFill>
              </a:rPr>
              <a:t>print(</a:t>
            </a:r>
            <a:r>
              <a:rPr lang="en-IN" sz="1700" b="1" dirty="0" err="1">
                <a:solidFill>
                  <a:schemeClr val="tx1"/>
                </a:solidFill>
              </a:rPr>
              <a:t>df.columns.tolist</a:t>
            </a:r>
            <a:r>
              <a:rPr lang="en-IN" sz="1700" b="1" dirty="0">
                <a:solidFill>
                  <a:schemeClr val="tx1"/>
                </a:solidFill>
              </a:rPr>
              <a:t>())</a:t>
            </a:r>
          </a:p>
          <a:p>
            <a:r>
              <a:rPr lang="en-IN" sz="1700" b="1" dirty="0">
                <a:solidFill>
                  <a:schemeClr val="tx1"/>
                </a:solidFill>
              </a:rPr>
              <a:t>print("\</a:t>
            </a:r>
            <a:r>
              <a:rPr lang="en-IN" sz="1700" b="1" dirty="0" err="1">
                <a:solidFill>
                  <a:schemeClr val="tx1"/>
                </a:solidFill>
              </a:rPr>
              <a:t>nFirst</a:t>
            </a:r>
            <a:r>
              <a:rPr lang="en-IN" sz="1700" b="1" dirty="0">
                <a:solidFill>
                  <a:schemeClr val="tx1"/>
                </a:solidFill>
              </a:rPr>
              <a:t> 5 Rows:")</a:t>
            </a:r>
          </a:p>
          <a:p>
            <a:r>
              <a:rPr lang="en-IN" sz="1700" b="1" dirty="0">
                <a:solidFill>
                  <a:schemeClr val="tx1"/>
                </a:solidFill>
              </a:rPr>
              <a:t>display(</a:t>
            </a:r>
            <a:r>
              <a:rPr lang="en-IN" sz="1700" b="1" dirty="0" err="1">
                <a:solidFill>
                  <a:schemeClr val="tx1"/>
                </a:solidFill>
              </a:rPr>
              <a:t>df.head</a:t>
            </a:r>
            <a:r>
              <a:rPr lang="en-IN" sz="1700" b="1" dirty="0">
                <a:solidFill>
                  <a:schemeClr val="tx1"/>
                </a:solidFill>
              </a:rPr>
              <a:t>())</a:t>
            </a:r>
          </a:p>
          <a:p>
            <a:r>
              <a:rPr lang="en-IN" sz="1700" b="1" dirty="0">
                <a:solidFill>
                  <a:schemeClr val="tx1"/>
                </a:solidFill>
              </a:rPr>
              <a:t>print("\</a:t>
            </a:r>
            <a:r>
              <a:rPr lang="en-IN" sz="1700" b="1" dirty="0" err="1">
                <a:solidFill>
                  <a:schemeClr val="tx1"/>
                </a:solidFill>
              </a:rPr>
              <a:t>nLast</a:t>
            </a:r>
            <a:r>
              <a:rPr lang="en-IN" sz="1700" b="1" dirty="0">
                <a:solidFill>
                  <a:schemeClr val="tx1"/>
                </a:solidFill>
              </a:rPr>
              <a:t> 5 Rows:")</a:t>
            </a:r>
          </a:p>
          <a:p>
            <a:r>
              <a:rPr lang="en-IN" sz="1700" b="1" dirty="0">
                <a:solidFill>
                  <a:schemeClr val="tx1"/>
                </a:solidFill>
              </a:rPr>
              <a:t>display(</a:t>
            </a:r>
            <a:r>
              <a:rPr lang="en-IN" sz="1700" b="1" dirty="0" err="1">
                <a:solidFill>
                  <a:schemeClr val="tx1"/>
                </a:solidFill>
              </a:rPr>
              <a:t>df.tail</a:t>
            </a:r>
            <a:r>
              <a:rPr lang="en-IN" sz="1700" b="1" dirty="0">
                <a:solidFill>
                  <a:schemeClr val="tx1"/>
                </a:solidFill>
              </a:rPr>
              <a:t>())</a:t>
            </a:r>
          </a:p>
          <a:p>
            <a:pPr marL="0" indent="0">
              <a:buNone/>
            </a:pPr>
            <a:endParaRPr lang="en-IN" dirty="0"/>
          </a:p>
        </p:txBody>
      </p:sp>
      <p:pic>
        <p:nvPicPr>
          <p:cNvPr id="17" name="Picture 16">
            <a:extLst>
              <a:ext uri="{FF2B5EF4-FFF2-40B4-BE49-F238E27FC236}">
                <a16:creationId xmlns:a16="http://schemas.microsoft.com/office/drawing/2014/main" id="{A25EC542-43B3-C6F1-4E99-8923D80B0BFF}"/>
              </a:ext>
            </a:extLst>
          </p:cNvPr>
          <p:cNvPicPr>
            <a:picLocks noChangeAspect="1"/>
          </p:cNvPicPr>
          <p:nvPr/>
        </p:nvPicPr>
        <p:blipFill>
          <a:blip r:embed="rId3"/>
          <a:stretch>
            <a:fillRect/>
          </a:stretch>
        </p:blipFill>
        <p:spPr>
          <a:xfrm>
            <a:off x="4599992" y="202333"/>
            <a:ext cx="7469973" cy="3383318"/>
          </a:xfrm>
          <a:prstGeom prst="rect">
            <a:avLst/>
          </a:prstGeom>
        </p:spPr>
      </p:pic>
      <p:pic>
        <p:nvPicPr>
          <p:cNvPr id="20" name="Picture 19">
            <a:extLst>
              <a:ext uri="{FF2B5EF4-FFF2-40B4-BE49-F238E27FC236}">
                <a16:creationId xmlns:a16="http://schemas.microsoft.com/office/drawing/2014/main" id="{36CED9BC-D1F2-4AF7-14E8-A0E02BBEB973}"/>
              </a:ext>
            </a:extLst>
          </p:cNvPr>
          <p:cNvPicPr>
            <a:picLocks noChangeAspect="1"/>
          </p:cNvPicPr>
          <p:nvPr/>
        </p:nvPicPr>
        <p:blipFill>
          <a:blip r:embed="rId4"/>
          <a:stretch>
            <a:fillRect/>
          </a:stretch>
        </p:blipFill>
        <p:spPr>
          <a:xfrm>
            <a:off x="4599991" y="3585651"/>
            <a:ext cx="7469973" cy="319305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237007" y="2319388"/>
            <a:ext cx="3343561" cy="159845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194CACA9-98E6-DDAC-3807-C0CC3E407067}"/>
              </a:ext>
            </a:extLst>
          </p:cNvPr>
          <p:cNvSpPr>
            <a:spLocks noGrp="1"/>
          </p:cNvSpPr>
          <p:nvPr>
            <p:ph type="body" sz="quarter" idx="12"/>
          </p:nvPr>
        </p:nvSpPr>
        <p:spPr>
          <a:xfrm>
            <a:off x="675957" y="2500604"/>
            <a:ext cx="2627080" cy="1950098"/>
          </a:xfrm>
        </p:spPr>
        <p:txBody>
          <a:bodyPr/>
          <a:lstStyle/>
          <a:p>
            <a:pPr lvl="2"/>
            <a:r>
              <a:rPr lang="en-IN" sz="2400" b="1" dirty="0">
                <a:solidFill>
                  <a:schemeClr val="tx1"/>
                </a:solidFill>
              </a:rPr>
              <a:t>df.info()</a:t>
            </a:r>
          </a:p>
          <a:p>
            <a:endParaRPr lang="en-IN" dirty="0"/>
          </a:p>
        </p:txBody>
      </p:sp>
      <p:pic>
        <p:nvPicPr>
          <p:cNvPr id="11" name="Picture 10">
            <a:extLst>
              <a:ext uri="{FF2B5EF4-FFF2-40B4-BE49-F238E27FC236}">
                <a16:creationId xmlns:a16="http://schemas.microsoft.com/office/drawing/2014/main" id="{1E5E9088-F9E7-B218-B204-444B7BD3ECC9}"/>
              </a:ext>
            </a:extLst>
          </p:cNvPr>
          <p:cNvPicPr>
            <a:picLocks noChangeAspect="1"/>
          </p:cNvPicPr>
          <p:nvPr/>
        </p:nvPicPr>
        <p:blipFill>
          <a:blip r:embed="rId3"/>
          <a:stretch>
            <a:fillRect/>
          </a:stretch>
        </p:blipFill>
        <p:spPr>
          <a:xfrm>
            <a:off x="3913610" y="300165"/>
            <a:ext cx="6816594" cy="4671465"/>
          </a:xfrm>
          <a:prstGeom prst="rect">
            <a:avLst/>
          </a:prstGeom>
        </p:spPr>
      </p:pic>
      <p:pic>
        <p:nvPicPr>
          <p:cNvPr id="14" name="Picture 13">
            <a:extLst>
              <a:ext uri="{FF2B5EF4-FFF2-40B4-BE49-F238E27FC236}">
                <a16:creationId xmlns:a16="http://schemas.microsoft.com/office/drawing/2014/main" id="{93960E6F-CE4E-F093-D737-A55400F00845}"/>
              </a:ext>
            </a:extLst>
          </p:cNvPr>
          <p:cNvPicPr>
            <a:picLocks noChangeAspect="1"/>
          </p:cNvPicPr>
          <p:nvPr/>
        </p:nvPicPr>
        <p:blipFill>
          <a:blip r:embed="rId4"/>
          <a:stretch>
            <a:fillRect/>
          </a:stretch>
        </p:blipFill>
        <p:spPr>
          <a:xfrm>
            <a:off x="3901250" y="4971629"/>
            <a:ext cx="6828954" cy="180208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E9E5EBE7-AE37-7DFF-2DCC-3CC11A6F514A}"/>
              </a:ext>
            </a:extLst>
          </p:cNvPr>
          <p:cNvSpPr>
            <a:spLocks noGrp="1"/>
          </p:cNvSpPr>
          <p:nvPr>
            <p:ph type="body" sz="quarter" idx="12"/>
          </p:nvPr>
        </p:nvSpPr>
        <p:spPr>
          <a:xfrm>
            <a:off x="660400" y="2044700"/>
            <a:ext cx="3343561" cy="1025071"/>
          </a:xfrm>
        </p:spPr>
        <p:txBody>
          <a:bodyPr/>
          <a:lstStyle/>
          <a:p>
            <a:r>
              <a:rPr lang="en-IN" b="1" dirty="0">
                <a:solidFill>
                  <a:schemeClr val="tx1"/>
                </a:solidFill>
              </a:rPr>
              <a:t>display(</a:t>
            </a:r>
            <a:r>
              <a:rPr lang="en-IN" b="1" dirty="0" err="1">
                <a:solidFill>
                  <a:schemeClr val="tx1"/>
                </a:solidFill>
              </a:rPr>
              <a:t>df.describe</a:t>
            </a:r>
            <a:r>
              <a:rPr lang="en-IN" b="1" dirty="0">
                <a:solidFill>
                  <a:schemeClr val="tx1"/>
                </a:solidFill>
              </a:rPr>
              <a:t>().T)</a:t>
            </a:r>
          </a:p>
          <a:p>
            <a:endParaRPr lang="en-IN" dirty="0"/>
          </a:p>
        </p:txBody>
      </p:sp>
      <p:pic>
        <p:nvPicPr>
          <p:cNvPr id="11" name="Picture 10">
            <a:extLst>
              <a:ext uri="{FF2B5EF4-FFF2-40B4-BE49-F238E27FC236}">
                <a16:creationId xmlns:a16="http://schemas.microsoft.com/office/drawing/2014/main" id="{EC3D1955-BC82-F716-18DC-F8DF7DD1F70C}"/>
              </a:ext>
            </a:extLst>
          </p:cNvPr>
          <p:cNvPicPr>
            <a:picLocks noChangeAspect="1"/>
          </p:cNvPicPr>
          <p:nvPr/>
        </p:nvPicPr>
        <p:blipFill>
          <a:blip r:embed="rId3"/>
          <a:stretch>
            <a:fillRect/>
          </a:stretch>
        </p:blipFill>
        <p:spPr>
          <a:xfrm>
            <a:off x="4003960" y="56513"/>
            <a:ext cx="8188039" cy="5082980"/>
          </a:xfrm>
          <a:prstGeom prst="rect">
            <a:avLst/>
          </a:prstGeom>
        </p:spPr>
      </p:pic>
      <p:pic>
        <p:nvPicPr>
          <p:cNvPr id="14" name="Picture 13">
            <a:extLst>
              <a:ext uri="{FF2B5EF4-FFF2-40B4-BE49-F238E27FC236}">
                <a16:creationId xmlns:a16="http://schemas.microsoft.com/office/drawing/2014/main" id="{D668092D-95CA-A562-488A-1B1D92DBCD35}"/>
              </a:ext>
            </a:extLst>
          </p:cNvPr>
          <p:cNvPicPr>
            <a:picLocks noChangeAspect="1"/>
          </p:cNvPicPr>
          <p:nvPr/>
        </p:nvPicPr>
        <p:blipFill>
          <a:blip r:embed="rId4"/>
          <a:stretch>
            <a:fillRect/>
          </a:stretch>
        </p:blipFill>
        <p:spPr>
          <a:xfrm>
            <a:off x="4003959" y="5139493"/>
            <a:ext cx="8188040" cy="187468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F65B6582-9BF2-3D4E-2103-38EECB05D6F0}"/>
              </a:ext>
            </a:extLst>
          </p:cNvPr>
          <p:cNvSpPr>
            <a:spLocks noGrp="1"/>
          </p:cNvSpPr>
          <p:nvPr>
            <p:ph type="body" sz="quarter" idx="12"/>
          </p:nvPr>
        </p:nvSpPr>
        <p:spPr>
          <a:xfrm>
            <a:off x="154994" y="1201586"/>
            <a:ext cx="4023568" cy="1930141"/>
          </a:xfrm>
        </p:spPr>
        <p:txBody>
          <a:bodyPr>
            <a:normAutofit fontScale="70000" lnSpcReduction="20000"/>
          </a:bodyPr>
          <a:lstStyle/>
          <a:p>
            <a:r>
              <a:rPr lang="en-IN" dirty="0" err="1"/>
              <a:t>categorical_columns</a:t>
            </a:r>
            <a:r>
              <a:rPr lang="en-IN" dirty="0"/>
              <a:t> = </a:t>
            </a:r>
            <a:r>
              <a:rPr lang="en-IN" dirty="0" err="1"/>
              <a:t>df.select_dtypes</a:t>
            </a:r>
            <a:r>
              <a:rPr lang="en-IN" dirty="0"/>
              <a:t>(include='object').columns</a:t>
            </a:r>
          </a:p>
          <a:p>
            <a:br>
              <a:rPr lang="en-IN" dirty="0"/>
            </a:br>
            <a:endParaRPr lang="en-IN" dirty="0"/>
          </a:p>
          <a:p>
            <a:r>
              <a:rPr lang="en-IN" dirty="0"/>
              <a:t>for col in </a:t>
            </a:r>
            <a:r>
              <a:rPr lang="en-IN" dirty="0" err="1"/>
              <a:t>categorical_columns</a:t>
            </a:r>
            <a:r>
              <a:rPr lang="en-IN" dirty="0"/>
              <a:t>:</a:t>
            </a:r>
          </a:p>
          <a:p>
            <a:r>
              <a:rPr lang="en-IN" dirty="0"/>
              <a:t>    print(f"\n===== {col} =====")</a:t>
            </a:r>
          </a:p>
          <a:p>
            <a:r>
              <a:rPr lang="en-IN" dirty="0"/>
              <a:t>    print(</a:t>
            </a:r>
            <a:r>
              <a:rPr lang="en-IN" dirty="0" err="1"/>
              <a:t>df</a:t>
            </a:r>
            <a:r>
              <a:rPr lang="en-IN" dirty="0"/>
              <a:t>[col].</a:t>
            </a:r>
            <a:r>
              <a:rPr lang="en-IN" dirty="0" err="1"/>
              <a:t>value_counts</a:t>
            </a:r>
            <a:r>
              <a:rPr lang="en-IN" dirty="0"/>
              <a:t>())</a:t>
            </a:r>
          </a:p>
          <a:p>
            <a:endParaRPr lang="en-IN" dirty="0"/>
          </a:p>
        </p:txBody>
      </p:sp>
      <p:pic>
        <p:nvPicPr>
          <p:cNvPr id="11" name="Picture 10">
            <a:extLst>
              <a:ext uri="{FF2B5EF4-FFF2-40B4-BE49-F238E27FC236}">
                <a16:creationId xmlns:a16="http://schemas.microsoft.com/office/drawing/2014/main" id="{795ED06A-574A-251C-368F-F4C7ED4B079B}"/>
              </a:ext>
            </a:extLst>
          </p:cNvPr>
          <p:cNvPicPr>
            <a:picLocks noChangeAspect="1"/>
          </p:cNvPicPr>
          <p:nvPr/>
        </p:nvPicPr>
        <p:blipFill>
          <a:blip r:embed="rId3"/>
          <a:stretch>
            <a:fillRect/>
          </a:stretch>
        </p:blipFill>
        <p:spPr>
          <a:xfrm>
            <a:off x="4002833" y="-3892"/>
            <a:ext cx="2614711" cy="6861892"/>
          </a:xfrm>
          <a:prstGeom prst="rect">
            <a:avLst/>
          </a:prstGeom>
        </p:spPr>
      </p:pic>
      <p:pic>
        <p:nvPicPr>
          <p:cNvPr id="14" name="Picture 13">
            <a:extLst>
              <a:ext uri="{FF2B5EF4-FFF2-40B4-BE49-F238E27FC236}">
                <a16:creationId xmlns:a16="http://schemas.microsoft.com/office/drawing/2014/main" id="{26D8EB11-1BB2-4F86-F0A8-D4FA550B9CC0}"/>
              </a:ext>
            </a:extLst>
          </p:cNvPr>
          <p:cNvPicPr>
            <a:picLocks noChangeAspect="1"/>
          </p:cNvPicPr>
          <p:nvPr/>
        </p:nvPicPr>
        <p:blipFill>
          <a:blip r:embed="rId4"/>
          <a:stretch>
            <a:fillRect/>
          </a:stretch>
        </p:blipFill>
        <p:spPr>
          <a:xfrm>
            <a:off x="6617544" y="0"/>
            <a:ext cx="2386497" cy="6858000"/>
          </a:xfrm>
          <a:prstGeom prst="rect">
            <a:avLst/>
          </a:prstGeom>
        </p:spPr>
      </p:pic>
      <p:pic>
        <p:nvPicPr>
          <p:cNvPr id="17" name="Picture 16">
            <a:extLst>
              <a:ext uri="{FF2B5EF4-FFF2-40B4-BE49-F238E27FC236}">
                <a16:creationId xmlns:a16="http://schemas.microsoft.com/office/drawing/2014/main" id="{BF313E84-0BCE-A1F1-8D84-E96F8BCC1299}"/>
              </a:ext>
            </a:extLst>
          </p:cNvPr>
          <p:cNvPicPr>
            <a:picLocks noChangeAspect="1"/>
          </p:cNvPicPr>
          <p:nvPr/>
        </p:nvPicPr>
        <p:blipFill>
          <a:blip r:embed="rId5"/>
          <a:stretch>
            <a:fillRect/>
          </a:stretch>
        </p:blipFill>
        <p:spPr>
          <a:xfrm>
            <a:off x="9004041" y="-3892"/>
            <a:ext cx="3187959" cy="360995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idx="4294967295"/>
          </p:nvPr>
        </p:nvSpPr>
        <p:spPr>
          <a:xfrm>
            <a:off x="0" y="369888"/>
            <a:ext cx="4735513" cy="831850"/>
          </a:xfrm>
        </p:spPr>
        <p:txBody>
          <a:bodyPr>
            <a:normAutofit/>
          </a:bodyPr>
          <a:lstStyle/>
          <a:p>
            <a:r>
              <a:rPr lang="en-IN" sz="4000" dirty="0"/>
              <a:t>RESULTS</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E5908EC-9AF0-7E99-063A-90E3763CA7CE}"/>
              </a:ext>
            </a:extLst>
          </p:cNvPr>
          <p:cNvSpPr txBox="1"/>
          <p:nvPr/>
        </p:nvSpPr>
        <p:spPr>
          <a:xfrm>
            <a:off x="158620" y="1567543"/>
            <a:ext cx="6382139" cy="2308324"/>
          </a:xfrm>
          <a:prstGeom prst="rect">
            <a:avLst/>
          </a:prstGeom>
          <a:noFill/>
        </p:spPr>
        <p:txBody>
          <a:bodyPr wrap="square" rtlCol="0">
            <a:spAutoFit/>
          </a:bodyPr>
          <a:lstStyle/>
          <a:p>
            <a:r>
              <a:rPr lang="en-IN" dirty="0"/>
              <a:t>missing = </a:t>
            </a:r>
            <a:r>
              <a:rPr lang="en-IN" dirty="0" err="1"/>
              <a:t>df.isnull</a:t>
            </a:r>
            <a:r>
              <a:rPr lang="en-IN" dirty="0"/>
              <a:t>().sum()</a:t>
            </a:r>
          </a:p>
          <a:p>
            <a:r>
              <a:rPr lang="en-IN" dirty="0" err="1"/>
              <a:t>missing_percentage</a:t>
            </a:r>
            <a:r>
              <a:rPr lang="en-IN" dirty="0"/>
              <a:t> = (missing / </a:t>
            </a:r>
            <a:r>
              <a:rPr lang="en-IN" dirty="0" err="1"/>
              <a:t>len</a:t>
            </a:r>
            <a:r>
              <a:rPr lang="en-IN" dirty="0"/>
              <a:t>(</a:t>
            </a:r>
            <a:r>
              <a:rPr lang="en-IN" dirty="0" err="1"/>
              <a:t>df</a:t>
            </a:r>
            <a:r>
              <a:rPr lang="en-IN" dirty="0"/>
              <a:t>)) * 100</a:t>
            </a:r>
          </a:p>
          <a:p>
            <a:r>
              <a:rPr lang="en-IN" dirty="0" err="1"/>
              <a:t>missing_table</a:t>
            </a:r>
            <a:r>
              <a:rPr lang="en-IN" dirty="0"/>
              <a:t> = </a:t>
            </a:r>
            <a:r>
              <a:rPr lang="en-IN" dirty="0" err="1"/>
              <a:t>pd.DataFrame</a:t>
            </a:r>
            <a:r>
              <a:rPr lang="en-IN" dirty="0"/>
              <a:t>({</a:t>
            </a:r>
          </a:p>
          <a:p>
            <a:r>
              <a:rPr lang="en-IN" dirty="0"/>
              <a:t>    'Missing Values': missing,</a:t>
            </a:r>
          </a:p>
          <a:p>
            <a:r>
              <a:rPr lang="en-IN" dirty="0"/>
              <a:t>    'Missing Percentage': </a:t>
            </a:r>
            <a:r>
              <a:rPr lang="en-IN" dirty="0" err="1"/>
              <a:t>missing_percentage</a:t>
            </a:r>
            <a:endParaRPr lang="en-IN" dirty="0"/>
          </a:p>
          <a:p>
            <a:r>
              <a:rPr lang="en-IN" dirty="0"/>
              <a:t>})</a:t>
            </a:r>
          </a:p>
          <a:p>
            <a:r>
              <a:rPr lang="en-IN" dirty="0"/>
              <a:t>display(</a:t>
            </a:r>
            <a:r>
              <a:rPr lang="en-IN" dirty="0" err="1"/>
              <a:t>missing_table</a:t>
            </a:r>
            <a:r>
              <a:rPr lang="en-IN" dirty="0"/>
              <a:t>[</a:t>
            </a:r>
            <a:r>
              <a:rPr lang="en-IN" dirty="0" err="1"/>
              <a:t>missing_table</a:t>
            </a:r>
            <a:r>
              <a:rPr lang="en-IN" dirty="0"/>
              <a:t>['Missing Values'] &gt; 0])</a:t>
            </a:r>
          </a:p>
          <a:p>
            <a:endParaRPr lang="en-IN" dirty="0"/>
          </a:p>
        </p:txBody>
      </p:sp>
      <p:pic>
        <p:nvPicPr>
          <p:cNvPr id="10" name="Picture 9">
            <a:extLst>
              <a:ext uri="{FF2B5EF4-FFF2-40B4-BE49-F238E27FC236}">
                <a16:creationId xmlns:a16="http://schemas.microsoft.com/office/drawing/2014/main" id="{0726AE34-6272-CA42-B7AB-8398284CB561}"/>
              </a:ext>
            </a:extLst>
          </p:cNvPr>
          <p:cNvPicPr>
            <a:picLocks noChangeAspect="1"/>
          </p:cNvPicPr>
          <p:nvPr/>
        </p:nvPicPr>
        <p:blipFill>
          <a:blip r:embed="rId3"/>
          <a:stretch>
            <a:fillRect/>
          </a:stretch>
        </p:blipFill>
        <p:spPr>
          <a:xfrm>
            <a:off x="178702" y="3804469"/>
            <a:ext cx="5280760" cy="2971976"/>
          </a:xfrm>
          <a:prstGeom prst="rect">
            <a:avLst/>
          </a:prstGeom>
        </p:spPr>
      </p:pic>
      <p:sp>
        <p:nvSpPr>
          <p:cNvPr id="11" name="TextBox 10">
            <a:extLst>
              <a:ext uri="{FF2B5EF4-FFF2-40B4-BE49-F238E27FC236}">
                <a16:creationId xmlns:a16="http://schemas.microsoft.com/office/drawing/2014/main" id="{0AE65706-BB9D-4DD8-CC39-44D6E07276AF}"/>
              </a:ext>
            </a:extLst>
          </p:cNvPr>
          <p:cNvSpPr txBox="1"/>
          <p:nvPr/>
        </p:nvSpPr>
        <p:spPr>
          <a:xfrm>
            <a:off x="6634066" y="2100434"/>
            <a:ext cx="4982454" cy="1200329"/>
          </a:xfrm>
          <a:prstGeom prst="rect">
            <a:avLst/>
          </a:prstGeom>
          <a:noFill/>
        </p:spPr>
        <p:txBody>
          <a:bodyPr wrap="none" rtlCol="0">
            <a:spAutoFit/>
          </a:bodyPr>
          <a:lstStyle/>
          <a:p>
            <a:r>
              <a:rPr lang="en-IN" dirty="0"/>
              <a:t>duplicates = </a:t>
            </a:r>
            <a:r>
              <a:rPr lang="en-IN" dirty="0" err="1"/>
              <a:t>df.duplicated</a:t>
            </a:r>
            <a:r>
              <a:rPr lang="en-IN" dirty="0"/>
              <a:t>().sum()</a:t>
            </a:r>
          </a:p>
          <a:p>
            <a:br>
              <a:rPr lang="en-IN" dirty="0"/>
            </a:br>
            <a:r>
              <a:rPr lang="en-IN" dirty="0"/>
              <a:t>print("Number of duplicate rows:", duplicates)</a:t>
            </a:r>
          </a:p>
          <a:p>
            <a:endParaRPr lang="en-IN" dirty="0"/>
          </a:p>
        </p:txBody>
      </p:sp>
      <p:pic>
        <p:nvPicPr>
          <p:cNvPr id="14" name="Picture 13">
            <a:extLst>
              <a:ext uri="{FF2B5EF4-FFF2-40B4-BE49-F238E27FC236}">
                <a16:creationId xmlns:a16="http://schemas.microsoft.com/office/drawing/2014/main" id="{0DBB8155-2E51-DAF5-2857-2F1E95A090B2}"/>
              </a:ext>
            </a:extLst>
          </p:cNvPr>
          <p:cNvPicPr>
            <a:picLocks noChangeAspect="1"/>
          </p:cNvPicPr>
          <p:nvPr/>
        </p:nvPicPr>
        <p:blipFill>
          <a:blip r:embed="rId4"/>
          <a:stretch>
            <a:fillRect/>
          </a:stretch>
        </p:blipFill>
        <p:spPr>
          <a:xfrm>
            <a:off x="6634066" y="4660078"/>
            <a:ext cx="5557934" cy="666078"/>
          </a:xfrm>
          <a:prstGeom prst="rect">
            <a:avLst/>
          </a:prstGeom>
        </p:spPr>
      </p:pic>
      <p:sp>
        <p:nvSpPr>
          <p:cNvPr id="15" name="Rectangle 14">
            <a:extLst>
              <a:ext uri="{FF2B5EF4-FFF2-40B4-BE49-F238E27FC236}">
                <a16:creationId xmlns:a16="http://schemas.microsoft.com/office/drawing/2014/main" id="{01B6E67E-7643-30FB-660E-D3C0B76712FC}"/>
              </a:ext>
            </a:extLst>
          </p:cNvPr>
          <p:cNvSpPr/>
          <p:nvPr/>
        </p:nvSpPr>
        <p:spPr>
          <a:xfrm>
            <a:off x="6260841" y="785813"/>
            <a:ext cx="5931159" cy="587914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B480E876-32AF-771D-CB2A-7E2995DC374B}"/>
              </a:ext>
            </a:extLst>
          </p:cNvPr>
          <p:cNvCxnSpPr>
            <a:cxnSpLocks/>
          </p:cNvCxnSpPr>
          <p:nvPr/>
        </p:nvCxnSpPr>
        <p:spPr>
          <a:xfrm>
            <a:off x="6260841" y="0"/>
            <a:ext cx="0" cy="68580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28220D-B7D1-EA7D-FFC2-DA713A7C1255}"/>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TextBox 2">
            <a:extLst>
              <a:ext uri="{FF2B5EF4-FFF2-40B4-BE49-F238E27FC236}">
                <a16:creationId xmlns:a16="http://schemas.microsoft.com/office/drawing/2014/main" id="{1B82E4F6-0C42-3D22-8A51-85F4DD823FE5}"/>
              </a:ext>
            </a:extLst>
          </p:cNvPr>
          <p:cNvSpPr txBox="1"/>
          <p:nvPr/>
        </p:nvSpPr>
        <p:spPr>
          <a:xfrm>
            <a:off x="1073020" y="466531"/>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820B2C98-9027-B3FB-DBD3-F8C38800762F}"/>
              </a:ext>
            </a:extLst>
          </p:cNvPr>
          <p:cNvSpPr txBox="1"/>
          <p:nvPr/>
        </p:nvSpPr>
        <p:spPr>
          <a:xfrm>
            <a:off x="145444" y="2413337"/>
            <a:ext cx="4320074" cy="2031325"/>
          </a:xfrm>
          <a:prstGeom prst="rect">
            <a:avLst/>
          </a:prstGeom>
          <a:noFill/>
        </p:spPr>
        <p:txBody>
          <a:bodyPr wrap="square" rtlCol="0">
            <a:spAutoFit/>
          </a:bodyPr>
          <a:lstStyle/>
          <a:p>
            <a:r>
              <a:rPr lang="en-IN" dirty="0" err="1"/>
              <a:t>unique_table</a:t>
            </a:r>
            <a:r>
              <a:rPr lang="en-IN" dirty="0"/>
              <a:t> = </a:t>
            </a:r>
            <a:r>
              <a:rPr lang="en-IN" dirty="0" err="1"/>
              <a:t>pd.DataFrame</a:t>
            </a:r>
            <a:r>
              <a:rPr lang="en-IN" dirty="0"/>
              <a:t>({</a:t>
            </a:r>
          </a:p>
          <a:p>
            <a:r>
              <a:rPr lang="en-IN" dirty="0"/>
              <a:t>    'Column': </a:t>
            </a:r>
            <a:r>
              <a:rPr lang="en-IN" dirty="0" err="1"/>
              <a:t>df.columns</a:t>
            </a:r>
            <a:r>
              <a:rPr lang="en-IN" dirty="0"/>
              <a:t>,</a:t>
            </a:r>
          </a:p>
          <a:p>
            <a:r>
              <a:rPr lang="en-IN" dirty="0"/>
              <a:t>    'Unique Values': [</a:t>
            </a:r>
            <a:r>
              <a:rPr lang="en-IN" dirty="0" err="1"/>
              <a:t>df</a:t>
            </a:r>
            <a:r>
              <a:rPr lang="en-IN" dirty="0"/>
              <a:t>[col].</a:t>
            </a:r>
            <a:r>
              <a:rPr lang="en-IN" dirty="0" err="1"/>
              <a:t>nunique</a:t>
            </a:r>
            <a:r>
              <a:rPr lang="en-IN" dirty="0"/>
              <a:t>() for col in </a:t>
            </a:r>
            <a:r>
              <a:rPr lang="en-IN" dirty="0" err="1"/>
              <a:t>df.columns</a:t>
            </a:r>
            <a:r>
              <a:rPr lang="en-IN" dirty="0"/>
              <a:t>]</a:t>
            </a:r>
          </a:p>
          <a:p>
            <a:r>
              <a:rPr lang="en-IN" dirty="0"/>
              <a:t>})</a:t>
            </a:r>
          </a:p>
          <a:p>
            <a:r>
              <a:rPr lang="en-IN" dirty="0"/>
              <a:t>display(</a:t>
            </a:r>
            <a:r>
              <a:rPr lang="en-IN" dirty="0" err="1"/>
              <a:t>unique_table</a:t>
            </a:r>
            <a:r>
              <a:rPr lang="en-IN" dirty="0"/>
              <a:t>)</a:t>
            </a:r>
          </a:p>
          <a:p>
            <a:endParaRPr lang="en-IN" dirty="0"/>
          </a:p>
        </p:txBody>
      </p:sp>
      <p:pic>
        <p:nvPicPr>
          <p:cNvPr id="7" name="Picture 6">
            <a:extLst>
              <a:ext uri="{FF2B5EF4-FFF2-40B4-BE49-F238E27FC236}">
                <a16:creationId xmlns:a16="http://schemas.microsoft.com/office/drawing/2014/main" id="{333F5068-A5E2-3193-FFA9-E1FB2EB907A6}"/>
              </a:ext>
            </a:extLst>
          </p:cNvPr>
          <p:cNvPicPr>
            <a:picLocks noChangeAspect="1"/>
          </p:cNvPicPr>
          <p:nvPr/>
        </p:nvPicPr>
        <p:blipFill>
          <a:blip r:embed="rId2"/>
          <a:stretch>
            <a:fillRect/>
          </a:stretch>
        </p:blipFill>
        <p:spPr>
          <a:xfrm>
            <a:off x="4516018" y="0"/>
            <a:ext cx="3663819" cy="6858000"/>
          </a:xfrm>
          <a:prstGeom prst="rect">
            <a:avLst/>
          </a:prstGeom>
        </p:spPr>
      </p:pic>
      <p:pic>
        <p:nvPicPr>
          <p:cNvPr id="10" name="Picture 9">
            <a:extLst>
              <a:ext uri="{FF2B5EF4-FFF2-40B4-BE49-F238E27FC236}">
                <a16:creationId xmlns:a16="http://schemas.microsoft.com/office/drawing/2014/main" id="{FBC033D4-84C1-8EA7-BDA2-C24821A39CCC}"/>
              </a:ext>
            </a:extLst>
          </p:cNvPr>
          <p:cNvPicPr>
            <a:picLocks noChangeAspect="1"/>
          </p:cNvPicPr>
          <p:nvPr/>
        </p:nvPicPr>
        <p:blipFill>
          <a:blip r:embed="rId3"/>
          <a:stretch>
            <a:fillRect/>
          </a:stretch>
        </p:blipFill>
        <p:spPr>
          <a:xfrm>
            <a:off x="8179838" y="0"/>
            <a:ext cx="3816218" cy="6858000"/>
          </a:xfrm>
          <a:prstGeom prst="rect">
            <a:avLst/>
          </a:prstGeom>
        </p:spPr>
      </p:pic>
    </p:spTree>
    <p:extLst>
      <p:ext uri="{BB962C8B-B14F-4D97-AF65-F5344CB8AC3E}">
        <p14:creationId xmlns:p14="http://schemas.microsoft.com/office/powerpoint/2010/main" val="325655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ED397B-4A3A-1A79-996C-89285599483A}"/>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3" name="TextBox 2">
            <a:extLst>
              <a:ext uri="{FF2B5EF4-FFF2-40B4-BE49-F238E27FC236}">
                <a16:creationId xmlns:a16="http://schemas.microsoft.com/office/drawing/2014/main" id="{3AE6391E-5981-8923-8C26-297678B2330E}"/>
              </a:ext>
            </a:extLst>
          </p:cNvPr>
          <p:cNvSpPr txBox="1"/>
          <p:nvPr/>
        </p:nvSpPr>
        <p:spPr>
          <a:xfrm>
            <a:off x="1156996" y="279918"/>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139DD91B-2D71-CF1A-8E53-42A12567AEF9}"/>
              </a:ext>
            </a:extLst>
          </p:cNvPr>
          <p:cNvSpPr txBox="1"/>
          <p:nvPr/>
        </p:nvSpPr>
        <p:spPr>
          <a:xfrm>
            <a:off x="1184988" y="1455576"/>
            <a:ext cx="9395926" cy="3139321"/>
          </a:xfrm>
          <a:prstGeom prst="rect">
            <a:avLst/>
          </a:prstGeom>
          <a:noFill/>
        </p:spPr>
        <p:txBody>
          <a:bodyPr wrap="square" rtlCol="0">
            <a:spAutoFit/>
          </a:bodyPr>
          <a:lstStyle/>
          <a:p>
            <a:r>
              <a:rPr lang="en-IN" dirty="0" err="1"/>
              <a:t>df_clean</a:t>
            </a:r>
            <a:r>
              <a:rPr lang="en-IN" dirty="0"/>
              <a:t> = </a:t>
            </a:r>
            <a:r>
              <a:rPr lang="en-IN" dirty="0" err="1"/>
              <a:t>df.copy</a:t>
            </a:r>
            <a:r>
              <a:rPr lang="en-IN" dirty="0"/>
              <a:t>()</a:t>
            </a:r>
          </a:p>
          <a:p>
            <a:r>
              <a:rPr lang="en-IN" dirty="0" err="1"/>
              <a:t>numeric_columns</a:t>
            </a:r>
            <a:r>
              <a:rPr lang="en-IN" dirty="0"/>
              <a:t> = </a:t>
            </a:r>
            <a:r>
              <a:rPr lang="en-IN" dirty="0" err="1"/>
              <a:t>df_clean.select_dtypes</a:t>
            </a:r>
            <a:r>
              <a:rPr lang="en-IN" dirty="0"/>
              <a:t>(include=</a:t>
            </a:r>
            <a:r>
              <a:rPr lang="en-IN" dirty="0" err="1"/>
              <a:t>np.number</a:t>
            </a:r>
            <a:r>
              <a:rPr lang="en-IN" dirty="0"/>
              <a:t>).columns</a:t>
            </a:r>
          </a:p>
          <a:p>
            <a:r>
              <a:rPr lang="en-IN" dirty="0"/>
              <a:t>for col in </a:t>
            </a:r>
            <a:r>
              <a:rPr lang="en-IN" dirty="0" err="1"/>
              <a:t>numeric_columns</a:t>
            </a:r>
            <a:r>
              <a:rPr lang="en-IN" dirty="0"/>
              <a:t>:</a:t>
            </a:r>
          </a:p>
          <a:p>
            <a:r>
              <a:rPr lang="en-IN" dirty="0"/>
              <a:t>    if </a:t>
            </a:r>
            <a:r>
              <a:rPr lang="en-IN" dirty="0" err="1"/>
              <a:t>df_clean</a:t>
            </a:r>
            <a:r>
              <a:rPr lang="en-IN" dirty="0"/>
              <a:t>[col].</a:t>
            </a:r>
            <a:r>
              <a:rPr lang="en-IN" dirty="0" err="1"/>
              <a:t>isnull</a:t>
            </a:r>
            <a:r>
              <a:rPr lang="en-IN" dirty="0"/>
              <a:t>().sum() &gt; 0:</a:t>
            </a:r>
          </a:p>
          <a:p>
            <a:r>
              <a:rPr lang="en-IN" dirty="0"/>
              <a:t>        </a:t>
            </a:r>
            <a:r>
              <a:rPr lang="en-IN" dirty="0" err="1"/>
              <a:t>df_clean</a:t>
            </a:r>
            <a:r>
              <a:rPr lang="en-IN" dirty="0"/>
              <a:t>[col] = </a:t>
            </a:r>
            <a:r>
              <a:rPr lang="en-IN" dirty="0" err="1"/>
              <a:t>df_clean</a:t>
            </a:r>
            <a:r>
              <a:rPr lang="en-IN" dirty="0"/>
              <a:t>[col].</a:t>
            </a:r>
            <a:r>
              <a:rPr lang="en-IN" dirty="0" err="1"/>
              <a:t>fillna</a:t>
            </a:r>
            <a:r>
              <a:rPr lang="en-IN" dirty="0"/>
              <a:t>(</a:t>
            </a:r>
            <a:r>
              <a:rPr lang="en-IN" dirty="0" err="1"/>
              <a:t>df_clean</a:t>
            </a:r>
            <a:r>
              <a:rPr lang="en-IN" dirty="0"/>
              <a:t>[col].median())</a:t>
            </a:r>
          </a:p>
          <a:p>
            <a:r>
              <a:rPr lang="en-IN" dirty="0" err="1"/>
              <a:t>df_clean</a:t>
            </a:r>
            <a:r>
              <a:rPr lang="en-IN" dirty="0"/>
              <a:t> = </a:t>
            </a:r>
            <a:r>
              <a:rPr lang="en-IN" dirty="0" err="1"/>
              <a:t>df_clean.drop_duplicates</a:t>
            </a:r>
            <a:r>
              <a:rPr lang="en-IN" dirty="0"/>
              <a:t>()</a:t>
            </a:r>
          </a:p>
          <a:p>
            <a:r>
              <a:rPr lang="en-IN" dirty="0"/>
              <a:t>print("Original dataset shape:", </a:t>
            </a:r>
            <a:r>
              <a:rPr lang="en-IN" dirty="0" err="1"/>
              <a:t>df.shape</a:t>
            </a:r>
            <a:r>
              <a:rPr lang="en-IN" dirty="0"/>
              <a:t>)</a:t>
            </a:r>
          </a:p>
          <a:p>
            <a:r>
              <a:rPr lang="en-IN" dirty="0"/>
              <a:t>print("Cleaned dataset shape:", </a:t>
            </a:r>
            <a:r>
              <a:rPr lang="en-IN" dirty="0" err="1"/>
              <a:t>df_clean.shape</a:t>
            </a:r>
            <a:r>
              <a:rPr lang="en-IN" dirty="0"/>
              <a:t>)</a:t>
            </a:r>
          </a:p>
          <a:p>
            <a:r>
              <a:rPr lang="en-IN" dirty="0"/>
              <a:t>print("\</a:t>
            </a:r>
            <a:r>
              <a:rPr lang="en-IN" dirty="0" err="1"/>
              <a:t>nRemaining</a:t>
            </a:r>
            <a:r>
              <a:rPr lang="en-IN" dirty="0"/>
              <a:t> missing values:")</a:t>
            </a:r>
          </a:p>
          <a:p>
            <a:r>
              <a:rPr lang="en-IN" dirty="0"/>
              <a:t>print(</a:t>
            </a:r>
            <a:r>
              <a:rPr lang="en-IN" dirty="0" err="1"/>
              <a:t>df_clean.isnull</a:t>
            </a:r>
            <a:r>
              <a:rPr lang="en-IN" dirty="0"/>
              <a:t>().sum().sum())</a:t>
            </a:r>
          </a:p>
          <a:p>
            <a:endParaRPr lang="en-IN" dirty="0"/>
          </a:p>
        </p:txBody>
      </p:sp>
      <p:sp>
        <p:nvSpPr>
          <p:cNvPr id="5" name="TextBox 4">
            <a:extLst>
              <a:ext uri="{FF2B5EF4-FFF2-40B4-BE49-F238E27FC236}">
                <a16:creationId xmlns:a16="http://schemas.microsoft.com/office/drawing/2014/main" id="{CA57B593-8EB4-D7D3-776A-9D705AA30E05}"/>
              </a:ext>
            </a:extLst>
          </p:cNvPr>
          <p:cNvSpPr txBox="1"/>
          <p:nvPr/>
        </p:nvSpPr>
        <p:spPr>
          <a:xfrm>
            <a:off x="1371600" y="4739951"/>
            <a:ext cx="184731" cy="369332"/>
          </a:xfrm>
          <a:prstGeom prst="rect">
            <a:avLst/>
          </a:prstGeom>
          <a:noFill/>
        </p:spPr>
        <p:txBody>
          <a:bodyPr wrap="none" rtlCol="0">
            <a:spAutoFit/>
          </a:bodyPr>
          <a:lstStyle/>
          <a:p>
            <a:endParaRPr lang="en-IN" dirty="0"/>
          </a:p>
        </p:txBody>
      </p:sp>
      <p:pic>
        <p:nvPicPr>
          <p:cNvPr id="7" name="Picture 6">
            <a:extLst>
              <a:ext uri="{FF2B5EF4-FFF2-40B4-BE49-F238E27FC236}">
                <a16:creationId xmlns:a16="http://schemas.microsoft.com/office/drawing/2014/main" id="{880C3334-1F14-14D7-829B-A12479BF4EED}"/>
              </a:ext>
            </a:extLst>
          </p:cNvPr>
          <p:cNvPicPr>
            <a:picLocks noChangeAspect="1"/>
          </p:cNvPicPr>
          <p:nvPr/>
        </p:nvPicPr>
        <p:blipFill>
          <a:blip r:embed="rId2"/>
          <a:stretch>
            <a:fillRect/>
          </a:stretch>
        </p:blipFill>
        <p:spPr>
          <a:xfrm>
            <a:off x="1184988" y="4486429"/>
            <a:ext cx="5711456" cy="1920058"/>
          </a:xfrm>
          <a:prstGeom prst="rect">
            <a:avLst/>
          </a:prstGeom>
        </p:spPr>
      </p:pic>
    </p:spTree>
    <p:extLst>
      <p:ext uri="{BB962C8B-B14F-4D97-AF65-F5344CB8AC3E}">
        <p14:creationId xmlns:p14="http://schemas.microsoft.com/office/powerpoint/2010/main" val="2063543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3C0573-7767-8B4B-E4C6-0F082BC1DEB5}"/>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3" name="TextBox 2">
            <a:extLst>
              <a:ext uri="{FF2B5EF4-FFF2-40B4-BE49-F238E27FC236}">
                <a16:creationId xmlns:a16="http://schemas.microsoft.com/office/drawing/2014/main" id="{7321B7C5-1839-9B7C-F537-575826646B20}"/>
              </a:ext>
            </a:extLst>
          </p:cNvPr>
          <p:cNvSpPr txBox="1"/>
          <p:nvPr/>
        </p:nvSpPr>
        <p:spPr>
          <a:xfrm>
            <a:off x="1054359" y="335902"/>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ED2C4C09-DFBD-3828-2FA3-2EC93AC99FC7}"/>
              </a:ext>
            </a:extLst>
          </p:cNvPr>
          <p:cNvSpPr txBox="1"/>
          <p:nvPr/>
        </p:nvSpPr>
        <p:spPr>
          <a:xfrm>
            <a:off x="158620" y="2528596"/>
            <a:ext cx="4366727" cy="1477328"/>
          </a:xfrm>
          <a:prstGeom prst="rect">
            <a:avLst/>
          </a:prstGeom>
          <a:noFill/>
        </p:spPr>
        <p:txBody>
          <a:bodyPr wrap="square" rtlCol="0">
            <a:spAutoFit/>
          </a:bodyPr>
          <a:lstStyle/>
          <a:p>
            <a:r>
              <a:rPr lang="en-IN" dirty="0"/>
              <a:t>print("Missing values after cleaning:")</a:t>
            </a:r>
          </a:p>
          <a:p>
            <a:r>
              <a:rPr lang="en-IN" dirty="0"/>
              <a:t>display(</a:t>
            </a:r>
            <a:r>
              <a:rPr lang="en-IN" dirty="0" err="1"/>
              <a:t>df_clean.isnull</a:t>
            </a:r>
            <a:r>
              <a:rPr lang="en-IN" dirty="0"/>
              <a:t>().sum())</a:t>
            </a:r>
          </a:p>
          <a:p>
            <a:r>
              <a:rPr lang="en-IN" dirty="0"/>
              <a:t>print("\</a:t>
            </a:r>
            <a:r>
              <a:rPr lang="en-IN" dirty="0" err="1"/>
              <a:t>nDuplicate</a:t>
            </a:r>
            <a:r>
              <a:rPr lang="en-IN" dirty="0"/>
              <a:t> rows after cleaning:")</a:t>
            </a:r>
          </a:p>
          <a:p>
            <a:r>
              <a:rPr lang="en-IN" dirty="0"/>
              <a:t>print(</a:t>
            </a:r>
            <a:r>
              <a:rPr lang="en-IN" dirty="0" err="1"/>
              <a:t>df_clean.duplicated</a:t>
            </a:r>
            <a:r>
              <a:rPr lang="en-IN" dirty="0"/>
              <a:t>().sum())</a:t>
            </a:r>
          </a:p>
          <a:p>
            <a:endParaRPr lang="en-IN" dirty="0"/>
          </a:p>
        </p:txBody>
      </p:sp>
      <p:pic>
        <p:nvPicPr>
          <p:cNvPr id="9" name="Picture 8">
            <a:extLst>
              <a:ext uri="{FF2B5EF4-FFF2-40B4-BE49-F238E27FC236}">
                <a16:creationId xmlns:a16="http://schemas.microsoft.com/office/drawing/2014/main" id="{FE3CFFFA-4E3B-E1A7-9435-768C8C2B6194}"/>
              </a:ext>
            </a:extLst>
          </p:cNvPr>
          <p:cNvPicPr>
            <a:picLocks noChangeAspect="1"/>
          </p:cNvPicPr>
          <p:nvPr/>
        </p:nvPicPr>
        <p:blipFill>
          <a:blip r:embed="rId2"/>
          <a:stretch>
            <a:fillRect/>
          </a:stretch>
        </p:blipFill>
        <p:spPr>
          <a:xfrm>
            <a:off x="4882604" y="-2"/>
            <a:ext cx="3088433" cy="6857999"/>
          </a:xfrm>
          <a:prstGeom prst="rect">
            <a:avLst/>
          </a:prstGeom>
        </p:spPr>
      </p:pic>
      <p:pic>
        <p:nvPicPr>
          <p:cNvPr id="12" name="Picture 11">
            <a:extLst>
              <a:ext uri="{FF2B5EF4-FFF2-40B4-BE49-F238E27FC236}">
                <a16:creationId xmlns:a16="http://schemas.microsoft.com/office/drawing/2014/main" id="{F0FDE413-41A3-9C69-4209-02DCD6DF5701}"/>
              </a:ext>
            </a:extLst>
          </p:cNvPr>
          <p:cNvPicPr>
            <a:picLocks noChangeAspect="1"/>
          </p:cNvPicPr>
          <p:nvPr/>
        </p:nvPicPr>
        <p:blipFill>
          <a:blip r:embed="rId3"/>
          <a:stretch>
            <a:fillRect/>
          </a:stretch>
        </p:blipFill>
        <p:spPr>
          <a:xfrm>
            <a:off x="7971037" y="0"/>
            <a:ext cx="3166604" cy="6406488"/>
          </a:xfrm>
          <a:prstGeom prst="rect">
            <a:avLst/>
          </a:prstGeom>
        </p:spPr>
      </p:pic>
      <p:pic>
        <p:nvPicPr>
          <p:cNvPr id="15" name="Picture 14">
            <a:extLst>
              <a:ext uri="{FF2B5EF4-FFF2-40B4-BE49-F238E27FC236}">
                <a16:creationId xmlns:a16="http://schemas.microsoft.com/office/drawing/2014/main" id="{ED03A0BB-3EDE-99AF-B339-32115589C1F3}"/>
              </a:ext>
            </a:extLst>
          </p:cNvPr>
          <p:cNvPicPr>
            <a:picLocks noChangeAspect="1"/>
          </p:cNvPicPr>
          <p:nvPr/>
        </p:nvPicPr>
        <p:blipFill>
          <a:blip r:embed="rId4"/>
          <a:stretch>
            <a:fillRect/>
          </a:stretch>
        </p:blipFill>
        <p:spPr>
          <a:xfrm>
            <a:off x="7971037" y="6348698"/>
            <a:ext cx="3166604" cy="552072"/>
          </a:xfrm>
          <a:prstGeom prst="rect">
            <a:avLst/>
          </a:prstGeom>
        </p:spPr>
      </p:pic>
    </p:spTree>
    <p:extLst>
      <p:ext uri="{BB962C8B-B14F-4D97-AF65-F5344CB8AC3E}">
        <p14:creationId xmlns:p14="http://schemas.microsoft.com/office/powerpoint/2010/main" val="126575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BC9144-8CBC-BB27-0825-A56778209EDC}"/>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3" name="TextBox 2">
            <a:extLst>
              <a:ext uri="{FF2B5EF4-FFF2-40B4-BE49-F238E27FC236}">
                <a16:creationId xmlns:a16="http://schemas.microsoft.com/office/drawing/2014/main" id="{EEEF06E6-6886-3B33-D258-E2620EA9727E}"/>
              </a:ext>
            </a:extLst>
          </p:cNvPr>
          <p:cNvSpPr txBox="1"/>
          <p:nvPr/>
        </p:nvSpPr>
        <p:spPr>
          <a:xfrm>
            <a:off x="709126" y="429208"/>
            <a:ext cx="3974839" cy="369332"/>
          </a:xfrm>
          <a:prstGeom prst="rect">
            <a:avLst/>
          </a:prstGeom>
          <a:noFill/>
        </p:spPr>
        <p:txBody>
          <a:bodyPr wrap="square" rtlCol="0">
            <a:spAutoFit/>
          </a:bodyPr>
          <a:lstStyle/>
          <a:p>
            <a:r>
              <a:rPr lang="en-IN" dirty="0"/>
              <a:t>RESULTS</a:t>
            </a:r>
          </a:p>
        </p:txBody>
      </p:sp>
      <p:sp>
        <p:nvSpPr>
          <p:cNvPr id="4" name="TextBox 3">
            <a:extLst>
              <a:ext uri="{FF2B5EF4-FFF2-40B4-BE49-F238E27FC236}">
                <a16:creationId xmlns:a16="http://schemas.microsoft.com/office/drawing/2014/main" id="{BBADEA62-36BF-E690-6C6B-EA9E3FF34C36}"/>
              </a:ext>
            </a:extLst>
          </p:cNvPr>
          <p:cNvSpPr txBox="1"/>
          <p:nvPr/>
        </p:nvSpPr>
        <p:spPr>
          <a:xfrm>
            <a:off x="382555" y="1735495"/>
            <a:ext cx="4301411" cy="923330"/>
          </a:xfrm>
          <a:prstGeom prst="rect">
            <a:avLst/>
          </a:prstGeom>
          <a:noFill/>
        </p:spPr>
        <p:txBody>
          <a:bodyPr wrap="square" rtlCol="0">
            <a:spAutoFit/>
          </a:bodyPr>
          <a:lstStyle/>
          <a:p>
            <a:r>
              <a:rPr lang="en-IN" dirty="0"/>
              <a:t>print("Seasons available:")</a:t>
            </a:r>
          </a:p>
          <a:p>
            <a:r>
              <a:rPr lang="en-IN" dirty="0"/>
              <a:t>print(</a:t>
            </a:r>
            <a:r>
              <a:rPr lang="en-IN" dirty="0" err="1"/>
              <a:t>df_clean</a:t>
            </a:r>
            <a:r>
              <a:rPr lang="en-IN" dirty="0"/>
              <a:t>['Season'].</a:t>
            </a:r>
            <a:r>
              <a:rPr lang="en-IN" dirty="0" err="1"/>
              <a:t>value_counts</a:t>
            </a:r>
            <a:r>
              <a:rPr lang="en-IN" dirty="0"/>
              <a:t>())</a:t>
            </a:r>
          </a:p>
          <a:p>
            <a:endParaRPr lang="en-IN" dirty="0"/>
          </a:p>
        </p:txBody>
      </p:sp>
      <p:pic>
        <p:nvPicPr>
          <p:cNvPr id="7" name="Picture 6">
            <a:extLst>
              <a:ext uri="{FF2B5EF4-FFF2-40B4-BE49-F238E27FC236}">
                <a16:creationId xmlns:a16="http://schemas.microsoft.com/office/drawing/2014/main" id="{9C145BEF-8C32-183B-E34C-1426A9C345A5}"/>
              </a:ext>
            </a:extLst>
          </p:cNvPr>
          <p:cNvPicPr>
            <a:picLocks noChangeAspect="1"/>
          </p:cNvPicPr>
          <p:nvPr/>
        </p:nvPicPr>
        <p:blipFill>
          <a:blip r:embed="rId2"/>
          <a:stretch>
            <a:fillRect/>
          </a:stretch>
        </p:blipFill>
        <p:spPr>
          <a:xfrm>
            <a:off x="382556" y="2914605"/>
            <a:ext cx="4301410" cy="2301207"/>
          </a:xfrm>
          <a:prstGeom prst="rect">
            <a:avLst/>
          </a:prstGeom>
        </p:spPr>
      </p:pic>
      <p:sp>
        <p:nvSpPr>
          <p:cNvPr id="8" name="TextBox 7">
            <a:extLst>
              <a:ext uri="{FF2B5EF4-FFF2-40B4-BE49-F238E27FC236}">
                <a16:creationId xmlns:a16="http://schemas.microsoft.com/office/drawing/2014/main" id="{D0E967F5-D282-96F3-0C10-9209D730E317}"/>
              </a:ext>
            </a:extLst>
          </p:cNvPr>
          <p:cNvSpPr txBox="1"/>
          <p:nvPr/>
        </p:nvSpPr>
        <p:spPr>
          <a:xfrm>
            <a:off x="5449077" y="0"/>
            <a:ext cx="5550237" cy="2031325"/>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r>
              <a:rPr lang="en-IN" dirty="0" err="1"/>
              <a:t>sns.countplot</a:t>
            </a:r>
            <a:r>
              <a:rPr lang="en-IN" dirty="0"/>
              <a:t>(data=</a:t>
            </a:r>
            <a:r>
              <a:rPr lang="en-IN" dirty="0" err="1"/>
              <a:t>df_clean</a:t>
            </a:r>
            <a:r>
              <a:rPr lang="en-IN" dirty="0"/>
              <a:t>, x='Season’)</a:t>
            </a:r>
          </a:p>
          <a:p>
            <a:r>
              <a:rPr lang="en-IN" dirty="0" err="1"/>
              <a:t>plt.title</a:t>
            </a:r>
            <a:r>
              <a:rPr lang="en-IN" dirty="0"/>
              <a:t>('Number of Agricultural Records by Season')</a:t>
            </a:r>
          </a:p>
          <a:p>
            <a:r>
              <a:rPr lang="en-IN" dirty="0" err="1"/>
              <a:t>plt.xlabel</a:t>
            </a:r>
            <a:r>
              <a:rPr lang="en-IN" dirty="0"/>
              <a:t>('Season')</a:t>
            </a:r>
          </a:p>
          <a:p>
            <a:r>
              <a:rPr lang="en-IN" dirty="0" err="1"/>
              <a:t>plt.ylabel</a:t>
            </a:r>
            <a:r>
              <a:rPr lang="en-IN" dirty="0"/>
              <a:t>('Number of Records')</a:t>
            </a:r>
          </a:p>
          <a:p>
            <a:r>
              <a:rPr lang="en-IN" dirty="0" err="1"/>
              <a:t>plt.show</a:t>
            </a:r>
            <a:r>
              <a:rPr lang="en-IN" dirty="0"/>
              <a:t>()</a:t>
            </a:r>
          </a:p>
          <a:p>
            <a:endParaRPr lang="en-IN" dirty="0"/>
          </a:p>
        </p:txBody>
      </p:sp>
      <p:cxnSp>
        <p:nvCxnSpPr>
          <p:cNvPr id="10" name="Straight Connector 9">
            <a:extLst>
              <a:ext uri="{FF2B5EF4-FFF2-40B4-BE49-F238E27FC236}">
                <a16:creationId xmlns:a16="http://schemas.microsoft.com/office/drawing/2014/main" id="{D82B40F2-1A8F-F2F1-E5AE-15AC1932F925}"/>
              </a:ext>
            </a:extLst>
          </p:cNvPr>
          <p:cNvCxnSpPr>
            <a:cxnSpLocks/>
          </p:cNvCxnSpPr>
          <p:nvPr/>
        </p:nvCxnSpPr>
        <p:spPr>
          <a:xfrm>
            <a:off x="5085184" y="0"/>
            <a:ext cx="0" cy="6858000"/>
          </a:xfrm>
          <a:prstGeom prst="line">
            <a:avLst/>
          </a:prstGeom>
        </p:spPr>
        <p:style>
          <a:lnRef idx="3">
            <a:schemeClr val="dk1"/>
          </a:lnRef>
          <a:fillRef idx="0">
            <a:schemeClr val="dk1"/>
          </a:fillRef>
          <a:effectRef idx="2">
            <a:schemeClr val="dk1"/>
          </a:effectRef>
          <a:fontRef idx="minor">
            <a:schemeClr val="tx1"/>
          </a:fontRef>
        </p:style>
      </p:cxnSp>
      <p:pic>
        <p:nvPicPr>
          <p:cNvPr id="13" name="Picture 12">
            <a:extLst>
              <a:ext uri="{FF2B5EF4-FFF2-40B4-BE49-F238E27FC236}">
                <a16:creationId xmlns:a16="http://schemas.microsoft.com/office/drawing/2014/main" id="{F45CD4DE-3AFC-7EE9-933F-6FD07286B022}"/>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tretch>
            <a:fillRect/>
          </a:stretch>
        </p:blipFill>
        <p:spPr>
          <a:xfrm>
            <a:off x="5377952" y="2120658"/>
            <a:ext cx="6698560" cy="4389500"/>
          </a:xfrm>
          <a:prstGeom prst="rect">
            <a:avLst/>
          </a:prstGeom>
        </p:spPr>
      </p:pic>
    </p:spTree>
    <p:extLst>
      <p:ext uri="{BB962C8B-B14F-4D97-AF65-F5344CB8AC3E}">
        <p14:creationId xmlns:p14="http://schemas.microsoft.com/office/powerpoint/2010/main" val="2373387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DD4B51-F68C-D77F-BE50-0E74C6C8CCA9}"/>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
        <p:nvSpPr>
          <p:cNvPr id="3" name="TextBox 2">
            <a:extLst>
              <a:ext uri="{FF2B5EF4-FFF2-40B4-BE49-F238E27FC236}">
                <a16:creationId xmlns:a16="http://schemas.microsoft.com/office/drawing/2014/main" id="{A8AD2116-CAE7-CD3A-C60D-46782F9E3133}"/>
              </a:ext>
            </a:extLst>
          </p:cNvPr>
          <p:cNvSpPr txBox="1"/>
          <p:nvPr/>
        </p:nvSpPr>
        <p:spPr>
          <a:xfrm>
            <a:off x="802433" y="447869"/>
            <a:ext cx="1041182" cy="369332"/>
          </a:xfrm>
          <a:prstGeom prst="rect">
            <a:avLst/>
          </a:prstGeom>
          <a:noFill/>
        </p:spPr>
        <p:txBody>
          <a:bodyPr wrap="none" rtlCol="0">
            <a:spAutoFit/>
          </a:bodyPr>
          <a:lstStyle/>
          <a:p>
            <a:r>
              <a:rPr lang="en-IN" dirty="0"/>
              <a:t>RESULTS</a:t>
            </a:r>
          </a:p>
        </p:txBody>
      </p:sp>
      <p:sp>
        <p:nvSpPr>
          <p:cNvPr id="4" name="TextBox 3">
            <a:extLst>
              <a:ext uri="{FF2B5EF4-FFF2-40B4-BE49-F238E27FC236}">
                <a16:creationId xmlns:a16="http://schemas.microsoft.com/office/drawing/2014/main" id="{E6615415-9C3F-C1B0-D06A-69490D8B2EFE}"/>
              </a:ext>
            </a:extLst>
          </p:cNvPr>
          <p:cNvSpPr txBox="1"/>
          <p:nvPr/>
        </p:nvSpPr>
        <p:spPr>
          <a:xfrm>
            <a:off x="560510" y="979714"/>
            <a:ext cx="5535490" cy="3416320"/>
          </a:xfrm>
          <a:prstGeom prst="rect">
            <a:avLst/>
          </a:prstGeom>
          <a:noFill/>
        </p:spPr>
        <p:txBody>
          <a:bodyPr wrap="none" rtlCol="0">
            <a:spAutoFit/>
          </a:bodyPr>
          <a:lstStyle/>
          <a:p>
            <a:r>
              <a:rPr lang="en-IN" dirty="0" err="1"/>
              <a:t>season_summary</a:t>
            </a:r>
            <a:r>
              <a:rPr lang="en-IN" dirty="0"/>
              <a:t> = </a:t>
            </a:r>
            <a:r>
              <a:rPr lang="en-IN" dirty="0" err="1"/>
              <a:t>df_clean.groupby</a:t>
            </a:r>
            <a:r>
              <a:rPr lang="en-IN" dirty="0"/>
              <a:t>('Season').</a:t>
            </a:r>
            <a:r>
              <a:rPr lang="en-IN" dirty="0" err="1"/>
              <a:t>agg</a:t>
            </a:r>
            <a:r>
              <a:rPr lang="en-IN" dirty="0"/>
              <a:t>({</a:t>
            </a:r>
          </a:p>
          <a:p>
            <a:r>
              <a:rPr lang="en-IN" dirty="0"/>
              <a:t>    '</a:t>
            </a:r>
            <a:r>
              <a:rPr lang="en-IN" dirty="0" err="1"/>
              <a:t>Yield_Tonnes_Ha</a:t>
            </a:r>
            <a:r>
              <a:rPr lang="en-IN" dirty="0"/>
              <a:t>': 'mean',</a:t>
            </a:r>
          </a:p>
          <a:p>
            <a:r>
              <a:rPr lang="en-IN" dirty="0"/>
              <a:t>    '</a:t>
            </a:r>
            <a:r>
              <a:rPr lang="en-IN" dirty="0" err="1"/>
              <a:t>Production_Tonnes</a:t>
            </a:r>
            <a:r>
              <a:rPr lang="en-IN" dirty="0"/>
              <a:t>': 'mean',</a:t>
            </a:r>
          </a:p>
          <a:p>
            <a:r>
              <a:rPr lang="en-IN" dirty="0"/>
              <a:t>    '</a:t>
            </a:r>
            <a:r>
              <a:rPr lang="en-IN" dirty="0" err="1"/>
              <a:t>Revenue_INR</a:t>
            </a:r>
            <a:r>
              <a:rPr lang="en-IN" dirty="0"/>
              <a:t>': 'mean',</a:t>
            </a:r>
          </a:p>
          <a:p>
            <a:r>
              <a:rPr lang="en-IN" dirty="0"/>
              <a:t>    '</a:t>
            </a:r>
            <a:r>
              <a:rPr lang="en-IN" dirty="0" err="1"/>
              <a:t>Total_Cost_INR</a:t>
            </a:r>
            <a:r>
              <a:rPr lang="en-IN" dirty="0"/>
              <a:t>': 'mean',</a:t>
            </a:r>
          </a:p>
          <a:p>
            <a:r>
              <a:rPr lang="en-IN" dirty="0"/>
              <a:t>    '</a:t>
            </a:r>
            <a:r>
              <a:rPr lang="en-IN" dirty="0" err="1"/>
              <a:t>Profit_INR</a:t>
            </a:r>
            <a:r>
              <a:rPr lang="en-IN" dirty="0"/>
              <a:t>': 'mean',</a:t>
            </a:r>
          </a:p>
          <a:p>
            <a:r>
              <a:rPr lang="en-IN" dirty="0"/>
              <a:t>    'Water_Used_m3': 'mean',</a:t>
            </a:r>
          </a:p>
          <a:p>
            <a:r>
              <a:rPr lang="en-IN" dirty="0"/>
              <a:t>    'Water_Efficiency_t_per_1000m3': 'mean',</a:t>
            </a:r>
          </a:p>
          <a:p>
            <a:r>
              <a:rPr lang="en-IN" dirty="0"/>
              <a:t>    '</a:t>
            </a:r>
            <a:r>
              <a:rPr lang="en-IN" dirty="0" err="1"/>
              <a:t>Disease_Pest_Risk_pct</a:t>
            </a:r>
            <a:r>
              <a:rPr lang="en-IN" dirty="0"/>
              <a:t>': 'mean’</a:t>
            </a:r>
          </a:p>
          <a:p>
            <a:r>
              <a:rPr lang="en-IN" dirty="0"/>
              <a:t>}).round(2)</a:t>
            </a:r>
          </a:p>
          <a:p>
            <a:r>
              <a:rPr lang="en-IN" dirty="0"/>
              <a:t>display(</a:t>
            </a:r>
            <a:r>
              <a:rPr lang="en-IN" dirty="0" err="1"/>
              <a:t>season_summary</a:t>
            </a:r>
            <a:r>
              <a:rPr lang="en-IN" dirty="0"/>
              <a:t>)</a:t>
            </a:r>
          </a:p>
          <a:p>
            <a:endParaRPr lang="en-IN" dirty="0"/>
          </a:p>
        </p:txBody>
      </p:sp>
      <p:pic>
        <p:nvPicPr>
          <p:cNvPr id="7" name="Picture 6">
            <a:extLst>
              <a:ext uri="{FF2B5EF4-FFF2-40B4-BE49-F238E27FC236}">
                <a16:creationId xmlns:a16="http://schemas.microsoft.com/office/drawing/2014/main" id="{B4C5152A-023C-FA5A-4DC2-95A25526C49B}"/>
              </a:ext>
            </a:extLst>
          </p:cNvPr>
          <p:cNvPicPr>
            <a:picLocks noChangeAspect="1"/>
          </p:cNvPicPr>
          <p:nvPr/>
        </p:nvPicPr>
        <p:blipFill>
          <a:blip r:embed="rId2"/>
          <a:stretch>
            <a:fillRect/>
          </a:stretch>
        </p:blipFill>
        <p:spPr>
          <a:xfrm>
            <a:off x="460521" y="4162861"/>
            <a:ext cx="11464001" cy="2243625"/>
          </a:xfrm>
          <a:prstGeom prst="rect">
            <a:avLst/>
          </a:prstGeom>
        </p:spPr>
      </p:pic>
    </p:spTree>
    <p:extLst>
      <p:ext uri="{BB962C8B-B14F-4D97-AF65-F5344CB8AC3E}">
        <p14:creationId xmlns:p14="http://schemas.microsoft.com/office/powerpoint/2010/main" val="1419368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A73489-90F8-1318-8682-7CEC0AD787A0}"/>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3" name="TextBox 2">
            <a:extLst>
              <a:ext uri="{FF2B5EF4-FFF2-40B4-BE49-F238E27FC236}">
                <a16:creationId xmlns:a16="http://schemas.microsoft.com/office/drawing/2014/main" id="{8B391C8A-2773-82C8-1FF2-F01F937FA2F1}"/>
              </a:ext>
            </a:extLst>
          </p:cNvPr>
          <p:cNvSpPr txBox="1"/>
          <p:nvPr/>
        </p:nvSpPr>
        <p:spPr>
          <a:xfrm>
            <a:off x="307910" y="1720840"/>
            <a:ext cx="3783856" cy="3416320"/>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r>
              <a:rPr lang="en-IN" dirty="0" err="1"/>
              <a:t>sns.barplot</a:t>
            </a:r>
            <a:r>
              <a:rPr lang="en-IN" dirty="0"/>
              <a:t>(</a:t>
            </a:r>
          </a:p>
          <a:p>
            <a:r>
              <a:rPr lang="en-IN" dirty="0"/>
              <a:t>    data=</a:t>
            </a:r>
            <a:r>
              <a:rPr lang="en-IN" dirty="0" err="1"/>
              <a:t>df_clean</a:t>
            </a:r>
            <a:r>
              <a:rPr lang="en-IN" dirty="0"/>
              <a:t>,</a:t>
            </a:r>
          </a:p>
          <a:p>
            <a:r>
              <a:rPr lang="en-IN" dirty="0"/>
              <a:t>    x='Season',</a:t>
            </a:r>
          </a:p>
          <a:p>
            <a:r>
              <a:rPr lang="en-IN" dirty="0"/>
              <a:t>    y='</a:t>
            </a:r>
            <a:r>
              <a:rPr lang="en-IN" dirty="0" err="1"/>
              <a:t>Profit_INR</a:t>
            </a:r>
            <a:r>
              <a:rPr lang="en-IN" dirty="0"/>
              <a:t>',</a:t>
            </a:r>
          </a:p>
          <a:p>
            <a:r>
              <a:rPr lang="en-IN" dirty="0"/>
              <a:t>    estimator='mean'</a:t>
            </a:r>
          </a:p>
          <a:p>
            <a:r>
              <a:rPr lang="en-IN" dirty="0"/>
              <a:t>)</a:t>
            </a:r>
          </a:p>
          <a:p>
            <a:r>
              <a:rPr lang="en-IN" dirty="0" err="1"/>
              <a:t>plt.title</a:t>
            </a:r>
            <a:r>
              <a:rPr lang="en-IN" dirty="0"/>
              <a:t>('Average Profit by Season')</a:t>
            </a:r>
          </a:p>
          <a:p>
            <a:r>
              <a:rPr lang="en-IN" dirty="0" err="1"/>
              <a:t>plt.xlabel</a:t>
            </a:r>
            <a:r>
              <a:rPr lang="en-IN" dirty="0"/>
              <a:t>('Season')</a:t>
            </a:r>
          </a:p>
          <a:p>
            <a:r>
              <a:rPr lang="en-IN" dirty="0" err="1"/>
              <a:t>plt.ylabel</a:t>
            </a:r>
            <a:r>
              <a:rPr lang="en-IN" dirty="0"/>
              <a:t>('Average Profit (INR)')</a:t>
            </a:r>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B89F609C-179A-DC75-1913-1F353040B879}"/>
              </a:ext>
            </a:extLst>
          </p:cNvPr>
          <p:cNvPicPr>
            <a:picLocks noChangeAspect="1"/>
          </p:cNvPicPr>
          <p:nvPr/>
        </p:nvPicPr>
        <p:blipFill>
          <a:blip r:embed="rId2"/>
          <a:stretch>
            <a:fillRect/>
          </a:stretch>
        </p:blipFill>
        <p:spPr>
          <a:xfrm>
            <a:off x="4411136" y="686693"/>
            <a:ext cx="7354765" cy="5303559"/>
          </a:xfrm>
          <a:prstGeom prst="rect">
            <a:avLst/>
          </a:prstGeom>
        </p:spPr>
      </p:pic>
    </p:spTree>
    <p:extLst>
      <p:ext uri="{BB962C8B-B14F-4D97-AF65-F5344CB8AC3E}">
        <p14:creationId xmlns:p14="http://schemas.microsoft.com/office/powerpoint/2010/main" val="1618665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E904A2-DB5E-2683-0906-C8CC4B5394E3}"/>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4" name="TextBox 3">
            <a:extLst>
              <a:ext uri="{FF2B5EF4-FFF2-40B4-BE49-F238E27FC236}">
                <a16:creationId xmlns:a16="http://schemas.microsoft.com/office/drawing/2014/main" id="{3981A86F-D516-20E1-8A78-96D279D11159}"/>
              </a:ext>
            </a:extLst>
          </p:cNvPr>
          <p:cNvSpPr txBox="1"/>
          <p:nvPr/>
        </p:nvSpPr>
        <p:spPr>
          <a:xfrm>
            <a:off x="158621" y="1390261"/>
            <a:ext cx="5179623" cy="1754326"/>
          </a:xfrm>
          <a:prstGeom prst="rect">
            <a:avLst/>
          </a:prstGeom>
          <a:noFill/>
        </p:spPr>
        <p:txBody>
          <a:bodyPr wrap="none" rtlCol="0">
            <a:spAutoFit/>
          </a:bodyPr>
          <a:lstStyle/>
          <a:p>
            <a:r>
              <a:rPr lang="en-IN" dirty="0" err="1"/>
              <a:t>revenue_cost</a:t>
            </a:r>
            <a:r>
              <a:rPr lang="en-IN" dirty="0"/>
              <a:t> = </a:t>
            </a:r>
            <a:r>
              <a:rPr lang="en-IN" dirty="0" err="1"/>
              <a:t>df_clean.groupby</a:t>
            </a:r>
            <a:r>
              <a:rPr lang="en-IN" dirty="0"/>
              <a:t>('Season').</a:t>
            </a:r>
            <a:r>
              <a:rPr lang="en-IN" dirty="0" err="1"/>
              <a:t>agg</a:t>
            </a:r>
            <a:r>
              <a:rPr lang="en-IN" dirty="0"/>
              <a:t>({</a:t>
            </a:r>
          </a:p>
          <a:p>
            <a:r>
              <a:rPr lang="en-IN" dirty="0"/>
              <a:t>    '</a:t>
            </a:r>
            <a:r>
              <a:rPr lang="en-IN" dirty="0" err="1"/>
              <a:t>Revenue_INR</a:t>
            </a:r>
            <a:r>
              <a:rPr lang="en-IN" dirty="0"/>
              <a:t>': 'mean',</a:t>
            </a:r>
          </a:p>
          <a:p>
            <a:r>
              <a:rPr lang="en-IN" dirty="0"/>
              <a:t>    '</a:t>
            </a:r>
            <a:r>
              <a:rPr lang="en-IN" dirty="0" err="1"/>
              <a:t>Total_Cost_INR</a:t>
            </a:r>
            <a:r>
              <a:rPr lang="en-IN" dirty="0"/>
              <a:t>': 'mean'</a:t>
            </a:r>
          </a:p>
          <a:p>
            <a:r>
              <a:rPr lang="en-IN" dirty="0"/>
              <a:t>})</a:t>
            </a:r>
          </a:p>
          <a:p>
            <a:r>
              <a:rPr lang="en-IN" dirty="0"/>
              <a:t>display(</a:t>
            </a:r>
            <a:r>
              <a:rPr lang="en-IN" dirty="0" err="1"/>
              <a:t>revenue_cost</a:t>
            </a:r>
            <a:r>
              <a:rPr lang="en-IN" dirty="0"/>
              <a:t>)</a:t>
            </a:r>
          </a:p>
          <a:p>
            <a:endParaRPr lang="en-IN" dirty="0"/>
          </a:p>
        </p:txBody>
      </p:sp>
      <p:pic>
        <p:nvPicPr>
          <p:cNvPr id="7" name="Picture 6">
            <a:extLst>
              <a:ext uri="{FF2B5EF4-FFF2-40B4-BE49-F238E27FC236}">
                <a16:creationId xmlns:a16="http://schemas.microsoft.com/office/drawing/2014/main" id="{F3A07324-EDF1-B858-896E-5E0A84E212F6}"/>
              </a:ext>
            </a:extLst>
          </p:cNvPr>
          <p:cNvPicPr>
            <a:picLocks noChangeAspect="1"/>
          </p:cNvPicPr>
          <p:nvPr/>
        </p:nvPicPr>
        <p:blipFill>
          <a:blip r:embed="rId2"/>
          <a:stretch>
            <a:fillRect/>
          </a:stretch>
        </p:blipFill>
        <p:spPr>
          <a:xfrm>
            <a:off x="158621" y="3184936"/>
            <a:ext cx="3862873" cy="2450753"/>
          </a:xfrm>
          <a:prstGeom prst="rect">
            <a:avLst/>
          </a:prstGeom>
        </p:spPr>
      </p:pic>
      <p:cxnSp>
        <p:nvCxnSpPr>
          <p:cNvPr id="9" name="Straight Connector 8">
            <a:extLst>
              <a:ext uri="{FF2B5EF4-FFF2-40B4-BE49-F238E27FC236}">
                <a16:creationId xmlns:a16="http://schemas.microsoft.com/office/drawing/2014/main" id="{30287FD7-0476-1B7F-FD68-AD378DE10E11}"/>
              </a:ext>
            </a:extLst>
          </p:cNvPr>
          <p:cNvCxnSpPr/>
          <p:nvPr/>
        </p:nvCxnSpPr>
        <p:spPr>
          <a:xfrm>
            <a:off x="5338244" y="0"/>
            <a:ext cx="0" cy="6858000"/>
          </a:xfrm>
          <a:prstGeom prst="line">
            <a:avLst/>
          </a:prstGeom>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A444E167-62CC-8857-026F-8BA5CAC8606D}"/>
              </a:ext>
            </a:extLst>
          </p:cNvPr>
          <p:cNvSpPr txBox="1"/>
          <p:nvPr/>
        </p:nvSpPr>
        <p:spPr>
          <a:xfrm>
            <a:off x="5598372" y="195944"/>
            <a:ext cx="5934264" cy="2831544"/>
          </a:xfrm>
          <a:prstGeom prst="rect">
            <a:avLst/>
          </a:prstGeom>
          <a:noFill/>
        </p:spPr>
        <p:txBody>
          <a:bodyPr wrap="square" rtlCol="0">
            <a:spAutoFit/>
          </a:bodyPr>
          <a:lstStyle/>
          <a:p>
            <a:r>
              <a:rPr lang="en-IN" sz="1600" dirty="0" err="1"/>
              <a:t>revenue_cost.plot</a:t>
            </a:r>
            <a:r>
              <a:rPr lang="en-IN" sz="1600" dirty="0"/>
              <a:t>(</a:t>
            </a:r>
          </a:p>
          <a:p>
            <a:r>
              <a:rPr lang="en-IN" sz="1600" dirty="0"/>
              <a:t>    kind='bar',</a:t>
            </a:r>
          </a:p>
          <a:p>
            <a:r>
              <a:rPr lang="en-IN" sz="1600" dirty="0"/>
              <a:t>    </a:t>
            </a:r>
            <a:r>
              <a:rPr lang="en-IN" sz="1600" dirty="0" err="1"/>
              <a:t>figsize</a:t>
            </a:r>
            <a:r>
              <a:rPr lang="en-IN" sz="1600" dirty="0"/>
              <a:t>=(10,6)</a:t>
            </a:r>
          </a:p>
          <a:p>
            <a:r>
              <a:rPr lang="en-IN" sz="1600" dirty="0"/>
              <a:t>)</a:t>
            </a:r>
          </a:p>
          <a:p>
            <a:r>
              <a:rPr lang="en-IN" sz="1600" dirty="0" err="1"/>
              <a:t>plt.title</a:t>
            </a:r>
            <a:r>
              <a:rPr lang="en-IN" sz="1600" dirty="0"/>
              <a:t>('Average Revenue and Cost by Season')</a:t>
            </a:r>
          </a:p>
          <a:p>
            <a:r>
              <a:rPr lang="en-IN" sz="1600" dirty="0" err="1"/>
              <a:t>plt.xlabel</a:t>
            </a:r>
            <a:r>
              <a:rPr lang="en-IN" sz="1600" dirty="0"/>
              <a:t>('Season')</a:t>
            </a:r>
          </a:p>
          <a:p>
            <a:r>
              <a:rPr lang="en-IN" sz="1600" dirty="0" err="1"/>
              <a:t>plt.ylabel</a:t>
            </a:r>
            <a:r>
              <a:rPr lang="en-IN" sz="1600" dirty="0"/>
              <a:t>('INR')</a:t>
            </a:r>
          </a:p>
          <a:p>
            <a:r>
              <a:rPr lang="en-IN" sz="1600" dirty="0" err="1"/>
              <a:t>plt.xticks</a:t>
            </a:r>
            <a:r>
              <a:rPr lang="en-IN" sz="1600" dirty="0"/>
              <a:t>(rotation=0)</a:t>
            </a:r>
          </a:p>
          <a:p>
            <a:r>
              <a:rPr lang="en-IN" sz="1600" dirty="0" err="1"/>
              <a:t>plt.legend</a:t>
            </a:r>
            <a:r>
              <a:rPr lang="en-IN" sz="1600" dirty="0"/>
              <a:t>(title='Financial Measure')</a:t>
            </a:r>
          </a:p>
          <a:p>
            <a:r>
              <a:rPr lang="en-IN" sz="1600" dirty="0" err="1"/>
              <a:t>plt.show</a:t>
            </a:r>
            <a:r>
              <a:rPr lang="en-IN" sz="1600" dirty="0"/>
              <a:t>()</a:t>
            </a:r>
          </a:p>
          <a:p>
            <a:endParaRPr lang="en-IN" dirty="0"/>
          </a:p>
        </p:txBody>
      </p:sp>
      <p:pic>
        <p:nvPicPr>
          <p:cNvPr id="13" name="Picture 12">
            <a:extLst>
              <a:ext uri="{FF2B5EF4-FFF2-40B4-BE49-F238E27FC236}">
                <a16:creationId xmlns:a16="http://schemas.microsoft.com/office/drawing/2014/main" id="{BBB9052D-A8DA-4FD1-35D2-275B5D435536}"/>
              </a:ext>
            </a:extLst>
          </p:cNvPr>
          <p:cNvPicPr>
            <a:picLocks noChangeAspect="1"/>
          </p:cNvPicPr>
          <p:nvPr/>
        </p:nvPicPr>
        <p:blipFill>
          <a:blip r:embed="rId3"/>
          <a:stretch>
            <a:fillRect/>
          </a:stretch>
        </p:blipFill>
        <p:spPr>
          <a:xfrm>
            <a:off x="5410292" y="3027488"/>
            <a:ext cx="6781707" cy="3787051"/>
          </a:xfrm>
          <a:prstGeom prst="rect">
            <a:avLst/>
          </a:prstGeom>
        </p:spPr>
      </p:pic>
    </p:spTree>
    <p:extLst>
      <p:ext uri="{BB962C8B-B14F-4D97-AF65-F5344CB8AC3E}">
        <p14:creationId xmlns:p14="http://schemas.microsoft.com/office/powerpoint/2010/main" val="4080381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6B159-173D-72EF-121C-DBD3FA65E01D}"/>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
        <p:nvSpPr>
          <p:cNvPr id="3" name="TextBox 2">
            <a:extLst>
              <a:ext uri="{FF2B5EF4-FFF2-40B4-BE49-F238E27FC236}">
                <a16:creationId xmlns:a16="http://schemas.microsoft.com/office/drawing/2014/main" id="{F989E70D-E17B-804B-C6FE-26C046EE6F48}"/>
              </a:ext>
            </a:extLst>
          </p:cNvPr>
          <p:cNvSpPr txBox="1"/>
          <p:nvPr/>
        </p:nvSpPr>
        <p:spPr>
          <a:xfrm>
            <a:off x="419878" y="1138335"/>
            <a:ext cx="5878285" cy="2862322"/>
          </a:xfrm>
          <a:prstGeom prst="rect">
            <a:avLst/>
          </a:prstGeom>
          <a:noFill/>
        </p:spPr>
        <p:txBody>
          <a:bodyPr wrap="square" rtlCol="0">
            <a:spAutoFit/>
          </a:bodyPr>
          <a:lstStyle/>
          <a:p>
            <a:r>
              <a:rPr lang="en-IN" dirty="0" err="1"/>
              <a:t>resource_summary</a:t>
            </a:r>
            <a:r>
              <a:rPr lang="en-IN" dirty="0"/>
              <a:t> = </a:t>
            </a:r>
            <a:r>
              <a:rPr lang="en-IN" dirty="0" err="1"/>
              <a:t>df_clean.groupby</a:t>
            </a:r>
            <a:r>
              <a:rPr lang="en-IN" dirty="0"/>
              <a:t>('Season').</a:t>
            </a:r>
            <a:r>
              <a:rPr lang="en-IN" dirty="0" err="1"/>
              <a:t>agg</a:t>
            </a:r>
            <a:r>
              <a:rPr lang="en-IN" dirty="0"/>
              <a:t>({</a:t>
            </a:r>
          </a:p>
          <a:p>
            <a:r>
              <a:rPr lang="en-IN" dirty="0"/>
              <a:t>    '</a:t>
            </a:r>
            <a:r>
              <a:rPr lang="en-IN" dirty="0" err="1"/>
              <a:t>Fertilizer_kg_ha</a:t>
            </a:r>
            <a:r>
              <a:rPr lang="en-IN" dirty="0"/>
              <a:t>': 'mean',</a:t>
            </a:r>
          </a:p>
          <a:p>
            <a:r>
              <a:rPr lang="en-IN" dirty="0"/>
              <a:t>    '</a:t>
            </a:r>
            <a:r>
              <a:rPr lang="en-IN" dirty="0" err="1"/>
              <a:t>Pesticide_Litre_ha</a:t>
            </a:r>
            <a:r>
              <a:rPr lang="en-IN" dirty="0"/>
              <a:t>': 'mean',</a:t>
            </a:r>
          </a:p>
          <a:p>
            <a:r>
              <a:rPr lang="en-IN" dirty="0"/>
              <a:t>    'Water_Used_m3': 'mean',</a:t>
            </a:r>
          </a:p>
          <a:p>
            <a:r>
              <a:rPr lang="en-IN" dirty="0"/>
              <a:t>    '</a:t>
            </a:r>
            <a:r>
              <a:rPr lang="en-IN" dirty="0" err="1"/>
              <a:t>Nitrogen_kg_ha</a:t>
            </a:r>
            <a:r>
              <a:rPr lang="en-IN" dirty="0"/>
              <a:t>': 'mean',</a:t>
            </a:r>
          </a:p>
          <a:p>
            <a:r>
              <a:rPr lang="en-IN" dirty="0"/>
              <a:t>    '</a:t>
            </a:r>
            <a:r>
              <a:rPr lang="en-IN" dirty="0" err="1"/>
              <a:t>Phosphorus_kg_ha</a:t>
            </a:r>
            <a:r>
              <a:rPr lang="en-IN" dirty="0"/>
              <a:t>': 'mean',</a:t>
            </a:r>
          </a:p>
          <a:p>
            <a:r>
              <a:rPr lang="en-IN" dirty="0"/>
              <a:t>    '</a:t>
            </a:r>
            <a:r>
              <a:rPr lang="en-IN" dirty="0" err="1"/>
              <a:t>Potassium_kg_ha</a:t>
            </a:r>
            <a:r>
              <a:rPr lang="en-IN" dirty="0"/>
              <a:t>': 'mean'</a:t>
            </a:r>
          </a:p>
          <a:p>
            <a:r>
              <a:rPr lang="en-IN" dirty="0"/>
              <a:t>}).round(2)</a:t>
            </a:r>
          </a:p>
          <a:p>
            <a:r>
              <a:rPr lang="en-IN" dirty="0"/>
              <a:t>display(</a:t>
            </a:r>
            <a:r>
              <a:rPr lang="en-IN" dirty="0" err="1"/>
              <a:t>resource_summary</a:t>
            </a:r>
            <a:r>
              <a:rPr lang="en-IN" dirty="0"/>
              <a:t>)</a:t>
            </a:r>
          </a:p>
          <a:p>
            <a:endParaRPr lang="en-IN" dirty="0"/>
          </a:p>
        </p:txBody>
      </p:sp>
      <p:pic>
        <p:nvPicPr>
          <p:cNvPr id="6" name="Picture 5">
            <a:extLst>
              <a:ext uri="{FF2B5EF4-FFF2-40B4-BE49-F238E27FC236}">
                <a16:creationId xmlns:a16="http://schemas.microsoft.com/office/drawing/2014/main" id="{D1A8D67C-AE51-69FF-FF2B-3F7DA406D75F}"/>
              </a:ext>
            </a:extLst>
          </p:cNvPr>
          <p:cNvPicPr>
            <a:picLocks noChangeAspect="1"/>
          </p:cNvPicPr>
          <p:nvPr/>
        </p:nvPicPr>
        <p:blipFill>
          <a:blip r:embed="rId2"/>
          <a:stretch>
            <a:fillRect/>
          </a:stretch>
        </p:blipFill>
        <p:spPr>
          <a:xfrm>
            <a:off x="329867" y="3770075"/>
            <a:ext cx="11443148" cy="2462773"/>
          </a:xfrm>
          <a:prstGeom prst="rect">
            <a:avLst/>
          </a:prstGeom>
        </p:spPr>
      </p:pic>
    </p:spTree>
    <p:extLst>
      <p:ext uri="{BB962C8B-B14F-4D97-AF65-F5344CB8AC3E}">
        <p14:creationId xmlns:p14="http://schemas.microsoft.com/office/powerpoint/2010/main" val="3968521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383553-1E21-FB00-B0D9-BA7297A22EF8}"/>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
        <p:nvSpPr>
          <p:cNvPr id="3" name="TextBox 2">
            <a:extLst>
              <a:ext uri="{FF2B5EF4-FFF2-40B4-BE49-F238E27FC236}">
                <a16:creationId xmlns:a16="http://schemas.microsoft.com/office/drawing/2014/main" id="{01731C46-A611-ADD7-6045-1862976B8804}"/>
              </a:ext>
            </a:extLst>
          </p:cNvPr>
          <p:cNvSpPr txBox="1"/>
          <p:nvPr/>
        </p:nvSpPr>
        <p:spPr>
          <a:xfrm>
            <a:off x="961053" y="1436914"/>
            <a:ext cx="6032421" cy="2585323"/>
          </a:xfrm>
          <a:prstGeom prst="rect">
            <a:avLst/>
          </a:prstGeom>
          <a:noFill/>
        </p:spPr>
        <p:txBody>
          <a:bodyPr wrap="none" rtlCol="0">
            <a:spAutoFit/>
          </a:bodyPr>
          <a:lstStyle/>
          <a:p>
            <a:r>
              <a:rPr lang="en-IN" dirty="0" err="1"/>
              <a:t>water_efficiency</a:t>
            </a:r>
            <a:r>
              <a:rPr lang="en-IN" dirty="0"/>
              <a:t> = </a:t>
            </a:r>
            <a:r>
              <a:rPr lang="en-IN" dirty="0" err="1"/>
              <a:t>df_clean.groupby</a:t>
            </a:r>
            <a:r>
              <a:rPr lang="en-IN" dirty="0"/>
              <a:t>(</a:t>
            </a:r>
          </a:p>
          <a:p>
            <a:r>
              <a:rPr lang="en-IN" dirty="0"/>
              <a:t>    'Season'</a:t>
            </a:r>
          </a:p>
          <a:p>
            <a:r>
              <a:rPr lang="en-IN" dirty="0"/>
              <a:t>)['Water_Efficiency_t_per_1000m3'].mean().</a:t>
            </a:r>
            <a:r>
              <a:rPr lang="en-IN" dirty="0" err="1"/>
              <a:t>sort_values</a:t>
            </a:r>
            <a:r>
              <a:rPr lang="en-IN" dirty="0"/>
              <a:t>(</a:t>
            </a:r>
          </a:p>
          <a:p>
            <a:r>
              <a:rPr lang="en-IN" dirty="0"/>
              <a:t>    ascending=False</a:t>
            </a:r>
          </a:p>
          <a:p>
            <a:r>
              <a:rPr lang="en-IN" dirty="0"/>
              <a:t>)</a:t>
            </a:r>
          </a:p>
          <a:p>
            <a:br>
              <a:rPr lang="en-IN" dirty="0"/>
            </a:br>
            <a:endParaRPr lang="en-IN" dirty="0"/>
          </a:p>
          <a:p>
            <a:r>
              <a:rPr lang="en-IN" dirty="0"/>
              <a:t>display(</a:t>
            </a:r>
            <a:r>
              <a:rPr lang="en-IN" dirty="0" err="1"/>
              <a:t>water_efficiency</a:t>
            </a:r>
            <a:r>
              <a:rPr lang="en-IN" dirty="0"/>
              <a:t>)</a:t>
            </a:r>
          </a:p>
          <a:p>
            <a:endParaRPr lang="en-IN" dirty="0"/>
          </a:p>
        </p:txBody>
      </p:sp>
      <p:pic>
        <p:nvPicPr>
          <p:cNvPr id="6" name="Picture 5">
            <a:extLst>
              <a:ext uri="{FF2B5EF4-FFF2-40B4-BE49-F238E27FC236}">
                <a16:creationId xmlns:a16="http://schemas.microsoft.com/office/drawing/2014/main" id="{FC37E2B4-CC31-3C80-49C4-431255318D86}"/>
              </a:ext>
            </a:extLst>
          </p:cNvPr>
          <p:cNvPicPr>
            <a:picLocks noChangeAspect="1"/>
          </p:cNvPicPr>
          <p:nvPr/>
        </p:nvPicPr>
        <p:blipFill>
          <a:blip r:embed="rId2"/>
          <a:stretch>
            <a:fillRect/>
          </a:stretch>
        </p:blipFill>
        <p:spPr>
          <a:xfrm>
            <a:off x="961052" y="3948553"/>
            <a:ext cx="5134947" cy="2457934"/>
          </a:xfrm>
          <a:prstGeom prst="rect">
            <a:avLst/>
          </a:prstGeom>
        </p:spPr>
      </p:pic>
    </p:spTree>
    <p:extLst>
      <p:ext uri="{BB962C8B-B14F-4D97-AF65-F5344CB8AC3E}">
        <p14:creationId xmlns:p14="http://schemas.microsoft.com/office/powerpoint/2010/main" val="2704443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3F87BD-D8F5-12C8-2D1F-B31F75368229}"/>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3" name="TextBox 2">
            <a:extLst>
              <a:ext uri="{FF2B5EF4-FFF2-40B4-BE49-F238E27FC236}">
                <a16:creationId xmlns:a16="http://schemas.microsoft.com/office/drawing/2014/main" id="{9422335A-6BCF-E6D5-E7E8-B6AAD8EBB6A3}"/>
              </a:ext>
            </a:extLst>
          </p:cNvPr>
          <p:cNvSpPr txBox="1"/>
          <p:nvPr/>
        </p:nvSpPr>
        <p:spPr>
          <a:xfrm>
            <a:off x="503853" y="737118"/>
            <a:ext cx="4913589" cy="5078313"/>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sns.barplot</a:t>
            </a:r>
            <a:r>
              <a:rPr lang="en-IN" dirty="0"/>
              <a:t>(</a:t>
            </a:r>
          </a:p>
          <a:p>
            <a:r>
              <a:rPr lang="en-IN" dirty="0"/>
              <a:t>    data=</a:t>
            </a:r>
            <a:r>
              <a:rPr lang="en-IN" dirty="0" err="1"/>
              <a:t>df_clean</a:t>
            </a:r>
            <a:r>
              <a:rPr lang="en-IN" dirty="0"/>
              <a:t>,</a:t>
            </a:r>
          </a:p>
          <a:p>
            <a:r>
              <a:rPr lang="en-IN" dirty="0"/>
              <a:t>    x='Season',</a:t>
            </a:r>
          </a:p>
          <a:p>
            <a:r>
              <a:rPr lang="en-IN" dirty="0"/>
              <a:t>    y='Water_Efficiency_t_per_1000m3',</a:t>
            </a:r>
          </a:p>
          <a:p>
            <a:r>
              <a:rPr lang="en-IN" dirty="0"/>
              <a:t>    estimator='mean'</a:t>
            </a:r>
          </a:p>
          <a:p>
            <a:r>
              <a:rPr lang="en-IN" dirty="0"/>
              <a:t>)</a:t>
            </a:r>
          </a:p>
          <a:p>
            <a:br>
              <a:rPr lang="en-IN" dirty="0"/>
            </a:br>
            <a:endParaRPr lang="en-IN" dirty="0"/>
          </a:p>
          <a:p>
            <a:r>
              <a:rPr lang="en-IN" dirty="0" err="1"/>
              <a:t>plt.title</a:t>
            </a:r>
            <a:r>
              <a:rPr lang="en-IN" dirty="0"/>
              <a:t>('Average Water Efficiency by Season')</a:t>
            </a:r>
          </a:p>
          <a:p>
            <a:r>
              <a:rPr lang="en-IN" dirty="0" err="1"/>
              <a:t>plt.xlabel</a:t>
            </a:r>
            <a:r>
              <a:rPr lang="en-IN" dirty="0"/>
              <a:t>('Season')</a:t>
            </a:r>
          </a:p>
          <a:p>
            <a:r>
              <a:rPr lang="en-IN" dirty="0" err="1"/>
              <a:t>plt.ylabel</a:t>
            </a:r>
            <a:r>
              <a:rPr lang="en-IN" dirty="0"/>
              <a:t>('Tonnes per 1,000 m³')</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C9BD4297-FA89-CB77-51CC-6E3D0E5E7901}"/>
              </a:ext>
            </a:extLst>
          </p:cNvPr>
          <p:cNvPicPr>
            <a:picLocks noChangeAspect="1"/>
          </p:cNvPicPr>
          <p:nvPr/>
        </p:nvPicPr>
        <p:blipFill>
          <a:blip r:embed="rId2"/>
          <a:stretch>
            <a:fillRect/>
          </a:stretch>
        </p:blipFill>
        <p:spPr>
          <a:xfrm>
            <a:off x="5346441" y="1192336"/>
            <a:ext cx="6774024" cy="4473328"/>
          </a:xfrm>
          <a:prstGeom prst="rect">
            <a:avLst/>
          </a:prstGeom>
        </p:spPr>
      </p:pic>
    </p:spTree>
    <p:extLst>
      <p:ext uri="{BB962C8B-B14F-4D97-AF65-F5344CB8AC3E}">
        <p14:creationId xmlns:p14="http://schemas.microsoft.com/office/powerpoint/2010/main" val="205424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4793CA-2BA5-169F-6C77-1DB628A954C9}"/>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
        <p:nvSpPr>
          <p:cNvPr id="3" name="TextBox 2">
            <a:extLst>
              <a:ext uri="{FF2B5EF4-FFF2-40B4-BE49-F238E27FC236}">
                <a16:creationId xmlns:a16="http://schemas.microsoft.com/office/drawing/2014/main" id="{020BB809-963A-A86F-475C-C1AE502E564D}"/>
              </a:ext>
            </a:extLst>
          </p:cNvPr>
          <p:cNvSpPr txBox="1"/>
          <p:nvPr/>
        </p:nvSpPr>
        <p:spPr>
          <a:xfrm>
            <a:off x="625152" y="1679510"/>
            <a:ext cx="4142792" cy="4801314"/>
          </a:xfrm>
          <a:prstGeom prst="rect">
            <a:avLst/>
          </a:prstGeom>
          <a:noFill/>
        </p:spPr>
        <p:txBody>
          <a:bodyPr wrap="square" rtlCol="0">
            <a:spAutoFit/>
          </a:bodyPr>
          <a:lstStyle/>
          <a:p>
            <a:r>
              <a:rPr lang="en-IN" dirty="0" err="1"/>
              <a:t>environment_summary</a:t>
            </a:r>
            <a:r>
              <a:rPr lang="en-IN" dirty="0"/>
              <a:t> = </a:t>
            </a:r>
            <a:r>
              <a:rPr lang="en-IN" dirty="0" err="1"/>
              <a:t>df_clean.groupby</a:t>
            </a:r>
            <a:r>
              <a:rPr lang="en-IN" dirty="0"/>
              <a:t>('Season').</a:t>
            </a:r>
            <a:r>
              <a:rPr lang="en-IN" dirty="0" err="1"/>
              <a:t>agg</a:t>
            </a:r>
            <a:r>
              <a:rPr lang="en-IN" dirty="0"/>
              <a:t>({</a:t>
            </a:r>
          </a:p>
          <a:p>
            <a:br>
              <a:rPr lang="en-IN" dirty="0"/>
            </a:br>
            <a:endParaRPr lang="en-IN" dirty="0"/>
          </a:p>
          <a:p>
            <a:r>
              <a:rPr lang="en-IN" dirty="0"/>
              <a:t>    '</a:t>
            </a:r>
            <a:r>
              <a:rPr lang="en-IN" dirty="0" err="1"/>
              <a:t>Rainfall_mm</a:t>
            </a:r>
            <a:r>
              <a:rPr lang="en-IN" dirty="0"/>
              <a:t>': 'mean',</a:t>
            </a:r>
          </a:p>
          <a:p>
            <a:r>
              <a:rPr lang="en-IN" dirty="0"/>
              <a:t>    '</a:t>
            </a:r>
            <a:r>
              <a:rPr lang="en-IN" dirty="0" err="1"/>
              <a:t>Avg_Temperature_C</a:t>
            </a:r>
            <a:r>
              <a:rPr lang="en-IN" dirty="0"/>
              <a:t>': 'mean',</a:t>
            </a:r>
          </a:p>
          <a:p>
            <a:r>
              <a:rPr lang="en-IN" dirty="0"/>
              <a:t>    '</a:t>
            </a:r>
            <a:r>
              <a:rPr lang="en-IN" dirty="0" err="1"/>
              <a:t>Humidity_pct</a:t>
            </a:r>
            <a:r>
              <a:rPr lang="en-IN" dirty="0"/>
              <a:t>': 'mean',</a:t>
            </a:r>
          </a:p>
          <a:p>
            <a:r>
              <a:rPr lang="en-IN" dirty="0"/>
              <a:t>    '</a:t>
            </a:r>
            <a:r>
              <a:rPr lang="en-IN" dirty="0" err="1"/>
              <a:t>Sunlight_Hours_Day</a:t>
            </a:r>
            <a:r>
              <a:rPr lang="en-IN" dirty="0"/>
              <a:t>': 'mean',</a:t>
            </a:r>
          </a:p>
          <a:p>
            <a:r>
              <a:rPr lang="en-IN" dirty="0"/>
              <a:t>    '</a:t>
            </a:r>
            <a:r>
              <a:rPr lang="en-IN" dirty="0" err="1"/>
              <a:t>Soil_Moisture_pct</a:t>
            </a:r>
            <a:r>
              <a:rPr lang="en-IN" dirty="0"/>
              <a:t>': 'mean',</a:t>
            </a:r>
          </a:p>
          <a:p>
            <a:r>
              <a:rPr lang="en-IN" dirty="0"/>
              <a:t>    '</a:t>
            </a:r>
            <a:r>
              <a:rPr lang="en-IN" dirty="0" err="1"/>
              <a:t>Soil_pH</a:t>
            </a:r>
            <a:r>
              <a:rPr lang="en-IN" dirty="0"/>
              <a:t>': 'mean'</a:t>
            </a:r>
          </a:p>
          <a:p>
            <a:br>
              <a:rPr lang="en-IN" dirty="0"/>
            </a:br>
            <a:endParaRPr lang="en-IN" dirty="0"/>
          </a:p>
          <a:p>
            <a:r>
              <a:rPr lang="en-IN" dirty="0"/>
              <a:t>}).round(2)</a:t>
            </a:r>
          </a:p>
          <a:p>
            <a:br>
              <a:rPr lang="en-IN" dirty="0"/>
            </a:br>
            <a:endParaRPr lang="en-IN" dirty="0"/>
          </a:p>
          <a:p>
            <a:r>
              <a:rPr lang="en-IN" dirty="0"/>
              <a:t>display(</a:t>
            </a:r>
            <a:r>
              <a:rPr lang="en-IN" dirty="0" err="1"/>
              <a:t>environment_summary</a:t>
            </a:r>
            <a:r>
              <a:rPr lang="en-IN" dirty="0"/>
              <a:t>)</a:t>
            </a:r>
          </a:p>
          <a:p>
            <a:endParaRPr lang="en-IN" dirty="0"/>
          </a:p>
        </p:txBody>
      </p:sp>
      <p:pic>
        <p:nvPicPr>
          <p:cNvPr id="6" name="Picture 5">
            <a:extLst>
              <a:ext uri="{FF2B5EF4-FFF2-40B4-BE49-F238E27FC236}">
                <a16:creationId xmlns:a16="http://schemas.microsoft.com/office/drawing/2014/main" id="{A9C41BB9-A3FB-EFED-2FC8-E8D8DB4E2459}"/>
              </a:ext>
            </a:extLst>
          </p:cNvPr>
          <p:cNvPicPr>
            <a:picLocks noChangeAspect="1"/>
          </p:cNvPicPr>
          <p:nvPr/>
        </p:nvPicPr>
        <p:blipFill>
          <a:blip r:embed="rId2"/>
          <a:stretch>
            <a:fillRect/>
          </a:stretch>
        </p:blipFill>
        <p:spPr>
          <a:xfrm>
            <a:off x="4306319" y="1679511"/>
            <a:ext cx="7885681" cy="4450702"/>
          </a:xfrm>
          <a:prstGeom prst="rect">
            <a:avLst/>
          </a:prstGeom>
        </p:spPr>
      </p:pic>
    </p:spTree>
    <p:extLst>
      <p:ext uri="{BB962C8B-B14F-4D97-AF65-F5344CB8AC3E}">
        <p14:creationId xmlns:p14="http://schemas.microsoft.com/office/powerpoint/2010/main" val="3293445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10BB39-D525-F171-AB31-A355D1A78021}"/>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
        <p:nvSpPr>
          <p:cNvPr id="3" name="TextBox 2">
            <a:extLst>
              <a:ext uri="{FF2B5EF4-FFF2-40B4-BE49-F238E27FC236}">
                <a16:creationId xmlns:a16="http://schemas.microsoft.com/office/drawing/2014/main" id="{6E416A11-FF78-4F77-F8DC-E279F228D41B}"/>
              </a:ext>
            </a:extLst>
          </p:cNvPr>
          <p:cNvSpPr txBox="1"/>
          <p:nvPr/>
        </p:nvSpPr>
        <p:spPr>
          <a:xfrm>
            <a:off x="643812" y="1427584"/>
            <a:ext cx="3993502" cy="5078313"/>
          </a:xfrm>
          <a:prstGeom prst="rect">
            <a:avLst/>
          </a:prstGeom>
          <a:noFill/>
        </p:spPr>
        <p:txBody>
          <a:bodyPr wrap="squar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sns.boxplot</a:t>
            </a:r>
            <a:r>
              <a:rPr lang="en-IN" dirty="0"/>
              <a:t>(</a:t>
            </a:r>
          </a:p>
          <a:p>
            <a:r>
              <a:rPr lang="en-IN" dirty="0"/>
              <a:t>    data=</a:t>
            </a:r>
            <a:r>
              <a:rPr lang="en-IN" dirty="0" err="1"/>
              <a:t>df_clean</a:t>
            </a:r>
            <a:r>
              <a:rPr lang="en-IN" dirty="0"/>
              <a:t>,</a:t>
            </a:r>
          </a:p>
          <a:p>
            <a:r>
              <a:rPr lang="en-IN" dirty="0"/>
              <a:t>    x='Season',</a:t>
            </a:r>
          </a:p>
          <a:p>
            <a:r>
              <a:rPr lang="en-IN" dirty="0"/>
              <a:t>    y='</a:t>
            </a:r>
            <a:r>
              <a:rPr lang="en-IN" dirty="0" err="1"/>
              <a:t>Rainfall_mm</a:t>
            </a:r>
            <a:r>
              <a:rPr lang="en-IN" dirty="0"/>
              <a:t>'</a:t>
            </a:r>
          </a:p>
          <a:p>
            <a:r>
              <a:rPr lang="en-IN" dirty="0"/>
              <a:t>)</a:t>
            </a:r>
          </a:p>
          <a:p>
            <a:br>
              <a:rPr lang="en-IN" dirty="0"/>
            </a:br>
            <a:endParaRPr lang="en-IN" dirty="0"/>
          </a:p>
          <a:p>
            <a:r>
              <a:rPr lang="en-IN" dirty="0" err="1"/>
              <a:t>plt.title</a:t>
            </a:r>
            <a:r>
              <a:rPr lang="en-IN" dirty="0"/>
              <a:t>('Rainfall Distribution Across Seasons')</a:t>
            </a:r>
          </a:p>
          <a:p>
            <a:r>
              <a:rPr lang="en-IN" dirty="0" err="1"/>
              <a:t>plt.xlabel</a:t>
            </a:r>
            <a:r>
              <a:rPr lang="en-IN" dirty="0"/>
              <a:t>('Season')</a:t>
            </a:r>
          </a:p>
          <a:p>
            <a:r>
              <a:rPr lang="en-IN" dirty="0" err="1"/>
              <a:t>plt.ylabel</a:t>
            </a:r>
            <a:r>
              <a:rPr lang="en-IN" dirty="0"/>
              <a:t>('Rainfall (mm)')</a:t>
            </a:r>
          </a:p>
          <a:p>
            <a:br>
              <a:rPr lang="en-IN" dirty="0"/>
            </a:br>
            <a:endParaRPr lang="en-IN" dirty="0"/>
          </a:p>
          <a:p>
            <a:r>
              <a:rPr lang="en-IN" dirty="0" err="1"/>
              <a:t>plt.show</a:t>
            </a:r>
            <a:r>
              <a:rPr lang="en-IN" dirty="0"/>
              <a:t>()</a:t>
            </a:r>
          </a:p>
          <a:p>
            <a:endParaRPr lang="en-IN" dirty="0"/>
          </a:p>
        </p:txBody>
      </p:sp>
      <p:pic>
        <p:nvPicPr>
          <p:cNvPr id="7" name="Picture 6">
            <a:extLst>
              <a:ext uri="{FF2B5EF4-FFF2-40B4-BE49-F238E27FC236}">
                <a16:creationId xmlns:a16="http://schemas.microsoft.com/office/drawing/2014/main" id="{91DA95C2-36B6-F657-6495-58059FC60A33}"/>
              </a:ext>
            </a:extLst>
          </p:cNvPr>
          <p:cNvPicPr>
            <a:picLocks noChangeAspect="1"/>
          </p:cNvPicPr>
          <p:nvPr/>
        </p:nvPicPr>
        <p:blipFill>
          <a:blip r:embed="rId2"/>
          <a:stretch>
            <a:fillRect/>
          </a:stretch>
        </p:blipFill>
        <p:spPr>
          <a:xfrm>
            <a:off x="4702628" y="1230439"/>
            <a:ext cx="7489371" cy="4397121"/>
          </a:xfrm>
          <a:prstGeom prst="rect">
            <a:avLst/>
          </a:prstGeom>
        </p:spPr>
      </p:pic>
    </p:spTree>
    <p:extLst>
      <p:ext uri="{BB962C8B-B14F-4D97-AF65-F5344CB8AC3E}">
        <p14:creationId xmlns:p14="http://schemas.microsoft.com/office/powerpoint/2010/main" val="898124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55056B-196D-1B10-A7F5-1DA7F19C55EA}"/>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
        <p:nvSpPr>
          <p:cNvPr id="3" name="TextBox 2">
            <a:extLst>
              <a:ext uri="{FF2B5EF4-FFF2-40B4-BE49-F238E27FC236}">
                <a16:creationId xmlns:a16="http://schemas.microsoft.com/office/drawing/2014/main" id="{FBD8C34E-D5AF-1E7B-C2AC-1F39EB714608}"/>
              </a:ext>
            </a:extLst>
          </p:cNvPr>
          <p:cNvSpPr txBox="1"/>
          <p:nvPr/>
        </p:nvSpPr>
        <p:spPr>
          <a:xfrm>
            <a:off x="326571" y="989045"/>
            <a:ext cx="5415457" cy="4801314"/>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sns.boxplot</a:t>
            </a:r>
            <a:r>
              <a:rPr lang="en-IN" dirty="0"/>
              <a:t>(</a:t>
            </a:r>
          </a:p>
          <a:p>
            <a:r>
              <a:rPr lang="en-IN" dirty="0"/>
              <a:t>    data=</a:t>
            </a:r>
            <a:r>
              <a:rPr lang="en-IN" dirty="0" err="1"/>
              <a:t>df_clean</a:t>
            </a:r>
            <a:r>
              <a:rPr lang="en-IN" dirty="0"/>
              <a:t>,</a:t>
            </a:r>
          </a:p>
          <a:p>
            <a:r>
              <a:rPr lang="en-IN" dirty="0"/>
              <a:t>    x='Season',</a:t>
            </a:r>
          </a:p>
          <a:p>
            <a:r>
              <a:rPr lang="en-IN" dirty="0"/>
              <a:t>    y='</a:t>
            </a:r>
            <a:r>
              <a:rPr lang="en-IN" dirty="0" err="1"/>
              <a:t>Avg_Temperature_C</a:t>
            </a:r>
            <a:r>
              <a:rPr lang="en-IN" dirty="0"/>
              <a:t>'</a:t>
            </a:r>
          </a:p>
          <a:p>
            <a:r>
              <a:rPr lang="en-IN" dirty="0"/>
              <a:t>)</a:t>
            </a:r>
          </a:p>
          <a:p>
            <a:br>
              <a:rPr lang="en-IN" dirty="0"/>
            </a:br>
            <a:endParaRPr lang="en-IN" dirty="0"/>
          </a:p>
          <a:p>
            <a:r>
              <a:rPr lang="en-IN" dirty="0" err="1"/>
              <a:t>plt.title</a:t>
            </a:r>
            <a:r>
              <a:rPr lang="en-IN" dirty="0"/>
              <a:t>('Temperature Distribution Across Seasons')</a:t>
            </a:r>
          </a:p>
          <a:p>
            <a:r>
              <a:rPr lang="en-IN" dirty="0" err="1"/>
              <a:t>plt.xlabel</a:t>
            </a:r>
            <a:r>
              <a:rPr lang="en-IN" dirty="0"/>
              <a:t>('Season')</a:t>
            </a:r>
          </a:p>
          <a:p>
            <a:r>
              <a:rPr lang="en-IN" dirty="0" err="1"/>
              <a:t>plt.ylabel</a:t>
            </a:r>
            <a:r>
              <a:rPr lang="en-IN" dirty="0"/>
              <a:t>('Average Temperature (°C)')</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148E70AA-113C-B2DC-6626-AD929A0DCC8A}"/>
              </a:ext>
            </a:extLst>
          </p:cNvPr>
          <p:cNvPicPr>
            <a:picLocks noChangeAspect="1"/>
          </p:cNvPicPr>
          <p:nvPr/>
        </p:nvPicPr>
        <p:blipFill>
          <a:blip r:embed="rId2"/>
          <a:stretch>
            <a:fillRect/>
          </a:stretch>
        </p:blipFill>
        <p:spPr>
          <a:xfrm>
            <a:off x="5742027" y="1196146"/>
            <a:ext cx="6449973" cy="4465707"/>
          </a:xfrm>
          <a:prstGeom prst="rect">
            <a:avLst/>
          </a:prstGeom>
        </p:spPr>
      </p:pic>
    </p:spTree>
    <p:extLst>
      <p:ext uri="{BB962C8B-B14F-4D97-AF65-F5344CB8AC3E}">
        <p14:creationId xmlns:p14="http://schemas.microsoft.com/office/powerpoint/2010/main" val="2410298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7BC463-CB89-5322-22B2-DE6817257831}"/>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3" name="TextBox 2">
            <a:extLst>
              <a:ext uri="{FF2B5EF4-FFF2-40B4-BE49-F238E27FC236}">
                <a16:creationId xmlns:a16="http://schemas.microsoft.com/office/drawing/2014/main" id="{BDB0B256-FFCA-F413-ED1F-DBEC13913B9E}"/>
              </a:ext>
            </a:extLst>
          </p:cNvPr>
          <p:cNvSpPr txBox="1"/>
          <p:nvPr/>
        </p:nvSpPr>
        <p:spPr>
          <a:xfrm>
            <a:off x="569167" y="821094"/>
            <a:ext cx="4128118" cy="4801314"/>
          </a:xfrm>
          <a:prstGeom prst="rect">
            <a:avLst/>
          </a:prstGeom>
          <a:noFill/>
        </p:spPr>
        <p:txBody>
          <a:bodyPr wrap="non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sns.boxplot</a:t>
            </a:r>
            <a:r>
              <a:rPr lang="en-IN" dirty="0"/>
              <a:t>(</a:t>
            </a:r>
          </a:p>
          <a:p>
            <a:r>
              <a:rPr lang="en-IN" dirty="0"/>
              <a:t>    data=</a:t>
            </a:r>
            <a:r>
              <a:rPr lang="en-IN" dirty="0" err="1"/>
              <a:t>df_clean</a:t>
            </a:r>
            <a:r>
              <a:rPr lang="en-IN" dirty="0"/>
              <a:t>,</a:t>
            </a:r>
          </a:p>
          <a:p>
            <a:r>
              <a:rPr lang="en-IN" dirty="0"/>
              <a:t>    x='Season',</a:t>
            </a:r>
          </a:p>
          <a:p>
            <a:r>
              <a:rPr lang="en-IN" dirty="0"/>
              <a:t>    y='</a:t>
            </a:r>
            <a:r>
              <a:rPr lang="en-IN" dirty="0" err="1"/>
              <a:t>Soil_Moisture_pct</a:t>
            </a:r>
            <a:r>
              <a:rPr lang="en-IN" dirty="0"/>
              <a:t>'</a:t>
            </a:r>
          </a:p>
          <a:p>
            <a:r>
              <a:rPr lang="en-IN" dirty="0"/>
              <a:t>)</a:t>
            </a:r>
          </a:p>
          <a:p>
            <a:br>
              <a:rPr lang="en-IN" dirty="0"/>
            </a:br>
            <a:endParaRPr lang="en-IN" dirty="0"/>
          </a:p>
          <a:p>
            <a:r>
              <a:rPr lang="en-IN" dirty="0" err="1"/>
              <a:t>plt.title</a:t>
            </a:r>
            <a:r>
              <a:rPr lang="en-IN" dirty="0"/>
              <a:t>('Soil Moisture Across Seasons')</a:t>
            </a:r>
          </a:p>
          <a:p>
            <a:r>
              <a:rPr lang="en-IN" dirty="0" err="1"/>
              <a:t>plt.xlabel</a:t>
            </a:r>
            <a:r>
              <a:rPr lang="en-IN" dirty="0"/>
              <a:t>('Season')</a:t>
            </a:r>
          </a:p>
          <a:p>
            <a:r>
              <a:rPr lang="en-IN" dirty="0" err="1"/>
              <a:t>plt.ylabel</a:t>
            </a:r>
            <a:r>
              <a:rPr lang="en-IN" dirty="0"/>
              <a:t>('Soil Moisture (%)')</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E581BAF6-53E7-98EA-6C3E-E4676F193F94}"/>
              </a:ext>
            </a:extLst>
          </p:cNvPr>
          <p:cNvPicPr>
            <a:picLocks noChangeAspect="1"/>
          </p:cNvPicPr>
          <p:nvPr/>
        </p:nvPicPr>
        <p:blipFill>
          <a:blip r:embed="rId2"/>
          <a:stretch>
            <a:fillRect/>
          </a:stretch>
        </p:blipFill>
        <p:spPr>
          <a:xfrm>
            <a:off x="4697285" y="1188526"/>
            <a:ext cx="7357866" cy="4480948"/>
          </a:xfrm>
          <a:prstGeom prst="rect">
            <a:avLst/>
          </a:prstGeom>
        </p:spPr>
      </p:pic>
    </p:spTree>
    <p:extLst>
      <p:ext uri="{BB962C8B-B14F-4D97-AF65-F5344CB8AC3E}">
        <p14:creationId xmlns:p14="http://schemas.microsoft.com/office/powerpoint/2010/main" val="3266264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99076B-21C5-54C1-E5D7-2EC4F443821E}"/>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
        <p:nvSpPr>
          <p:cNvPr id="3" name="TextBox 2">
            <a:extLst>
              <a:ext uri="{FF2B5EF4-FFF2-40B4-BE49-F238E27FC236}">
                <a16:creationId xmlns:a16="http://schemas.microsoft.com/office/drawing/2014/main" id="{50EDC0F3-C4C1-F9F5-2BA4-72D3AE8E35A9}"/>
              </a:ext>
            </a:extLst>
          </p:cNvPr>
          <p:cNvSpPr txBox="1"/>
          <p:nvPr/>
        </p:nvSpPr>
        <p:spPr>
          <a:xfrm>
            <a:off x="77955" y="1720840"/>
            <a:ext cx="4644220" cy="3416320"/>
          </a:xfrm>
          <a:prstGeom prst="rect">
            <a:avLst/>
          </a:prstGeom>
          <a:noFill/>
        </p:spPr>
        <p:txBody>
          <a:bodyPr wrap="none" rtlCol="0">
            <a:spAutoFit/>
          </a:bodyPr>
          <a:lstStyle/>
          <a:p>
            <a:r>
              <a:rPr lang="en-IN" dirty="0" err="1"/>
              <a:t>crop_season_summary</a:t>
            </a:r>
            <a:r>
              <a:rPr lang="en-IN" dirty="0"/>
              <a:t> = </a:t>
            </a:r>
            <a:r>
              <a:rPr lang="en-IN" dirty="0" err="1"/>
              <a:t>df_clean.groupby</a:t>
            </a:r>
            <a:r>
              <a:rPr lang="en-IN" dirty="0"/>
              <a:t>(</a:t>
            </a:r>
          </a:p>
          <a:p>
            <a:r>
              <a:rPr lang="en-IN" dirty="0"/>
              <a:t>    ['Season', 'Crop']</a:t>
            </a:r>
          </a:p>
          <a:p>
            <a:r>
              <a:rPr lang="en-IN" dirty="0"/>
              <a:t>)['</a:t>
            </a:r>
            <a:r>
              <a:rPr lang="en-IN" dirty="0" err="1"/>
              <a:t>Yield_Tonnes_Ha</a:t>
            </a:r>
            <a:r>
              <a:rPr lang="en-IN" dirty="0"/>
              <a:t>'].mean().</a:t>
            </a:r>
            <a:r>
              <a:rPr lang="en-IN" dirty="0" err="1"/>
              <a:t>reset_index</a:t>
            </a:r>
            <a:r>
              <a:rPr lang="en-IN" dirty="0"/>
              <a:t>()</a:t>
            </a:r>
          </a:p>
          <a:p>
            <a:br>
              <a:rPr lang="en-IN" dirty="0"/>
            </a:br>
            <a:endParaRPr lang="en-IN" dirty="0"/>
          </a:p>
          <a:p>
            <a:r>
              <a:rPr lang="en-IN" dirty="0"/>
              <a:t>display(</a:t>
            </a:r>
          </a:p>
          <a:p>
            <a:r>
              <a:rPr lang="en-IN" dirty="0"/>
              <a:t>    </a:t>
            </a:r>
            <a:r>
              <a:rPr lang="en-IN" dirty="0" err="1"/>
              <a:t>crop_season_summary.sort_values</a:t>
            </a:r>
            <a:r>
              <a:rPr lang="en-IN" dirty="0"/>
              <a:t>(</a:t>
            </a:r>
          </a:p>
          <a:p>
            <a:r>
              <a:rPr lang="en-IN" dirty="0"/>
              <a:t>        '</a:t>
            </a:r>
            <a:r>
              <a:rPr lang="en-IN" dirty="0" err="1"/>
              <a:t>Yield_Tonnes_Ha</a:t>
            </a:r>
            <a:r>
              <a:rPr lang="en-IN" dirty="0"/>
              <a:t>',</a:t>
            </a:r>
          </a:p>
          <a:p>
            <a:r>
              <a:rPr lang="en-IN" dirty="0"/>
              <a:t>        ascending=False</a:t>
            </a:r>
          </a:p>
          <a:p>
            <a:r>
              <a:rPr lang="en-IN" dirty="0"/>
              <a:t>    ).head(20)</a:t>
            </a:r>
          </a:p>
          <a:p>
            <a:r>
              <a:rPr lang="en-IN" dirty="0"/>
              <a:t>)</a:t>
            </a:r>
          </a:p>
          <a:p>
            <a:endParaRPr lang="en-IN" dirty="0"/>
          </a:p>
        </p:txBody>
      </p:sp>
      <p:pic>
        <p:nvPicPr>
          <p:cNvPr id="6" name="Picture 5">
            <a:extLst>
              <a:ext uri="{FF2B5EF4-FFF2-40B4-BE49-F238E27FC236}">
                <a16:creationId xmlns:a16="http://schemas.microsoft.com/office/drawing/2014/main" id="{1546FBFF-C6C4-5BD3-B7EA-0E1A17FBEDD3}"/>
              </a:ext>
            </a:extLst>
          </p:cNvPr>
          <p:cNvPicPr>
            <a:picLocks noChangeAspect="1"/>
          </p:cNvPicPr>
          <p:nvPr/>
        </p:nvPicPr>
        <p:blipFill>
          <a:blip r:embed="rId2"/>
          <a:stretch>
            <a:fillRect/>
          </a:stretch>
        </p:blipFill>
        <p:spPr>
          <a:xfrm>
            <a:off x="4961461" y="149290"/>
            <a:ext cx="3072196" cy="6708710"/>
          </a:xfrm>
          <a:prstGeom prst="rect">
            <a:avLst/>
          </a:prstGeom>
        </p:spPr>
      </p:pic>
      <p:pic>
        <p:nvPicPr>
          <p:cNvPr id="9" name="Picture 8">
            <a:extLst>
              <a:ext uri="{FF2B5EF4-FFF2-40B4-BE49-F238E27FC236}">
                <a16:creationId xmlns:a16="http://schemas.microsoft.com/office/drawing/2014/main" id="{14555392-7AEF-9BA6-572C-B17EE504BC62}"/>
              </a:ext>
            </a:extLst>
          </p:cNvPr>
          <p:cNvPicPr>
            <a:picLocks noChangeAspect="1"/>
          </p:cNvPicPr>
          <p:nvPr/>
        </p:nvPicPr>
        <p:blipFill>
          <a:blip r:embed="rId3"/>
          <a:stretch>
            <a:fillRect/>
          </a:stretch>
        </p:blipFill>
        <p:spPr>
          <a:xfrm>
            <a:off x="8272943" y="261270"/>
            <a:ext cx="3601816" cy="3331016"/>
          </a:xfrm>
          <a:prstGeom prst="rect">
            <a:avLst/>
          </a:prstGeom>
        </p:spPr>
      </p:pic>
    </p:spTree>
    <p:extLst>
      <p:ext uri="{BB962C8B-B14F-4D97-AF65-F5344CB8AC3E}">
        <p14:creationId xmlns:p14="http://schemas.microsoft.com/office/powerpoint/2010/main" val="3739921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09B8F3-A87F-0C89-A495-B7BF94393949}"/>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
        <p:nvSpPr>
          <p:cNvPr id="3" name="TextBox 2">
            <a:extLst>
              <a:ext uri="{FF2B5EF4-FFF2-40B4-BE49-F238E27FC236}">
                <a16:creationId xmlns:a16="http://schemas.microsoft.com/office/drawing/2014/main" id="{7AE98485-AE05-03AB-8A63-5D8CBAFEB4C2}"/>
              </a:ext>
            </a:extLst>
          </p:cNvPr>
          <p:cNvSpPr txBox="1"/>
          <p:nvPr/>
        </p:nvSpPr>
        <p:spPr>
          <a:xfrm>
            <a:off x="167951" y="1605173"/>
            <a:ext cx="4707443" cy="4801314"/>
          </a:xfrm>
          <a:prstGeom prst="rect">
            <a:avLst/>
          </a:prstGeom>
          <a:noFill/>
        </p:spPr>
        <p:txBody>
          <a:bodyPr wrap="none" rtlCol="0">
            <a:spAutoFit/>
          </a:bodyPr>
          <a:lstStyle/>
          <a:p>
            <a:r>
              <a:rPr lang="en-IN" dirty="0" err="1"/>
              <a:t>crop_season_pivot</a:t>
            </a:r>
            <a:r>
              <a:rPr lang="en-IN" dirty="0"/>
              <a:t> = </a:t>
            </a:r>
            <a:r>
              <a:rPr lang="en-IN" dirty="0" err="1"/>
              <a:t>df_clean.pivot_table</a:t>
            </a:r>
            <a:r>
              <a:rPr lang="en-IN" dirty="0"/>
              <a:t>(</a:t>
            </a:r>
          </a:p>
          <a:p>
            <a:r>
              <a:rPr lang="en-IN" dirty="0"/>
              <a:t>    index='Crop',</a:t>
            </a:r>
          </a:p>
          <a:p>
            <a:r>
              <a:rPr lang="en-IN" dirty="0"/>
              <a:t>    columns='Season',</a:t>
            </a:r>
          </a:p>
          <a:p>
            <a:r>
              <a:rPr lang="en-IN" dirty="0"/>
              <a:t>    values='</a:t>
            </a:r>
            <a:r>
              <a:rPr lang="en-IN" dirty="0" err="1"/>
              <a:t>Yield_Tonnes_Ha</a:t>
            </a:r>
            <a:r>
              <a:rPr lang="en-IN" dirty="0"/>
              <a:t>',</a:t>
            </a:r>
          </a:p>
          <a:p>
            <a:r>
              <a:rPr lang="en-IN" dirty="0"/>
              <a:t>    </a:t>
            </a:r>
            <a:r>
              <a:rPr lang="en-IN" dirty="0" err="1"/>
              <a:t>aggfunc</a:t>
            </a:r>
            <a:r>
              <a:rPr lang="en-IN" dirty="0"/>
              <a:t>='mean’</a:t>
            </a:r>
          </a:p>
          <a:p>
            <a:r>
              <a:rPr lang="en-IN" dirty="0"/>
              <a:t>)</a:t>
            </a:r>
          </a:p>
          <a:p>
            <a:r>
              <a:rPr lang="en-IN" dirty="0" err="1"/>
              <a:t>plt.figure</a:t>
            </a:r>
            <a:r>
              <a:rPr lang="en-IN" dirty="0"/>
              <a:t>(</a:t>
            </a:r>
            <a:r>
              <a:rPr lang="en-IN" dirty="0" err="1"/>
              <a:t>figsize</a:t>
            </a:r>
            <a:r>
              <a:rPr lang="en-IN" dirty="0"/>
              <a:t>=(10,7))</a:t>
            </a:r>
          </a:p>
          <a:p>
            <a:r>
              <a:rPr lang="en-IN" dirty="0" err="1"/>
              <a:t>sns.heatmap</a:t>
            </a:r>
            <a:r>
              <a:rPr lang="en-IN" dirty="0"/>
              <a:t>(</a:t>
            </a:r>
          </a:p>
          <a:p>
            <a:r>
              <a:rPr lang="en-IN" dirty="0"/>
              <a:t>    </a:t>
            </a:r>
            <a:r>
              <a:rPr lang="en-IN" dirty="0" err="1"/>
              <a:t>crop_season_pivot</a:t>
            </a:r>
            <a:r>
              <a:rPr lang="en-IN" dirty="0"/>
              <a:t>,</a:t>
            </a:r>
          </a:p>
          <a:p>
            <a:r>
              <a:rPr lang="en-IN" dirty="0"/>
              <a:t>    </a:t>
            </a:r>
            <a:r>
              <a:rPr lang="en-IN" dirty="0" err="1"/>
              <a:t>annot</a:t>
            </a:r>
            <a:r>
              <a:rPr lang="en-IN" dirty="0"/>
              <a:t>=True,</a:t>
            </a:r>
          </a:p>
          <a:p>
            <a:r>
              <a:rPr lang="en-IN" dirty="0"/>
              <a:t>    </a:t>
            </a:r>
            <a:r>
              <a:rPr lang="en-IN" dirty="0" err="1"/>
              <a:t>fmt</a:t>
            </a:r>
            <a:r>
              <a:rPr lang="en-IN" dirty="0"/>
              <a:t>='.2f'</a:t>
            </a:r>
          </a:p>
          <a:p>
            <a:r>
              <a:rPr lang="en-IN" dirty="0"/>
              <a:t>)</a:t>
            </a:r>
          </a:p>
          <a:p>
            <a:r>
              <a:rPr lang="en-IN" dirty="0" err="1"/>
              <a:t>plt.title</a:t>
            </a:r>
            <a:r>
              <a:rPr lang="en-IN" dirty="0"/>
              <a:t>('Average Yield by Crop and Season')</a:t>
            </a:r>
          </a:p>
          <a:p>
            <a:r>
              <a:rPr lang="en-IN" dirty="0" err="1"/>
              <a:t>plt.xlabel</a:t>
            </a:r>
            <a:r>
              <a:rPr lang="en-IN" dirty="0"/>
              <a:t>('Season')</a:t>
            </a:r>
          </a:p>
          <a:p>
            <a:r>
              <a:rPr lang="en-IN" dirty="0" err="1"/>
              <a:t>plt.ylabel</a:t>
            </a:r>
            <a:r>
              <a:rPr lang="en-IN" dirty="0"/>
              <a:t>('Crop')</a:t>
            </a:r>
          </a:p>
          <a:p>
            <a:r>
              <a:rPr lang="en-IN" dirty="0" err="1"/>
              <a:t>plt.show</a:t>
            </a:r>
            <a:r>
              <a:rPr lang="en-IN" dirty="0"/>
              <a:t>()</a:t>
            </a:r>
          </a:p>
          <a:p>
            <a:endParaRPr lang="en-IN" dirty="0"/>
          </a:p>
        </p:txBody>
      </p:sp>
      <p:pic>
        <p:nvPicPr>
          <p:cNvPr id="13" name="Picture 12">
            <a:extLst>
              <a:ext uri="{FF2B5EF4-FFF2-40B4-BE49-F238E27FC236}">
                <a16:creationId xmlns:a16="http://schemas.microsoft.com/office/drawing/2014/main" id="{2823F908-CA57-D019-0D5C-1C47524122E8}"/>
              </a:ext>
            </a:extLst>
          </p:cNvPr>
          <p:cNvPicPr>
            <a:picLocks noChangeAspect="1"/>
          </p:cNvPicPr>
          <p:nvPr/>
        </p:nvPicPr>
        <p:blipFill>
          <a:blip r:embed="rId2"/>
          <a:stretch>
            <a:fillRect/>
          </a:stretch>
        </p:blipFill>
        <p:spPr>
          <a:xfrm>
            <a:off x="4936435" y="576066"/>
            <a:ext cx="7255565" cy="5705867"/>
          </a:xfrm>
          <a:prstGeom prst="rect">
            <a:avLst/>
          </a:prstGeom>
        </p:spPr>
      </p:pic>
    </p:spTree>
    <p:extLst>
      <p:ext uri="{BB962C8B-B14F-4D97-AF65-F5344CB8AC3E}">
        <p14:creationId xmlns:p14="http://schemas.microsoft.com/office/powerpoint/2010/main" val="2263577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040CDF-1DD9-5620-3884-EE71C29A8C17}"/>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
        <p:nvSpPr>
          <p:cNvPr id="3" name="TextBox 2">
            <a:extLst>
              <a:ext uri="{FF2B5EF4-FFF2-40B4-BE49-F238E27FC236}">
                <a16:creationId xmlns:a16="http://schemas.microsoft.com/office/drawing/2014/main" id="{3A845B20-2C5A-3AE8-4BA1-7AA4236DB950}"/>
              </a:ext>
            </a:extLst>
          </p:cNvPr>
          <p:cNvSpPr txBox="1"/>
          <p:nvPr/>
        </p:nvSpPr>
        <p:spPr>
          <a:xfrm>
            <a:off x="587829" y="1352940"/>
            <a:ext cx="3741575" cy="5078313"/>
          </a:xfrm>
          <a:prstGeom prst="rect">
            <a:avLst/>
          </a:prstGeom>
          <a:noFill/>
        </p:spPr>
        <p:txBody>
          <a:bodyPr wrap="square" rtlCol="0">
            <a:spAutoFit/>
          </a:bodyPr>
          <a:lstStyle/>
          <a:p>
            <a:r>
              <a:rPr lang="en-IN" dirty="0" err="1"/>
              <a:t>irrigation_summary</a:t>
            </a:r>
            <a:r>
              <a:rPr lang="en-IN" dirty="0"/>
              <a:t> = </a:t>
            </a:r>
            <a:r>
              <a:rPr lang="en-IN" dirty="0" err="1"/>
              <a:t>df_clean.groupby</a:t>
            </a:r>
            <a:r>
              <a:rPr lang="en-IN" dirty="0"/>
              <a:t>(</a:t>
            </a:r>
          </a:p>
          <a:p>
            <a:r>
              <a:rPr lang="en-IN" dirty="0"/>
              <a:t>    ['Season', '</a:t>
            </a:r>
            <a:r>
              <a:rPr lang="en-IN" dirty="0" err="1"/>
              <a:t>Irrigation_Method</a:t>
            </a:r>
            <a:r>
              <a:rPr lang="en-IN" dirty="0"/>
              <a:t>']</a:t>
            </a:r>
          </a:p>
          <a:p>
            <a:r>
              <a:rPr lang="en-IN" dirty="0"/>
              <a:t>).</a:t>
            </a:r>
            <a:r>
              <a:rPr lang="en-IN" dirty="0" err="1"/>
              <a:t>agg</a:t>
            </a:r>
            <a:r>
              <a:rPr lang="en-IN" dirty="0"/>
              <a:t>({</a:t>
            </a:r>
          </a:p>
          <a:p>
            <a:br>
              <a:rPr lang="en-IN" dirty="0"/>
            </a:br>
            <a:endParaRPr lang="en-IN" dirty="0"/>
          </a:p>
          <a:p>
            <a:r>
              <a:rPr lang="en-IN" dirty="0"/>
              <a:t>    '</a:t>
            </a:r>
            <a:r>
              <a:rPr lang="en-IN" dirty="0" err="1"/>
              <a:t>Yield_Tonnes_Ha</a:t>
            </a:r>
            <a:r>
              <a:rPr lang="en-IN" dirty="0"/>
              <a:t>': 'mean',</a:t>
            </a:r>
          </a:p>
          <a:p>
            <a:r>
              <a:rPr lang="en-IN" dirty="0"/>
              <a:t>    '</a:t>
            </a:r>
            <a:r>
              <a:rPr lang="en-IN" dirty="0" err="1"/>
              <a:t>Profit_INR</a:t>
            </a:r>
            <a:r>
              <a:rPr lang="en-IN" dirty="0"/>
              <a:t>': 'mean',</a:t>
            </a:r>
          </a:p>
          <a:p>
            <a:r>
              <a:rPr lang="en-IN" dirty="0"/>
              <a:t>    'Water_Used_m3': 'mean',</a:t>
            </a:r>
          </a:p>
          <a:p>
            <a:r>
              <a:rPr lang="en-IN" dirty="0"/>
              <a:t>    'Water_Efficiency_t_per_1000m3': 'mean'</a:t>
            </a:r>
          </a:p>
          <a:p>
            <a:br>
              <a:rPr lang="en-IN" dirty="0"/>
            </a:br>
            <a:endParaRPr lang="en-IN" dirty="0"/>
          </a:p>
          <a:p>
            <a:r>
              <a:rPr lang="en-IN" dirty="0"/>
              <a:t>}).round(2)</a:t>
            </a:r>
          </a:p>
          <a:p>
            <a:br>
              <a:rPr lang="en-IN" dirty="0"/>
            </a:br>
            <a:endParaRPr lang="en-IN" dirty="0"/>
          </a:p>
          <a:p>
            <a:r>
              <a:rPr lang="en-IN" dirty="0"/>
              <a:t>display(</a:t>
            </a:r>
            <a:r>
              <a:rPr lang="en-IN" dirty="0" err="1"/>
              <a:t>irrigation_summary</a:t>
            </a:r>
            <a:r>
              <a:rPr lang="en-IN" dirty="0"/>
              <a:t>)</a:t>
            </a:r>
          </a:p>
          <a:p>
            <a:endParaRPr lang="en-IN" dirty="0"/>
          </a:p>
        </p:txBody>
      </p:sp>
      <p:pic>
        <p:nvPicPr>
          <p:cNvPr id="6" name="Picture 5">
            <a:extLst>
              <a:ext uri="{FF2B5EF4-FFF2-40B4-BE49-F238E27FC236}">
                <a16:creationId xmlns:a16="http://schemas.microsoft.com/office/drawing/2014/main" id="{6ACF1CE8-BA06-7F63-949D-70588468C299}"/>
              </a:ext>
            </a:extLst>
          </p:cNvPr>
          <p:cNvPicPr>
            <a:picLocks noChangeAspect="1"/>
          </p:cNvPicPr>
          <p:nvPr/>
        </p:nvPicPr>
        <p:blipFill>
          <a:blip r:embed="rId2"/>
          <a:stretch>
            <a:fillRect/>
          </a:stretch>
        </p:blipFill>
        <p:spPr>
          <a:xfrm>
            <a:off x="4198776" y="1253301"/>
            <a:ext cx="7993224" cy="4351397"/>
          </a:xfrm>
          <a:prstGeom prst="rect">
            <a:avLst/>
          </a:prstGeom>
        </p:spPr>
      </p:pic>
    </p:spTree>
    <p:extLst>
      <p:ext uri="{BB962C8B-B14F-4D97-AF65-F5344CB8AC3E}">
        <p14:creationId xmlns:p14="http://schemas.microsoft.com/office/powerpoint/2010/main" val="999485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7056DB-9A6A-8A6E-644D-5C286AE8D92F}"/>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
        <p:nvSpPr>
          <p:cNvPr id="3" name="TextBox 2">
            <a:extLst>
              <a:ext uri="{FF2B5EF4-FFF2-40B4-BE49-F238E27FC236}">
                <a16:creationId xmlns:a16="http://schemas.microsoft.com/office/drawing/2014/main" id="{94D109B6-A381-4831-DE0A-EB527E99AF25}"/>
              </a:ext>
            </a:extLst>
          </p:cNvPr>
          <p:cNvSpPr txBox="1"/>
          <p:nvPr/>
        </p:nvSpPr>
        <p:spPr>
          <a:xfrm>
            <a:off x="503853" y="1203649"/>
            <a:ext cx="6010684" cy="5355312"/>
          </a:xfrm>
          <a:prstGeom prst="rect">
            <a:avLst/>
          </a:prstGeom>
          <a:noFill/>
        </p:spPr>
        <p:txBody>
          <a:bodyPr wrap="none" rtlCol="0">
            <a:spAutoFit/>
          </a:bodyPr>
          <a:lstStyle/>
          <a:p>
            <a:r>
              <a:rPr lang="en-IN" dirty="0" err="1"/>
              <a:t>plt.figure</a:t>
            </a:r>
            <a:r>
              <a:rPr lang="en-IN" dirty="0"/>
              <a:t>(</a:t>
            </a:r>
            <a:r>
              <a:rPr lang="en-IN" dirty="0" err="1"/>
              <a:t>figsize</a:t>
            </a:r>
            <a:r>
              <a:rPr lang="en-IN" dirty="0"/>
              <a:t>=(10,6))</a:t>
            </a:r>
          </a:p>
          <a:p>
            <a:br>
              <a:rPr lang="en-IN" dirty="0"/>
            </a:br>
            <a:endParaRPr lang="en-IN" dirty="0"/>
          </a:p>
          <a:p>
            <a:r>
              <a:rPr lang="en-IN" dirty="0" err="1"/>
              <a:t>sns.barplot</a:t>
            </a:r>
            <a:r>
              <a:rPr lang="en-IN" dirty="0"/>
              <a:t>(</a:t>
            </a:r>
          </a:p>
          <a:p>
            <a:r>
              <a:rPr lang="en-IN" dirty="0"/>
              <a:t>    data=</a:t>
            </a:r>
            <a:r>
              <a:rPr lang="en-IN" dirty="0" err="1"/>
              <a:t>df_clean</a:t>
            </a:r>
            <a:r>
              <a:rPr lang="en-IN" dirty="0"/>
              <a:t>,</a:t>
            </a:r>
          </a:p>
          <a:p>
            <a:r>
              <a:rPr lang="en-IN" dirty="0"/>
              <a:t>    x='</a:t>
            </a:r>
            <a:r>
              <a:rPr lang="en-IN" dirty="0" err="1"/>
              <a:t>Irrigation_Method</a:t>
            </a:r>
            <a:r>
              <a:rPr lang="en-IN" dirty="0"/>
              <a:t>',</a:t>
            </a:r>
          </a:p>
          <a:p>
            <a:r>
              <a:rPr lang="en-IN" dirty="0"/>
              <a:t>    y='</a:t>
            </a:r>
            <a:r>
              <a:rPr lang="en-IN" dirty="0" err="1"/>
              <a:t>Yield_Tonnes_Ha</a:t>
            </a:r>
            <a:r>
              <a:rPr lang="en-IN" dirty="0"/>
              <a:t>',</a:t>
            </a:r>
          </a:p>
          <a:p>
            <a:r>
              <a:rPr lang="en-IN" dirty="0"/>
              <a:t>    hue='Season',</a:t>
            </a:r>
          </a:p>
          <a:p>
            <a:r>
              <a:rPr lang="en-IN" dirty="0"/>
              <a:t>    estimator='mean'</a:t>
            </a:r>
          </a:p>
          <a:p>
            <a:r>
              <a:rPr lang="en-IN" dirty="0"/>
              <a:t>)</a:t>
            </a:r>
          </a:p>
          <a:p>
            <a:br>
              <a:rPr lang="en-IN" dirty="0"/>
            </a:br>
            <a:endParaRPr lang="en-IN" dirty="0"/>
          </a:p>
          <a:p>
            <a:r>
              <a:rPr lang="en-IN" dirty="0" err="1"/>
              <a:t>plt.title</a:t>
            </a:r>
            <a:r>
              <a:rPr lang="en-IN" dirty="0"/>
              <a:t>('Average Yield by Irrigation Method and Season')</a:t>
            </a:r>
          </a:p>
          <a:p>
            <a:r>
              <a:rPr lang="en-IN" dirty="0" err="1"/>
              <a:t>plt.xlabel</a:t>
            </a:r>
            <a:r>
              <a:rPr lang="en-IN" dirty="0"/>
              <a:t>('Irrigation Method')</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6" name="Picture 5">
            <a:extLst>
              <a:ext uri="{FF2B5EF4-FFF2-40B4-BE49-F238E27FC236}">
                <a16:creationId xmlns:a16="http://schemas.microsoft.com/office/drawing/2014/main" id="{EEA91E4D-0BFF-A194-2943-0043BCC840C5}"/>
              </a:ext>
            </a:extLst>
          </p:cNvPr>
          <p:cNvPicPr>
            <a:picLocks noChangeAspect="1"/>
          </p:cNvPicPr>
          <p:nvPr/>
        </p:nvPicPr>
        <p:blipFill>
          <a:blip r:embed="rId2"/>
          <a:stretch>
            <a:fillRect/>
          </a:stretch>
        </p:blipFill>
        <p:spPr>
          <a:xfrm>
            <a:off x="6514536" y="928111"/>
            <a:ext cx="5456639" cy="5001778"/>
          </a:xfrm>
          <a:prstGeom prst="rect">
            <a:avLst/>
          </a:prstGeom>
        </p:spPr>
      </p:pic>
    </p:spTree>
    <p:extLst>
      <p:ext uri="{BB962C8B-B14F-4D97-AF65-F5344CB8AC3E}">
        <p14:creationId xmlns:p14="http://schemas.microsoft.com/office/powerpoint/2010/main" val="246678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B9A0ED-1DFA-4CEE-FE2D-976F39EA9D02}"/>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
        <p:nvSpPr>
          <p:cNvPr id="4" name="TextBox 3">
            <a:extLst>
              <a:ext uri="{FF2B5EF4-FFF2-40B4-BE49-F238E27FC236}">
                <a16:creationId xmlns:a16="http://schemas.microsoft.com/office/drawing/2014/main" id="{13D569E6-2AE4-D906-E43D-3B575865A783}"/>
              </a:ext>
            </a:extLst>
          </p:cNvPr>
          <p:cNvSpPr txBox="1"/>
          <p:nvPr/>
        </p:nvSpPr>
        <p:spPr>
          <a:xfrm>
            <a:off x="242596" y="886408"/>
            <a:ext cx="5214889" cy="5078313"/>
          </a:xfrm>
          <a:prstGeom prst="rect">
            <a:avLst/>
          </a:prstGeom>
          <a:noFill/>
        </p:spPr>
        <p:txBody>
          <a:bodyPr wrap="none" rtlCol="0">
            <a:spAutoFit/>
          </a:bodyPr>
          <a:lstStyle/>
          <a:p>
            <a:r>
              <a:rPr lang="en-IN" dirty="0" err="1"/>
              <a:t>state_summary</a:t>
            </a:r>
            <a:r>
              <a:rPr lang="en-IN" dirty="0"/>
              <a:t> = </a:t>
            </a:r>
            <a:r>
              <a:rPr lang="en-IN" dirty="0" err="1"/>
              <a:t>df_clean.groupby</a:t>
            </a:r>
            <a:r>
              <a:rPr lang="en-IN" dirty="0"/>
              <a:t>('State').</a:t>
            </a:r>
            <a:r>
              <a:rPr lang="en-IN" dirty="0" err="1"/>
              <a:t>agg</a:t>
            </a:r>
            <a:r>
              <a:rPr lang="en-IN" dirty="0"/>
              <a:t>({</a:t>
            </a:r>
          </a:p>
          <a:p>
            <a:br>
              <a:rPr lang="en-IN" dirty="0"/>
            </a:br>
            <a:endParaRPr lang="en-IN" dirty="0"/>
          </a:p>
          <a:p>
            <a:r>
              <a:rPr lang="en-IN" dirty="0"/>
              <a:t>    '</a:t>
            </a:r>
            <a:r>
              <a:rPr lang="en-IN" dirty="0" err="1"/>
              <a:t>Yield_Tonnes_Ha</a:t>
            </a:r>
            <a:r>
              <a:rPr lang="en-IN" dirty="0"/>
              <a:t>': 'mean',</a:t>
            </a:r>
          </a:p>
          <a:p>
            <a:r>
              <a:rPr lang="en-IN" dirty="0"/>
              <a:t>    '</a:t>
            </a:r>
            <a:r>
              <a:rPr lang="en-IN" dirty="0" err="1"/>
              <a:t>Production_Tonnes</a:t>
            </a:r>
            <a:r>
              <a:rPr lang="en-IN" dirty="0"/>
              <a:t>': 'mean',</a:t>
            </a:r>
          </a:p>
          <a:p>
            <a:r>
              <a:rPr lang="en-IN" dirty="0"/>
              <a:t>    '</a:t>
            </a:r>
            <a:r>
              <a:rPr lang="en-IN" dirty="0" err="1"/>
              <a:t>Revenue_INR</a:t>
            </a:r>
            <a:r>
              <a:rPr lang="en-IN" dirty="0"/>
              <a:t>': 'mean',</a:t>
            </a:r>
          </a:p>
          <a:p>
            <a:r>
              <a:rPr lang="en-IN" dirty="0"/>
              <a:t>    '</a:t>
            </a:r>
            <a:r>
              <a:rPr lang="en-IN" dirty="0" err="1"/>
              <a:t>Profit_INR</a:t>
            </a:r>
            <a:r>
              <a:rPr lang="en-IN" dirty="0"/>
              <a:t>': 'mean',</a:t>
            </a:r>
          </a:p>
          <a:p>
            <a:r>
              <a:rPr lang="en-IN" dirty="0"/>
              <a:t>    'Water_Efficiency_t_per_1000m3': 'mean'</a:t>
            </a:r>
          </a:p>
          <a:p>
            <a:br>
              <a:rPr lang="en-IN" dirty="0"/>
            </a:br>
            <a:endParaRPr lang="en-IN" dirty="0"/>
          </a:p>
          <a:p>
            <a:r>
              <a:rPr lang="en-IN" dirty="0"/>
              <a:t>}).round(2)</a:t>
            </a:r>
          </a:p>
          <a:p>
            <a:br>
              <a:rPr lang="en-IN" dirty="0"/>
            </a:br>
            <a:endParaRPr lang="en-IN" dirty="0"/>
          </a:p>
          <a:p>
            <a:r>
              <a:rPr lang="en-IN" dirty="0"/>
              <a:t>display(</a:t>
            </a:r>
            <a:r>
              <a:rPr lang="en-IN" dirty="0" err="1"/>
              <a:t>state_summary.sort_values</a:t>
            </a:r>
            <a:r>
              <a:rPr lang="en-IN" dirty="0"/>
              <a:t>(</a:t>
            </a:r>
          </a:p>
          <a:p>
            <a:r>
              <a:rPr lang="en-IN" dirty="0"/>
              <a:t>    '</a:t>
            </a:r>
            <a:r>
              <a:rPr lang="en-IN" dirty="0" err="1"/>
              <a:t>Yield_Tonnes_Ha</a:t>
            </a:r>
            <a:r>
              <a:rPr lang="en-IN" dirty="0"/>
              <a:t>',</a:t>
            </a:r>
          </a:p>
          <a:p>
            <a:r>
              <a:rPr lang="en-IN" dirty="0"/>
              <a:t>    ascending=False</a:t>
            </a:r>
          </a:p>
          <a:p>
            <a:r>
              <a:rPr lang="en-IN" dirty="0"/>
              <a:t>))</a:t>
            </a:r>
          </a:p>
          <a:p>
            <a:endParaRPr lang="en-IN" dirty="0"/>
          </a:p>
        </p:txBody>
      </p:sp>
      <p:graphicFrame>
        <p:nvGraphicFramePr>
          <p:cNvPr id="6" name="Table 5">
            <a:extLst>
              <a:ext uri="{FF2B5EF4-FFF2-40B4-BE49-F238E27FC236}">
                <a16:creationId xmlns:a16="http://schemas.microsoft.com/office/drawing/2014/main" id="{625314CD-7BA1-A119-4D5C-B280FB4CA8D1}"/>
              </a:ext>
            </a:extLst>
          </p:cNvPr>
          <p:cNvGraphicFramePr>
            <a:graphicFrameLocks noGrp="1"/>
          </p:cNvGraphicFramePr>
          <p:nvPr>
            <p:extLst>
              <p:ext uri="{D42A27DB-BD31-4B8C-83A1-F6EECF244321}">
                <p14:modId xmlns:p14="http://schemas.microsoft.com/office/powerpoint/2010/main" val="322623504"/>
              </p:ext>
            </p:extLst>
          </p:nvPr>
        </p:nvGraphicFramePr>
        <p:xfrm>
          <a:off x="5457485" y="1028573"/>
          <a:ext cx="6634464" cy="5078316"/>
        </p:xfrm>
        <a:graphic>
          <a:graphicData uri="http://schemas.openxmlformats.org/drawingml/2006/table">
            <a:tbl>
              <a:tblPr>
                <a:tableStyleId>{6E25E649-3F16-4E02-A733-19D2CDBF48F0}</a:tableStyleId>
              </a:tblPr>
              <a:tblGrid>
                <a:gridCol w="1105744">
                  <a:extLst>
                    <a:ext uri="{9D8B030D-6E8A-4147-A177-3AD203B41FA5}">
                      <a16:colId xmlns:a16="http://schemas.microsoft.com/office/drawing/2014/main" val="2548073805"/>
                    </a:ext>
                  </a:extLst>
                </a:gridCol>
                <a:gridCol w="1105744">
                  <a:extLst>
                    <a:ext uri="{9D8B030D-6E8A-4147-A177-3AD203B41FA5}">
                      <a16:colId xmlns:a16="http://schemas.microsoft.com/office/drawing/2014/main" val="2935975070"/>
                    </a:ext>
                  </a:extLst>
                </a:gridCol>
                <a:gridCol w="1105744">
                  <a:extLst>
                    <a:ext uri="{9D8B030D-6E8A-4147-A177-3AD203B41FA5}">
                      <a16:colId xmlns:a16="http://schemas.microsoft.com/office/drawing/2014/main" val="747372845"/>
                    </a:ext>
                  </a:extLst>
                </a:gridCol>
                <a:gridCol w="1105744">
                  <a:extLst>
                    <a:ext uri="{9D8B030D-6E8A-4147-A177-3AD203B41FA5}">
                      <a16:colId xmlns:a16="http://schemas.microsoft.com/office/drawing/2014/main" val="1456328836"/>
                    </a:ext>
                  </a:extLst>
                </a:gridCol>
                <a:gridCol w="1105744">
                  <a:extLst>
                    <a:ext uri="{9D8B030D-6E8A-4147-A177-3AD203B41FA5}">
                      <a16:colId xmlns:a16="http://schemas.microsoft.com/office/drawing/2014/main" val="2244019555"/>
                    </a:ext>
                  </a:extLst>
                </a:gridCol>
                <a:gridCol w="1105744">
                  <a:extLst>
                    <a:ext uri="{9D8B030D-6E8A-4147-A177-3AD203B41FA5}">
                      <a16:colId xmlns:a16="http://schemas.microsoft.com/office/drawing/2014/main" val="1904126748"/>
                    </a:ext>
                  </a:extLst>
                </a:gridCol>
              </a:tblGrid>
              <a:tr h="923913">
                <a:tc>
                  <a:txBody>
                    <a:bodyPr/>
                    <a:lstStyle/>
                    <a:p>
                      <a:pPr algn="r" fontAlgn="t">
                        <a:buNone/>
                      </a:pPr>
                      <a:endParaRPr lang="en-IN" sz="1400">
                        <a:effectLst/>
                      </a:endParaRPr>
                    </a:p>
                  </a:txBody>
                  <a:tcPr marL="70572" marR="70572" marT="35286" marB="35286"/>
                </a:tc>
                <a:tc>
                  <a:txBody>
                    <a:bodyPr/>
                    <a:lstStyle/>
                    <a:p>
                      <a:pPr algn="r" fontAlgn="t">
                        <a:buNone/>
                      </a:pPr>
                      <a:r>
                        <a:rPr lang="en-IN" sz="1400">
                          <a:effectLst/>
                        </a:rPr>
                        <a:t>Yield_Tonnes_Ha</a:t>
                      </a:r>
                    </a:p>
                  </a:txBody>
                  <a:tcPr marL="70572" marR="70572" marT="35286" marB="35286"/>
                </a:tc>
                <a:tc>
                  <a:txBody>
                    <a:bodyPr/>
                    <a:lstStyle/>
                    <a:p>
                      <a:pPr algn="r" fontAlgn="t">
                        <a:buNone/>
                      </a:pPr>
                      <a:r>
                        <a:rPr lang="en-IN" sz="1400">
                          <a:effectLst/>
                        </a:rPr>
                        <a:t>Production_Tonnes</a:t>
                      </a:r>
                    </a:p>
                  </a:txBody>
                  <a:tcPr marL="70572" marR="70572" marT="35286" marB="35286"/>
                </a:tc>
                <a:tc>
                  <a:txBody>
                    <a:bodyPr/>
                    <a:lstStyle/>
                    <a:p>
                      <a:pPr algn="r" fontAlgn="t">
                        <a:buNone/>
                      </a:pPr>
                      <a:r>
                        <a:rPr lang="en-IN" sz="1400">
                          <a:effectLst/>
                        </a:rPr>
                        <a:t>Revenue_INR</a:t>
                      </a:r>
                    </a:p>
                  </a:txBody>
                  <a:tcPr marL="70572" marR="70572" marT="35286" marB="35286"/>
                </a:tc>
                <a:tc>
                  <a:txBody>
                    <a:bodyPr/>
                    <a:lstStyle/>
                    <a:p>
                      <a:pPr algn="r" fontAlgn="t">
                        <a:buNone/>
                      </a:pPr>
                      <a:r>
                        <a:rPr lang="en-IN" sz="1400">
                          <a:effectLst/>
                        </a:rPr>
                        <a:t>Profit_INR</a:t>
                      </a:r>
                    </a:p>
                  </a:txBody>
                  <a:tcPr marL="70572" marR="70572" marT="35286" marB="35286"/>
                </a:tc>
                <a:tc>
                  <a:txBody>
                    <a:bodyPr/>
                    <a:lstStyle/>
                    <a:p>
                      <a:pPr algn="r" fontAlgn="t">
                        <a:buNone/>
                      </a:pPr>
                      <a:r>
                        <a:rPr lang="en-IN" sz="1400">
                          <a:effectLst/>
                        </a:rPr>
                        <a:t>Water_Efficiency_t_per_1000m3</a:t>
                      </a:r>
                    </a:p>
                  </a:txBody>
                  <a:tcPr marL="70572" marR="70572" marT="35286" marB="35286"/>
                </a:tc>
                <a:extLst>
                  <a:ext uri="{0D108BD9-81ED-4DB2-BD59-A6C34878D82A}">
                    <a16:rowId xmlns:a16="http://schemas.microsoft.com/office/drawing/2014/main" val="1744438093"/>
                  </a:ext>
                </a:extLst>
              </a:tr>
              <a:tr h="369138">
                <a:tc>
                  <a:txBody>
                    <a:bodyPr/>
                    <a:lstStyle/>
                    <a:p>
                      <a:pPr fontAlgn="t">
                        <a:buNone/>
                      </a:pPr>
                      <a:r>
                        <a:rPr lang="en-IN" sz="1400">
                          <a:effectLst/>
                        </a:rPr>
                        <a:t>State</a:t>
                      </a: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tc>
                  <a:txBody>
                    <a:bodyPr/>
                    <a:lstStyle/>
                    <a:p>
                      <a:pPr fontAlgn="t">
                        <a:buNone/>
                      </a:pPr>
                      <a:endParaRPr lang="en-IN" sz="1400">
                        <a:effectLst/>
                      </a:endParaRPr>
                    </a:p>
                  </a:txBody>
                  <a:tcPr marL="70572" marR="70572" marT="35286" marB="35286"/>
                </a:tc>
                <a:extLst>
                  <a:ext uri="{0D108BD9-81ED-4DB2-BD59-A6C34878D82A}">
                    <a16:rowId xmlns:a16="http://schemas.microsoft.com/office/drawing/2014/main" val="352591680"/>
                  </a:ext>
                </a:extLst>
              </a:tr>
              <a:tr h="369138">
                <a:tc>
                  <a:txBody>
                    <a:bodyPr/>
                    <a:lstStyle/>
                    <a:p>
                      <a:pPr fontAlgn="t">
                        <a:buNone/>
                      </a:pPr>
                      <a:r>
                        <a:rPr lang="en-IN" sz="1400">
                          <a:effectLst/>
                        </a:rPr>
                        <a:t>Punjab</a:t>
                      </a:r>
                    </a:p>
                  </a:txBody>
                  <a:tcPr marL="70572" marR="70572" marT="35286" marB="35286"/>
                </a:tc>
                <a:tc>
                  <a:txBody>
                    <a:bodyPr/>
                    <a:lstStyle/>
                    <a:p>
                      <a:pPr fontAlgn="t">
                        <a:buNone/>
                      </a:pPr>
                      <a:r>
                        <a:rPr lang="en-IN" sz="1400">
                          <a:effectLst/>
                        </a:rPr>
                        <a:t>6.12</a:t>
                      </a:r>
                    </a:p>
                  </a:txBody>
                  <a:tcPr marL="70572" marR="70572" marT="35286" marB="35286"/>
                </a:tc>
                <a:tc>
                  <a:txBody>
                    <a:bodyPr/>
                    <a:lstStyle/>
                    <a:p>
                      <a:pPr fontAlgn="t">
                        <a:buNone/>
                      </a:pPr>
                      <a:r>
                        <a:rPr lang="en-IN" sz="1400">
                          <a:effectLst/>
                        </a:rPr>
                        <a:t>52.23</a:t>
                      </a:r>
                    </a:p>
                  </a:txBody>
                  <a:tcPr marL="70572" marR="70572" marT="35286" marB="35286"/>
                </a:tc>
                <a:tc>
                  <a:txBody>
                    <a:bodyPr/>
                    <a:lstStyle/>
                    <a:p>
                      <a:pPr fontAlgn="t">
                        <a:buNone/>
                      </a:pPr>
                      <a:r>
                        <a:rPr lang="en-IN" sz="1400">
                          <a:effectLst/>
                        </a:rPr>
                        <a:t>686225.70</a:t>
                      </a:r>
                    </a:p>
                  </a:txBody>
                  <a:tcPr marL="70572" marR="70572" marT="35286" marB="35286"/>
                </a:tc>
                <a:tc>
                  <a:txBody>
                    <a:bodyPr/>
                    <a:lstStyle/>
                    <a:p>
                      <a:pPr fontAlgn="t">
                        <a:buNone/>
                      </a:pPr>
                      <a:r>
                        <a:rPr lang="en-IN" sz="1400">
                          <a:effectLst/>
                        </a:rPr>
                        <a:t>136025.64</a:t>
                      </a:r>
                    </a:p>
                  </a:txBody>
                  <a:tcPr marL="70572" marR="70572" marT="35286" marB="35286"/>
                </a:tc>
                <a:tc>
                  <a:txBody>
                    <a:bodyPr/>
                    <a:lstStyle/>
                    <a:p>
                      <a:pPr fontAlgn="t">
                        <a:buNone/>
                      </a:pPr>
                      <a:r>
                        <a:rPr lang="en-IN" sz="1400">
                          <a:effectLst/>
                        </a:rPr>
                        <a:t>5.62</a:t>
                      </a:r>
                    </a:p>
                  </a:txBody>
                  <a:tcPr marL="70572" marR="70572" marT="35286" marB="35286"/>
                </a:tc>
                <a:extLst>
                  <a:ext uri="{0D108BD9-81ED-4DB2-BD59-A6C34878D82A}">
                    <a16:rowId xmlns:a16="http://schemas.microsoft.com/office/drawing/2014/main" val="4192603770"/>
                  </a:ext>
                </a:extLst>
              </a:tr>
              <a:tr h="369138">
                <a:tc>
                  <a:txBody>
                    <a:bodyPr/>
                    <a:lstStyle/>
                    <a:p>
                      <a:pPr fontAlgn="t">
                        <a:buNone/>
                      </a:pPr>
                      <a:r>
                        <a:rPr lang="en-IN" sz="1400">
                          <a:effectLst/>
                        </a:rPr>
                        <a:t>Karnataka</a:t>
                      </a:r>
                    </a:p>
                  </a:txBody>
                  <a:tcPr marL="70572" marR="70572" marT="35286" marB="35286"/>
                </a:tc>
                <a:tc>
                  <a:txBody>
                    <a:bodyPr/>
                    <a:lstStyle/>
                    <a:p>
                      <a:pPr fontAlgn="t">
                        <a:buNone/>
                      </a:pPr>
                      <a:r>
                        <a:rPr lang="en-IN" sz="1400">
                          <a:effectLst/>
                        </a:rPr>
                        <a:t>5.69</a:t>
                      </a:r>
                    </a:p>
                  </a:txBody>
                  <a:tcPr marL="70572" marR="70572" marT="35286" marB="35286"/>
                </a:tc>
                <a:tc>
                  <a:txBody>
                    <a:bodyPr/>
                    <a:lstStyle/>
                    <a:p>
                      <a:pPr fontAlgn="t">
                        <a:buNone/>
                      </a:pPr>
                      <a:r>
                        <a:rPr lang="en-IN" sz="1400">
                          <a:effectLst/>
                        </a:rPr>
                        <a:t>47.73</a:t>
                      </a:r>
                    </a:p>
                  </a:txBody>
                  <a:tcPr marL="70572" marR="70572" marT="35286" marB="35286"/>
                </a:tc>
                <a:tc>
                  <a:txBody>
                    <a:bodyPr/>
                    <a:lstStyle/>
                    <a:p>
                      <a:pPr fontAlgn="t">
                        <a:buNone/>
                      </a:pPr>
                      <a:r>
                        <a:rPr lang="en-IN" sz="1400">
                          <a:effectLst/>
                        </a:rPr>
                        <a:t>653426.18</a:t>
                      </a:r>
                    </a:p>
                  </a:txBody>
                  <a:tcPr marL="70572" marR="70572" marT="35286" marB="35286"/>
                </a:tc>
                <a:tc>
                  <a:txBody>
                    <a:bodyPr/>
                    <a:lstStyle/>
                    <a:p>
                      <a:pPr fontAlgn="t">
                        <a:buNone/>
                      </a:pPr>
                      <a:r>
                        <a:rPr lang="en-IN" sz="1400">
                          <a:effectLst/>
                        </a:rPr>
                        <a:t>119422.34</a:t>
                      </a:r>
                    </a:p>
                  </a:txBody>
                  <a:tcPr marL="70572" marR="70572" marT="35286" marB="35286"/>
                </a:tc>
                <a:tc>
                  <a:txBody>
                    <a:bodyPr/>
                    <a:lstStyle/>
                    <a:p>
                      <a:pPr fontAlgn="t">
                        <a:buNone/>
                      </a:pPr>
                      <a:r>
                        <a:rPr lang="en-IN" sz="1400">
                          <a:effectLst/>
                        </a:rPr>
                        <a:t>5.56</a:t>
                      </a:r>
                    </a:p>
                  </a:txBody>
                  <a:tcPr marL="70572" marR="70572" marT="35286" marB="35286"/>
                </a:tc>
                <a:extLst>
                  <a:ext uri="{0D108BD9-81ED-4DB2-BD59-A6C34878D82A}">
                    <a16:rowId xmlns:a16="http://schemas.microsoft.com/office/drawing/2014/main" val="3224196941"/>
                  </a:ext>
                </a:extLst>
              </a:tr>
              <a:tr h="369138">
                <a:tc>
                  <a:txBody>
                    <a:bodyPr/>
                    <a:lstStyle/>
                    <a:p>
                      <a:pPr fontAlgn="t">
                        <a:buNone/>
                      </a:pPr>
                      <a:r>
                        <a:rPr lang="en-IN" sz="1400">
                          <a:effectLst/>
                        </a:rPr>
                        <a:t>Gujarat</a:t>
                      </a:r>
                    </a:p>
                  </a:txBody>
                  <a:tcPr marL="70572" marR="70572" marT="35286" marB="35286"/>
                </a:tc>
                <a:tc>
                  <a:txBody>
                    <a:bodyPr/>
                    <a:lstStyle/>
                    <a:p>
                      <a:pPr fontAlgn="t">
                        <a:buNone/>
                      </a:pPr>
                      <a:r>
                        <a:rPr lang="en-IN" sz="1400">
                          <a:effectLst/>
                        </a:rPr>
                        <a:t>5.66</a:t>
                      </a:r>
                    </a:p>
                  </a:txBody>
                  <a:tcPr marL="70572" marR="70572" marT="35286" marB="35286"/>
                </a:tc>
                <a:tc>
                  <a:txBody>
                    <a:bodyPr/>
                    <a:lstStyle/>
                    <a:p>
                      <a:pPr fontAlgn="t">
                        <a:buNone/>
                      </a:pPr>
                      <a:r>
                        <a:rPr lang="en-IN" sz="1400">
                          <a:effectLst/>
                        </a:rPr>
                        <a:t>48.33</a:t>
                      </a:r>
                    </a:p>
                  </a:txBody>
                  <a:tcPr marL="70572" marR="70572" marT="35286" marB="35286"/>
                </a:tc>
                <a:tc>
                  <a:txBody>
                    <a:bodyPr/>
                    <a:lstStyle/>
                    <a:p>
                      <a:pPr fontAlgn="t">
                        <a:buNone/>
                      </a:pPr>
                      <a:r>
                        <a:rPr lang="en-IN" sz="1400">
                          <a:effectLst/>
                        </a:rPr>
                        <a:t>654692.86</a:t>
                      </a:r>
                    </a:p>
                  </a:txBody>
                  <a:tcPr marL="70572" marR="70572" marT="35286" marB="35286"/>
                </a:tc>
                <a:tc>
                  <a:txBody>
                    <a:bodyPr/>
                    <a:lstStyle/>
                    <a:p>
                      <a:pPr fontAlgn="t">
                        <a:buNone/>
                      </a:pPr>
                      <a:r>
                        <a:rPr lang="en-IN" sz="1400">
                          <a:effectLst/>
                        </a:rPr>
                        <a:t>117568.24</a:t>
                      </a:r>
                    </a:p>
                  </a:txBody>
                  <a:tcPr marL="70572" marR="70572" marT="35286" marB="35286"/>
                </a:tc>
                <a:tc>
                  <a:txBody>
                    <a:bodyPr/>
                    <a:lstStyle/>
                    <a:p>
                      <a:pPr fontAlgn="t">
                        <a:buNone/>
                      </a:pPr>
                      <a:r>
                        <a:rPr lang="en-IN" sz="1400">
                          <a:effectLst/>
                        </a:rPr>
                        <a:t>5.58</a:t>
                      </a:r>
                    </a:p>
                  </a:txBody>
                  <a:tcPr marL="70572" marR="70572" marT="35286" marB="35286"/>
                </a:tc>
                <a:extLst>
                  <a:ext uri="{0D108BD9-81ED-4DB2-BD59-A6C34878D82A}">
                    <a16:rowId xmlns:a16="http://schemas.microsoft.com/office/drawing/2014/main" val="3720251495"/>
                  </a:ext>
                </a:extLst>
              </a:tr>
              <a:tr h="369138">
                <a:tc>
                  <a:txBody>
                    <a:bodyPr/>
                    <a:lstStyle/>
                    <a:p>
                      <a:pPr fontAlgn="t">
                        <a:buNone/>
                      </a:pPr>
                      <a:r>
                        <a:rPr lang="en-IN" sz="1400">
                          <a:effectLst/>
                        </a:rPr>
                        <a:t>Telangana</a:t>
                      </a:r>
                    </a:p>
                  </a:txBody>
                  <a:tcPr marL="70572" marR="70572" marT="35286" marB="35286"/>
                </a:tc>
                <a:tc>
                  <a:txBody>
                    <a:bodyPr/>
                    <a:lstStyle/>
                    <a:p>
                      <a:pPr fontAlgn="t">
                        <a:buNone/>
                      </a:pPr>
                      <a:r>
                        <a:rPr lang="en-IN" sz="1400">
                          <a:effectLst/>
                        </a:rPr>
                        <a:t>5.04</a:t>
                      </a:r>
                    </a:p>
                  </a:txBody>
                  <a:tcPr marL="70572" marR="70572" marT="35286" marB="35286"/>
                </a:tc>
                <a:tc>
                  <a:txBody>
                    <a:bodyPr/>
                    <a:lstStyle/>
                    <a:p>
                      <a:pPr fontAlgn="t">
                        <a:buNone/>
                      </a:pPr>
                      <a:r>
                        <a:rPr lang="en-IN" sz="1400">
                          <a:effectLst/>
                        </a:rPr>
                        <a:t>39.25</a:t>
                      </a:r>
                    </a:p>
                  </a:txBody>
                  <a:tcPr marL="70572" marR="70572" marT="35286" marB="35286"/>
                </a:tc>
                <a:tc>
                  <a:txBody>
                    <a:bodyPr/>
                    <a:lstStyle/>
                    <a:p>
                      <a:pPr fontAlgn="t">
                        <a:buNone/>
                      </a:pPr>
                      <a:r>
                        <a:rPr lang="en-IN" sz="1400">
                          <a:effectLst/>
                        </a:rPr>
                        <a:t>628784.53</a:t>
                      </a:r>
                    </a:p>
                  </a:txBody>
                  <a:tcPr marL="70572" marR="70572" marT="35286" marB="35286"/>
                </a:tc>
                <a:tc>
                  <a:txBody>
                    <a:bodyPr/>
                    <a:lstStyle/>
                    <a:p>
                      <a:pPr fontAlgn="t">
                        <a:buNone/>
                      </a:pPr>
                      <a:r>
                        <a:rPr lang="en-IN" sz="1400">
                          <a:effectLst/>
                        </a:rPr>
                        <a:t>108829.62</a:t>
                      </a:r>
                    </a:p>
                  </a:txBody>
                  <a:tcPr marL="70572" marR="70572" marT="35286" marB="35286"/>
                </a:tc>
                <a:tc>
                  <a:txBody>
                    <a:bodyPr/>
                    <a:lstStyle/>
                    <a:p>
                      <a:pPr fontAlgn="t">
                        <a:buNone/>
                      </a:pPr>
                      <a:r>
                        <a:rPr lang="en-IN" sz="1400">
                          <a:effectLst/>
                        </a:rPr>
                        <a:t>5.46</a:t>
                      </a:r>
                    </a:p>
                  </a:txBody>
                  <a:tcPr marL="70572" marR="70572" marT="35286" marB="35286"/>
                </a:tc>
                <a:extLst>
                  <a:ext uri="{0D108BD9-81ED-4DB2-BD59-A6C34878D82A}">
                    <a16:rowId xmlns:a16="http://schemas.microsoft.com/office/drawing/2014/main" val="1010654397"/>
                  </a:ext>
                </a:extLst>
              </a:tr>
              <a:tr h="646525">
                <a:tc>
                  <a:txBody>
                    <a:bodyPr/>
                    <a:lstStyle/>
                    <a:p>
                      <a:pPr fontAlgn="t">
                        <a:buNone/>
                      </a:pPr>
                      <a:r>
                        <a:rPr lang="en-IN" sz="1400">
                          <a:effectLst/>
                        </a:rPr>
                        <a:t>Maharashtra</a:t>
                      </a:r>
                    </a:p>
                  </a:txBody>
                  <a:tcPr marL="70572" marR="70572" marT="35286" marB="35286"/>
                </a:tc>
                <a:tc>
                  <a:txBody>
                    <a:bodyPr/>
                    <a:lstStyle/>
                    <a:p>
                      <a:pPr fontAlgn="t">
                        <a:buNone/>
                      </a:pPr>
                      <a:r>
                        <a:rPr lang="en-IN" sz="1400">
                          <a:effectLst/>
                        </a:rPr>
                        <a:t>5.02</a:t>
                      </a:r>
                    </a:p>
                  </a:txBody>
                  <a:tcPr marL="70572" marR="70572" marT="35286" marB="35286"/>
                </a:tc>
                <a:tc>
                  <a:txBody>
                    <a:bodyPr/>
                    <a:lstStyle/>
                    <a:p>
                      <a:pPr fontAlgn="t">
                        <a:buNone/>
                      </a:pPr>
                      <a:r>
                        <a:rPr lang="en-IN" sz="1400">
                          <a:effectLst/>
                        </a:rPr>
                        <a:t>43.98</a:t>
                      </a:r>
                    </a:p>
                  </a:txBody>
                  <a:tcPr marL="70572" marR="70572" marT="35286" marB="35286"/>
                </a:tc>
                <a:tc>
                  <a:txBody>
                    <a:bodyPr/>
                    <a:lstStyle/>
                    <a:p>
                      <a:pPr fontAlgn="t">
                        <a:buNone/>
                      </a:pPr>
                      <a:r>
                        <a:rPr lang="en-IN" sz="1400">
                          <a:effectLst/>
                        </a:rPr>
                        <a:t>650032.67</a:t>
                      </a:r>
                    </a:p>
                  </a:txBody>
                  <a:tcPr marL="70572" marR="70572" marT="35286" marB="35286"/>
                </a:tc>
                <a:tc>
                  <a:txBody>
                    <a:bodyPr/>
                    <a:lstStyle/>
                    <a:p>
                      <a:pPr fontAlgn="t">
                        <a:buNone/>
                      </a:pPr>
                      <a:r>
                        <a:rPr lang="en-IN" sz="1400">
                          <a:effectLst/>
                        </a:rPr>
                        <a:t>135428.86</a:t>
                      </a:r>
                    </a:p>
                  </a:txBody>
                  <a:tcPr marL="70572" marR="70572" marT="35286" marB="35286"/>
                </a:tc>
                <a:tc>
                  <a:txBody>
                    <a:bodyPr/>
                    <a:lstStyle/>
                    <a:p>
                      <a:pPr fontAlgn="t">
                        <a:buNone/>
                      </a:pPr>
                      <a:r>
                        <a:rPr lang="en-IN" sz="1400">
                          <a:effectLst/>
                        </a:rPr>
                        <a:t>5.28</a:t>
                      </a:r>
                    </a:p>
                  </a:txBody>
                  <a:tcPr marL="70572" marR="70572" marT="35286" marB="35286"/>
                </a:tc>
                <a:extLst>
                  <a:ext uri="{0D108BD9-81ED-4DB2-BD59-A6C34878D82A}">
                    <a16:rowId xmlns:a16="http://schemas.microsoft.com/office/drawing/2014/main" val="1638941830"/>
                  </a:ext>
                </a:extLst>
              </a:tr>
              <a:tr h="646525">
                <a:tc>
                  <a:txBody>
                    <a:bodyPr/>
                    <a:lstStyle/>
                    <a:p>
                      <a:pPr fontAlgn="t">
                        <a:buNone/>
                      </a:pPr>
                      <a:r>
                        <a:rPr lang="en-IN" sz="1400">
                          <a:effectLst/>
                        </a:rPr>
                        <a:t>Madhya Pradesh</a:t>
                      </a:r>
                    </a:p>
                  </a:txBody>
                  <a:tcPr marL="70572" marR="70572" marT="35286" marB="35286"/>
                </a:tc>
                <a:tc>
                  <a:txBody>
                    <a:bodyPr/>
                    <a:lstStyle/>
                    <a:p>
                      <a:pPr fontAlgn="t">
                        <a:buNone/>
                      </a:pPr>
                      <a:r>
                        <a:rPr lang="en-IN" sz="1400">
                          <a:effectLst/>
                        </a:rPr>
                        <a:t>4.99</a:t>
                      </a:r>
                    </a:p>
                  </a:txBody>
                  <a:tcPr marL="70572" marR="70572" marT="35286" marB="35286"/>
                </a:tc>
                <a:tc>
                  <a:txBody>
                    <a:bodyPr/>
                    <a:lstStyle/>
                    <a:p>
                      <a:pPr fontAlgn="t">
                        <a:buNone/>
                      </a:pPr>
                      <a:r>
                        <a:rPr lang="en-IN" sz="1400">
                          <a:effectLst/>
                        </a:rPr>
                        <a:t>37.56</a:t>
                      </a:r>
                    </a:p>
                  </a:txBody>
                  <a:tcPr marL="70572" marR="70572" marT="35286" marB="35286"/>
                </a:tc>
                <a:tc>
                  <a:txBody>
                    <a:bodyPr/>
                    <a:lstStyle/>
                    <a:p>
                      <a:pPr fontAlgn="t">
                        <a:buNone/>
                      </a:pPr>
                      <a:r>
                        <a:rPr lang="en-IN" sz="1400">
                          <a:effectLst/>
                        </a:rPr>
                        <a:t>597558.36</a:t>
                      </a:r>
                    </a:p>
                  </a:txBody>
                  <a:tcPr marL="70572" marR="70572" marT="35286" marB="35286"/>
                </a:tc>
                <a:tc>
                  <a:txBody>
                    <a:bodyPr/>
                    <a:lstStyle/>
                    <a:p>
                      <a:pPr fontAlgn="t">
                        <a:buNone/>
                      </a:pPr>
                      <a:r>
                        <a:rPr lang="en-IN" sz="1400">
                          <a:effectLst/>
                        </a:rPr>
                        <a:t>86840.76</a:t>
                      </a:r>
                    </a:p>
                  </a:txBody>
                  <a:tcPr marL="70572" marR="70572" marT="35286" marB="35286"/>
                </a:tc>
                <a:tc>
                  <a:txBody>
                    <a:bodyPr/>
                    <a:lstStyle/>
                    <a:p>
                      <a:pPr fontAlgn="t">
                        <a:buNone/>
                      </a:pPr>
                      <a:r>
                        <a:rPr lang="en-IN" sz="1400">
                          <a:effectLst/>
                        </a:rPr>
                        <a:t>5.27</a:t>
                      </a:r>
                    </a:p>
                  </a:txBody>
                  <a:tcPr marL="70572" marR="70572" marT="35286" marB="35286"/>
                </a:tc>
                <a:extLst>
                  <a:ext uri="{0D108BD9-81ED-4DB2-BD59-A6C34878D82A}">
                    <a16:rowId xmlns:a16="http://schemas.microsoft.com/office/drawing/2014/main" val="1381133038"/>
                  </a:ext>
                </a:extLst>
              </a:tr>
              <a:tr h="369138">
                <a:tc>
                  <a:txBody>
                    <a:bodyPr/>
                    <a:lstStyle/>
                    <a:p>
                      <a:pPr fontAlgn="t">
                        <a:buNone/>
                      </a:pPr>
                      <a:r>
                        <a:rPr lang="en-IN" sz="1400">
                          <a:effectLst/>
                        </a:rPr>
                        <a:t>Tamil Nadu</a:t>
                      </a:r>
                    </a:p>
                  </a:txBody>
                  <a:tcPr marL="70572" marR="70572" marT="35286" marB="35286"/>
                </a:tc>
                <a:tc>
                  <a:txBody>
                    <a:bodyPr/>
                    <a:lstStyle/>
                    <a:p>
                      <a:pPr fontAlgn="t">
                        <a:buNone/>
                      </a:pPr>
                      <a:r>
                        <a:rPr lang="en-IN" sz="1400">
                          <a:effectLst/>
                        </a:rPr>
                        <a:t>4.88</a:t>
                      </a:r>
                    </a:p>
                  </a:txBody>
                  <a:tcPr marL="70572" marR="70572" marT="35286" marB="35286"/>
                </a:tc>
                <a:tc>
                  <a:txBody>
                    <a:bodyPr/>
                    <a:lstStyle/>
                    <a:p>
                      <a:pPr fontAlgn="t">
                        <a:buNone/>
                      </a:pPr>
                      <a:r>
                        <a:rPr lang="en-IN" sz="1400">
                          <a:effectLst/>
                        </a:rPr>
                        <a:t>40.84</a:t>
                      </a:r>
                    </a:p>
                  </a:txBody>
                  <a:tcPr marL="70572" marR="70572" marT="35286" marB="35286"/>
                </a:tc>
                <a:tc>
                  <a:txBody>
                    <a:bodyPr/>
                    <a:lstStyle/>
                    <a:p>
                      <a:pPr fontAlgn="t">
                        <a:buNone/>
                      </a:pPr>
                      <a:r>
                        <a:rPr lang="en-IN" sz="1400">
                          <a:effectLst/>
                        </a:rPr>
                        <a:t>629093.42</a:t>
                      </a:r>
                    </a:p>
                  </a:txBody>
                  <a:tcPr marL="70572" marR="70572" marT="35286" marB="35286"/>
                </a:tc>
                <a:tc>
                  <a:txBody>
                    <a:bodyPr/>
                    <a:lstStyle/>
                    <a:p>
                      <a:pPr fontAlgn="t">
                        <a:buNone/>
                      </a:pPr>
                      <a:r>
                        <a:rPr lang="en-IN" sz="1400">
                          <a:effectLst/>
                        </a:rPr>
                        <a:t>117744.75</a:t>
                      </a:r>
                    </a:p>
                  </a:txBody>
                  <a:tcPr marL="70572" marR="70572" marT="35286" marB="35286"/>
                </a:tc>
                <a:tc>
                  <a:txBody>
                    <a:bodyPr/>
                    <a:lstStyle/>
                    <a:p>
                      <a:pPr fontAlgn="t">
                        <a:buNone/>
                      </a:pPr>
                      <a:r>
                        <a:rPr lang="en-IN" sz="1400">
                          <a:effectLst/>
                        </a:rPr>
                        <a:t>5.31</a:t>
                      </a:r>
                    </a:p>
                  </a:txBody>
                  <a:tcPr marL="70572" marR="70572" marT="35286" marB="35286"/>
                </a:tc>
                <a:extLst>
                  <a:ext uri="{0D108BD9-81ED-4DB2-BD59-A6C34878D82A}">
                    <a16:rowId xmlns:a16="http://schemas.microsoft.com/office/drawing/2014/main" val="37328153"/>
                  </a:ext>
                </a:extLst>
              </a:tr>
              <a:tr h="646525">
                <a:tc>
                  <a:txBody>
                    <a:bodyPr/>
                    <a:lstStyle/>
                    <a:p>
                      <a:pPr fontAlgn="t">
                        <a:buNone/>
                      </a:pPr>
                      <a:r>
                        <a:rPr lang="en-IN" sz="1400">
                          <a:effectLst/>
                        </a:rPr>
                        <a:t>Andhra Pradesh</a:t>
                      </a:r>
                    </a:p>
                  </a:txBody>
                  <a:tcPr marL="70572" marR="70572" marT="35286" marB="35286"/>
                </a:tc>
                <a:tc>
                  <a:txBody>
                    <a:bodyPr/>
                    <a:lstStyle/>
                    <a:p>
                      <a:pPr fontAlgn="t">
                        <a:buNone/>
                      </a:pPr>
                      <a:r>
                        <a:rPr lang="en-IN" sz="1400">
                          <a:effectLst/>
                        </a:rPr>
                        <a:t>4.63</a:t>
                      </a:r>
                    </a:p>
                  </a:txBody>
                  <a:tcPr marL="70572" marR="70572" marT="35286" marB="35286"/>
                </a:tc>
                <a:tc>
                  <a:txBody>
                    <a:bodyPr/>
                    <a:lstStyle/>
                    <a:p>
                      <a:pPr fontAlgn="t">
                        <a:buNone/>
                      </a:pPr>
                      <a:r>
                        <a:rPr lang="en-IN" sz="1400">
                          <a:effectLst/>
                        </a:rPr>
                        <a:t>36.91</a:t>
                      </a:r>
                    </a:p>
                  </a:txBody>
                  <a:tcPr marL="70572" marR="70572" marT="35286" marB="35286"/>
                </a:tc>
                <a:tc>
                  <a:txBody>
                    <a:bodyPr/>
                    <a:lstStyle/>
                    <a:p>
                      <a:pPr fontAlgn="t">
                        <a:buNone/>
                      </a:pPr>
                      <a:r>
                        <a:rPr lang="en-IN" sz="1400">
                          <a:effectLst/>
                        </a:rPr>
                        <a:t>606663.66</a:t>
                      </a:r>
                    </a:p>
                  </a:txBody>
                  <a:tcPr marL="70572" marR="70572" marT="35286" marB="35286"/>
                </a:tc>
                <a:tc>
                  <a:txBody>
                    <a:bodyPr/>
                    <a:lstStyle/>
                    <a:p>
                      <a:pPr fontAlgn="t">
                        <a:buNone/>
                      </a:pPr>
                      <a:r>
                        <a:rPr lang="en-IN" sz="1400">
                          <a:effectLst/>
                        </a:rPr>
                        <a:t>73453.53</a:t>
                      </a:r>
                    </a:p>
                  </a:txBody>
                  <a:tcPr marL="70572" marR="70572" marT="35286" marB="35286"/>
                </a:tc>
                <a:tc>
                  <a:txBody>
                    <a:bodyPr/>
                    <a:lstStyle/>
                    <a:p>
                      <a:pPr fontAlgn="t">
                        <a:buNone/>
                      </a:pPr>
                      <a:r>
                        <a:rPr lang="en-IN" sz="1400" dirty="0">
                          <a:effectLst/>
                        </a:rPr>
                        <a:t>5.03</a:t>
                      </a:r>
                    </a:p>
                  </a:txBody>
                  <a:tcPr marL="70572" marR="70572" marT="35286" marB="35286"/>
                </a:tc>
                <a:extLst>
                  <a:ext uri="{0D108BD9-81ED-4DB2-BD59-A6C34878D82A}">
                    <a16:rowId xmlns:a16="http://schemas.microsoft.com/office/drawing/2014/main" val="361067959"/>
                  </a:ext>
                </a:extLst>
              </a:tr>
            </a:tbl>
          </a:graphicData>
        </a:graphic>
      </p:graphicFrame>
    </p:spTree>
    <p:extLst>
      <p:ext uri="{BB962C8B-B14F-4D97-AF65-F5344CB8AC3E}">
        <p14:creationId xmlns:p14="http://schemas.microsoft.com/office/powerpoint/2010/main" val="118341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1684B6-2B4A-9D27-71EF-F32DDACFF385}"/>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
        <p:nvSpPr>
          <p:cNvPr id="3" name="TextBox 2">
            <a:extLst>
              <a:ext uri="{FF2B5EF4-FFF2-40B4-BE49-F238E27FC236}">
                <a16:creationId xmlns:a16="http://schemas.microsoft.com/office/drawing/2014/main" id="{F3300BE9-E2D6-6BC5-B56A-258942FB8C54}"/>
              </a:ext>
            </a:extLst>
          </p:cNvPr>
          <p:cNvSpPr txBox="1"/>
          <p:nvPr/>
        </p:nvSpPr>
        <p:spPr>
          <a:xfrm>
            <a:off x="559837" y="839755"/>
            <a:ext cx="4015843" cy="2862322"/>
          </a:xfrm>
          <a:prstGeom prst="rect">
            <a:avLst/>
          </a:prstGeom>
          <a:noFill/>
        </p:spPr>
        <p:txBody>
          <a:bodyPr wrap="none" rtlCol="0">
            <a:spAutoFit/>
          </a:bodyPr>
          <a:lstStyle/>
          <a:p>
            <a:r>
              <a:rPr lang="en-IN" dirty="0" err="1"/>
              <a:t>state_season</a:t>
            </a:r>
            <a:r>
              <a:rPr lang="en-IN" dirty="0"/>
              <a:t> = </a:t>
            </a:r>
            <a:r>
              <a:rPr lang="en-IN" dirty="0" err="1"/>
              <a:t>df_clean.pivot_table</a:t>
            </a:r>
            <a:r>
              <a:rPr lang="en-IN" dirty="0"/>
              <a:t>(</a:t>
            </a:r>
          </a:p>
          <a:p>
            <a:r>
              <a:rPr lang="en-IN" dirty="0"/>
              <a:t>    index='State',</a:t>
            </a:r>
          </a:p>
          <a:p>
            <a:r>
              <a:rPr lang="en-IN" dirty="0"/>
              <a:t>    columns='Season',</a:t>
            </a:r>
          </a:p>
          <a:p>
            <a:r>
              <a:rPr lang="en-IN" dirty="0"/>
              <a:t>    values='</a:t>
            </a:r>
            <a:r>
              <a:rPr lang="en-IN" dirty="0" err="1"/>
              <a:t>Yield_Tonnes_Ha</a:t>
            </a:r>
            <a:r>
              <a:rPr lang="en-IN" dirty="0"/>
              <a:t>',</a:t>
            </a:r>
          </a:p>
          <a:p>
            <a:r>
              <a:rPr lang="en-IN" dirty="0"/>
              <a:t>    </a:t>
            </a:r>
            <a:r>
              <a:rPr lang="en-IN" dirty="0" err="1"/>
              <a:t>aggfunc</a:t>
            </a:r>
            <a:r>
              <a:rPr lang="en-IN" dirty="0"/>
              <a:t>='mean'</a:t>
            </a:r>
          </a:p>
          <a:p>
            <a:r>
              <a:rPr lang="en-IN" dirty="0"/>
              <a:t>)</a:t>
            </a:r>
          </a:p>
          <a:p>
            <a:br>
              <a:rPr lang="en-IN" dirty="0"/>
            </a:br>
            <a:endParaRPr lang="en-IN" dirty="0"/>
          </a:p>
          <a:p>
            <a:r>
              <a:rPr lang="en-IN" dirty="0"/>
              <a:t>display(</a:t>
            </a:r>
            <a:r>
              <a:rPr lang="en-IN" dirty="0" err="1"/>
              <a:t>state_season</a:t>
            </a:r>
            <a:r>
              <a:rPr lang="en-IN" dirty="0"/>
              <a:t>)</a:t>
            </a:r>
          </a:p>
          <a:p>
            <a:endParaRPr lang="en-IN" dirty="0"/>
          </a:p>
        </p:txBody>
      </p:sp>
      <p:graphicFrame>
        <p:nvGraphicFramePr>
          <p:cNvPr id="5" name="Table 4">
            <a:extLst>
              <a:ext uri="{FF2B5EF4-FFF2-40B4-BE49-F238E27FC236}">
                <a16:creationId xmlns:a16="http://schemas.microsoft.com/office/drawing/2014/main" id="{0EBFFCCF-C830-922C-8842-01754C71E453}"/>
              </a:ext>
            </a:extLst>
          </p:cNvPr>
          <p:cNvGraphicFramePr>
            <a:graphicFrameLocks noGrp="1"/>
          </p:cNvGraphicFramePr>
          <p:nvPr>
            <p:extLst>
              <p:ext uri="{D42A27DB-BD31-4B8C-83A1-F6EECF244321}">
                <p14:modId xmlns:p14="http://schemas.microsoft.com/office/powerpoint/2010/main" val="1380871351"/>
              </p:ext>
            </p:extLst>
          </p:nvPr>
        </p:nvGraphicFramePr>
        <p:xfrm>
          <a:off x="4665305" y="2272506"/>
          <a:ext cx="6652728" cy="4206240"/>
        </p:xfrm>
        <a:graphic>
          <a:graphicData uri="http://schemas.openxmlformats.org/drawingml/2006/table">
            <a:tbl>
              <a:tblPr>
                <a:tableStyleId>{6E25E649-3F16-4E02-A733-19D2CDBF48F0}</a:tableStyleId>
              </a:tblPr>
              <a:tblGrid>
                <a:gridCol w="1663182">
                  <a:extLst>
                    <a:ext uri="{9D8B030D-6E8A-4147-A177-3AD203B41FA5}">
                      <a16:colId xmlns:a16="http://schemas.microsoft.com/office/drawing/2014/main" val="128637129"/>
                    </a:ext>
                  </a:extLst>
                </a:gridCol>
                <a:gridCol w="1663182">
                  <a:extLst>
                    <a:ext uri="{9D8B030D-6E8A-4147-A177-3AD203B41FA5}">
                      <a16:colId xmlns:a16="http://schemas.microsoft.com/office/drawing/2014/main" val="232150464"/>
                    </a:ext>
                  </a:extLst>
                </a:gridCol>
                <a:gridCol w="1663182">
                  <a:extLst>
                    <a:ext uri="{9D8B030D-6E8A-4147-A177-3AD203B41FA5}">
                      <a16:colId xmlns:a16="http://schemas.microsoft.com/office/drawing/2014/main" val="1160332498"/>
                    </a:ext>
                  </a:extLst>
                </a:gridCol>
                <a:gridCol w="1663182">
                  <a:extLst>
                    <a:ext uri="{9D8B030D-6E8A-4147-A177-3AD203B41FA5}">
                      <a16:colId xmlns:a16="http://schemas.microsoft.com/office/drawing/2014/main" val="39766781"/>
                    </a:ext>
                  </a:extLst>
                </a:gridCol>
              </a:tblGrid>
              <a:tr h="0">
                <a:tc>
                  <a:txBody>
                    <a:bodyPr/>
                    <a:lstStyle/>
                    <a:p>
                      <a:pPr algn="r" fontAlgn="t">
                        <a:buNone/>
                      </a:pPr>
                      <a:r>
                        <a:rPr lang="en-IN">
                          <a:effectLst/>
                        </a:rPr>
                        <a:t>Season</a:t>
                      </a:r>
                    </a:p>
                  </a:txBody>
                  <a:tcPr/>
                </a:tc>
                <a:tc>
                  <a:txBody>
                    <a:bodyPr/>
                    <a:lstStyle/>
                    <a:p>
                      <a:pPr algn="r" fontAlgn="t">
                        <a:buNone/>
                      </a:pPr>
                      <a:r>
                        <a:rPr lang="en-IN">
                          <a:effectLst/>
                        </a:rPr>
                        <a:t>Kharif</a:t>
                      </a:r>
                    </a:p>
                  </a:txBody>
                  <a:tcPr/>
                </a:tc>
                <a:tc>
                  <a:txBody>
                    <a:bodyPr/>
                    <a:lstStyle/>
                    <a:p>
                      <a:pPr algn="r" fontAlgn="t">
                        <a:buNone/>
                      </a:pPr>
                      <a:r>
                        <a:rPr lang="en-IN">
                          <a:effectLst/>
                        </a:rPr>
                        <a:t>Rabi</a:t>
                      </a:r>
                    </a:p>
                  </a:txBody>
                  <a:tcPr/>
                </a:tc>
                <a:tc>
                  <a:txBody>
                    <a:bodyPr/>
                    <a:lstStyle/>
                    <a:p>
                      <a:pPr algn="r" fontAlgn="t">
                        <a:buNone/>
                      </a:pPr>
                      <a:r>
                        <a:rPr lang="en-IN">
                          <a:effectLst/>
                        </a:rPr>
                        <a:t>Zaid</a:t>
                      </a:r>
                    </a:p>
                  </a:txBody>
                  <a:tcPr/>
                </a:tc>
                <a:extLst>
                  <a:ext uri="{0D108BD9-81ED-4DB2-BD59-A6C34878D82A}">
                    <a16:rowId xmlns:a16="http://schemas.microsoft.com/office/drawing/2014/main" val="1070948980"/>
                  </a:ext>
                </a:extLst>
              </a:tr>
              <a:tr h="0">
                <a:tc>
                  <a:txBody>
                    <a:bodyPr/>
                    <a:lstStyle/>
                    <a:p>
                      <a:pPr fontAlgn="t">
                        <a:buNone/>
                      </a:pPr>
                      <a:r>
                        <a:rPr lang="en-IN">
                          <a:effectLst/>
                        </a:rPr>
                        <a:t>State</a:t>
                      </a:r>
                    </a:p>
                  </a:txBody>
                  <a:tcPr/>
                </a:tc>
                <a:tc>
                  <a:txBody>
                    <a:bodyPr/>
                    <a:lstStyle/>
                    <a:p>
                      <a:pPr fontAlgn="t">
                        <a:buNone/>
                      </a:pPr>
                      <a:endParaRPr lang="en-IN">
                        <a:effectLst/>
                      </a:endParaRPr>
                    </a:p>
                  </a:txBody>
                  <a:tcPr/>
                </a:tc>
                <a:tc>
                  <a:txBody>
                    <a:bodyPr/>
                    <a:lstStyle/>
                    <a:p>
                      <a:pPr fontAlgn="t">
                        <a:buNone/>
                      </a:pPr>
                      <a:endParaRPr lang="en-IN">
                        <a:effectLst/>
                      </a:endParaRPr>
                    </a:p>
                  </a:txBody>
                  <a:tcPr/>
                </a:tc>
                <a:tc>
                  <a:txBody>
                    <a:bodyPr/>
                    <a:lstStyle/>
                    <a:p>
                      <a:pPr fontAlgn="t">
                        <a:buNone/>
                      </a:pPr>
                      <a:endParaRPr lang="en-IN">
                        <a:effectLst/>
                      </a:endParaRPr>
                    </a:p>
                  </a:txBody>
                  <a:tcPr/>
                </a:tc>
                <a:extLst>
                  <a:ext uri="{0D108BD9-81ED-4DB2-BD59-A6C34878D82A}">
                    <a16:rowId xmlns:a16="http://schemas.microsoft.com/office/drawing/2014/main" val="1413089794"/>
                  </a:ext>
                </a:extLst>
              </a:tr>
              <a:tr h="0">
                <a:tc>
                  <a:txBody>
                    <a:bodyPr/>
                    <a:lstStyle/>
                    <a:p>
                      <a:pPr fontAlgn="t">
                        <a:buNone/>
                      </a:pPr>
                      <a:r>
                        <a:rPr lang="en-IN">
                          <a:effectLst/>
                        </a:rPr>
                        <a:t>Andhra Pradesh</a:t>
                      </a:r>
                    </a:p>
                  </a:txBody>
                  <a:tcPr/>
                </a:tc>
                <a:tc>
                  <a:txBody>
                    <a:bodyPr/>
                    <a:lstStyle/>
                    <a:p>
                      <a:pPr fontAlgn="t">
                        <a:buNone/>
                      </a:pPr>
                      <a:r>
                        <a:rPr lang="en-IN">
                          <a:effectLst/>
                        </a:rPr>
                        <a:t>5.676958</a:t>
                      </a:r>
                    </a:p>
                  </a:txBody>
                  <a:tcPr/>
                </a:tc>
                <a:tc>
                  <a:txBody>
                    <a:bodyPr/>
                    <a:lstStyle/>
                    <a:p>
                      <a:pPr fontAlgn="t">
                        <a:buNone/>
                      </a:pPr>
                      <a:r>
                        <a:rPr lang="en-IN">
                          <a:effectLst/>
                        </a:rPr>
                        <a:t>3.470931</a:t>
                      </a:r>
                    </a:p>
                  </a:txBody>
                  <a:tcPr/>
                </a:tc>
                <a:tc>
                  <a:txBody>
                    <a:bodyPr/>
                    <a:lstStyle/>
                    <a:p>
                      <a:pPr fontAlgn="t">
                        <a:buNone/>
                      </a:pPr>
                      <a:r>
                        <a:rPr lang="en-IN">
                          <a:effectLst/>
                        </a:rPr>
                        <a:t>4.448000</a:t>
                      </a:r>
                    </a:p>
                  </a:txBody>
                  <a:tcPr/>
                </a:tc>
                <a:extLst>
                  <a:ext uri="{0D108BD9-81ED-4DB2-BD59-A6C34878D82A}">
                    <a16:rowId xmlns:a16="http://schemas.microsoft.com/office/drawing/2014/main" val="303217414"/>
                  </a:ext>
                </a:extLst>
              </a:tr>
              <a:tr h="0">
                <a:tc>
                  <a:txBody>
                    <a:bodyPr/>
                    <a:lstStyle/>
                    <a:p>
                      <a:pPr fontAlgn="t">
                        <a:buNone/>
                      </a:pPr>
                      <a:r>
                        <a:rPr lang="en-IN">
                          <a:effectLst/>
                        </a:rPr>
                        <a:t>Gujarat</a:t>
                      </a:r>
                    </a:p>
                  </a:txBody>
                  <a:tcPr/>
                </a:tc>
                <a:tc>
                  <a:txBody>
                    <a:bodyPr/>
                    <a:lstStyle/>
                    <a:p>
                      <a:pPr fontAlgn="t">
                        <a:buNone/>
                      </a:pPr>
                      <a:r>
                        <a:rPr lang="en-IN">
                          <a:effectLst/>
                        </a:rPr>
                        <a:t>6.338416</a:t>
                      </a:r>
                    </a:p>
                  </a:txBody>
                  <a:tcPr/>
                </a:tc>
                <a:tc>
                  <a:txBody>
                    <a:bodyPr/>
                    <a:lstStyle/>
                    <a:p>
                      <a:pPr fontAlgn="t">
                        <a:buNone/>
                      </a:pPr>
                      <a:r>
                        <a:rPr lang="en-IN">
                          <a:effectLst/>
                        </a:rPr>
                        <a:t>5.441700</a:t>
                      </a:r>
                    </a:p>
                  </a:txBody>
                  <a:tcPr/>
                </a:tc>
                <a:tc>
                  <a:txBody>
                    <a:bodyPr/>
                    <a:lstStyle/>
                    <a:p>
                      <a:pPr fontAlgn="t">
                        <a:buNone/>
                      </a:pPr>
                      <a:r>
                        <a:rPr lang="en-IN">
                          <a:effectLst/>
                        </a:rPr>
                        <a:t>4.066716</a:t>
                      </a:r>
                    </a:p>
                  </a:txBody>
                  <a:tcPr/>
                </a:tc>
                <a:extLst>
                  <a:ext uri="{0D108BD9-81ED-4DB2-BD59-A6C34878D82A}">
                    <a16:rowId xmlns:a16="http://schemas.microsoft.com/office/drawing/2014/main" val="3012165791"/>
                  </a:ext>
                </a:extLst>
              </a:tr>
              <a:tr h="0">
                <a:tc>
                  <a:txBody>
                    <a:bodyPr/>
                    <a:lstStyle/>
                    <a:p>
                      <a:pPr fontAlgn="t">
                        <a:buNone/>
                      </a:pPr>
                      <a:r>
                        <a:rPr lang="en-IN">
                          <a:effectLst/>
                        </a:rPr>
                        <a:t>Karnataka</a:t>
                      </a:r>
                    </a:p>
                  </a:txBody>
                  <a:tcPr/>
                </a:tc>
                <a:tc>
                  <a:txBody>
                    <a:bodyPr/>
                    <a:lstStyle/>
                    <a:p>
                      <a:pPr fontAlgn="t">
                        <a:buNone/>
                      </a:pPr>
                      <a:r>
                        <a:rPr lang="en-IN">
                          <a:effectLst/>
                        </a:rPr>
                        <a:t>6.455024</a:t>
                      </a:r>
                    </a:p>
                  </a:txBody>
                  <a:tcPr/>
                </a:tc>
                <a:tc>
                  <a:txBody>
                    <a:bodyPr/>
                    <a:lstStyle/>
                    <a:p>
                      <a:pPr fontAlgn="t">
                        <a:buNone/>
                      </a:pPr>
                      <a:r>
                        <a:rPr lang="en-IN">
                          <a:effectLst/>
                        </a:rPr>
                        <a:t>4.567864</a:t>
                      </a:r>
                    </a:p>
                  </a:txBody>
                  <a:tcPr/>
                </a:tc>
                <a:tc>
                  <a:txBody>
                    <a:bodyPr/>
                    <a:lstStyle/>
                    <a:p>
                      <a:pPr fontAlgn="t">
                        <a:buNone/>
                      </a:pPr>
                      <a:r>
                        <a:rPr lang="en-IN">
                          <a:effectLst/>
                        </a:rPr>
                        <a:t>6.623243</a:t>
                      </a:r>
                    </a:p>
                  </a:txBody>
                  <a:tcPr/>
                </a:tc>
                <a:extLst>
                  <a:ext uri="{0D108BD9-81ED-4DB2-BD59-A6C34878D82A}">
                    <a16:rowId xmlns:a16="http://schemas.microsoft.com/office/drawing/2014/main" val="2156738080"/>
                  </a:ext>
                </a:extLst>
              </a:tr>
              <a:tr h="0">
                <a:tc>
                  <a:txBody>
                    <a:bodyPr/>
                    <a:lstStyle/>
                    <a:p>
                      <a:pPr fontAlgn="t">
                        <a:buNone/>
                      </a:pPr>
                      <a:r>
                        <a:rPr lang="en-IN">
                          <a:effectLst/>
                        </a:rPr>
                        <a:t>Madhya Pradesh</a:t>
                      </a:r>
                    </a:p>
                  </a:txBody>
                  <a:tcPr/>
                </a:tc>
                <a:tc>
                  <a:txBody>
                    <a:bodyPr/>
                    <a:lstStyle/>
                    <a:p>
                      <a:pPr fontAlgn="t">
                        <a:buNone/>
                      </a:pPr>
                      <a:r>
                        <a:rPr lang="en-IN">
                          <a:effectLst/>
                        </a:rPr>
                        <a:t>5.985265</a:t>
                      </a:r>
                    </a:p>
                  </a:txBody>
                  <a:tcPr/>
                </a:tc>
                <a:tc>
                  <a:txBody>
                    <a:bodyPr/>
                    <a:lstStyle/>
                    <a:p>
                      <a:pPr fontAlgn="t">
                        <a:buNone/>
                      </a:pPr>
                      <a:r>
                        <a:rPr lang="en-IN">
                          <a:effectLst/>
                        </a:rPr>
                        <a:t>3.760385</a:t>
                      </a:r>
                    </a:p>
                  </a:txBody>
                  <a:tcPr/>
                </a:tc>
                <a:tc>
                  <a:txBody>
                    <a:bodyPr/>
                    <a:lstStyle/>
                    <a:p>
                      <a:pPr fontAlgn="t">
                        <a:buNone/>
                      </a:pPr>
                      <a:r>
                        <a:rPr lang="en-IN">
                          <a:effectLst/>
                        </a:rPr>
                        <a:t>5.478889</a:t>
                      </a:r>
                    </a:p>
                  </a:txBody>
                  <a:tcPr/>
                </a:tc>
                <a:extLst>
                  <a:ext uri="{0D108BD9-81ED-4DB2-BD59-A6C34878D82A}">
                    <a16:rowId xmlns:a16="http://schemas.microsoft.com/office/drawing/2014/main" val="2100103939"/>
                  </a:ext>
                </a:extLst>
              </a:tr>
              <a:tr h="0">
                <a:tc>
                  <a:txBody>
                    <a:bodyPr/>
                    <a:lstStyle/>
                    <a:p>
                      <a:pPr fontAlgn="t">
                        <a:buNone/>
                      </a:pPr>
                      <a:r>
                        <a:rPr lang="en-IN">
                          <a:effectLst/>
                        </a:rPr>
                        <a:t>Maharashtra</a:t>
                      </a:r>
                    </a:p>
                  </a:txBody>
                  <a:tcPr/>
                </a:tc>
                <a:tc>
                  <a:txBody>
                    <a:bodyPr/>
                    <a:lstStyle/>
                    <a:p>
                      <a:pPr fontAlgn="t">
                        <a:buNone/>
                      </a:pPr>
                      <a:r>
                        <a:rPr lang="en-IN">
                          <a:effectLst/>
                        </a:rPr>
                        <a:t>5.430315</a:t>
                      </a:r>
                    </a:p>
                  </a:txBody>
                  <a:tcPr/>
                </a:tc>
                <a:tc>
                  <a:txBody>
                    <a:bodyPr/>
                    <a:lstStyle/>
                    <a:p>
                      <a:pPr fontAlgn="t">
                        <a:buNone/>
                      </a:pPr>
                      <a:r>
                        <a:rPr lang="en-IN">
                          <a:effectLst/>
                        </a:rPr>
                        <a:t>5.501927</a:t>
                      </a:r>
                    </a:p>
                  </a:txBody>
                  <a:tcPr/>
                </a:tc>
                <a:tc>
                  <a:txBody>
                    <a:bodyPr/>
                    <a:lstStyle/>
                    <a:p>
                      <a:pPr fontAlgn="t">
                        <a:buNone/>
                      </a:pPr>
                      <a:r>
                        <a:rPr lang="en-IN">
                          <a:effectLst/>
                        </a:rPr>
                        <a:t>2.277778</a:t>
                      </a:r>
                    </a:p>
                  </a:txBody>
                  <a:tcPr/>
                </a:tc>
                <a:extLst>
                  <a:ext uri="{0D108BD9-81ED-4DB2-BD59-A6C34878D82A}">
                    <a16:rowId xmlns:a16="http://schemas.microsoft.com/office/drawing/2014/main" val="1112781913"/>
                  </a:ext>
                </a:extLst>
              </a:tr>
              <a:tr h="0">
                <a:tc>
                  <a:txBody>
                    <a:bodyPr/>
                    <a:lstStyle/>
                    <a:p>
                      <a:pPr fontAlgn="t">
                        <a:buNone/>
                      </a:pPr>
                      <a:r>
                        <a:rPr lang="en-IN">
                          <a:effectLst/>
                        </a:rPr>
                        <a:t>Punjab</a:t>
                      </a:r>
                    </a:p>
                  </a:txBody>
                  <a:tcPr/>
                </a:tc>
                <a:tc>
                  <a:txBody>
                    <a:bodyPr/>
                    <a:lstStyle/>
                    <a:p>
                      <a:pPr fontAlgn="t">
                        <a:buNone/>
                      </a:pPr>
                      <a:r>
                        <a:rPr lang="en-IN">
                          <a:effectLst/>
                        </a:rPr>
                        <a:t>4.100633</a:t>
                      </a:r>
                    </a:p>
                  </a:txBody>
                  <a:tcPr/>
                </a:tc>
                <a:tc>
                  <a:txBody>
                    <a:bodyPr/>
                    <a:lstStyle/>
                    <a:p>
                      <a:pPr fontAlgn="t">
                        <a:buNone/>
                      </a:pPr>
                      <a:r>
                        <a:rPr lang="en-IN">
                          <a:effectLst/>
                        </a:rPr>
                        <a:t>8.609355</a:t>
                      </a:r>
                    </a:p>
                  </a:txBody>
                  <a:tcPr/>
                </a:tc>
                <a:tc>
                  <a:txBody>
                    <a:bodyPr/>
                    <a:lstStyle/>
                    <a:p>
                      <a:pPr fontAlgn="t">
                        <a:buNone/>
                      </a:pPr>
                      <a:r>
                        <a:rPr lang="en-IN">
                          <a:effectLst/>
                        </a:rPr>
                        <a:t>5.909610</a:t>
                      </a:r>
                    </a:p>
                  </a:txBody>
                  <a:tcPr/>
                </a:tc>
                <a:extLst>
                  <a:ext uri="{0D108BD9-81ED-4DB2-BD59-A6C34878D82A}">
                    <a16:rowId xmlns:a16="http://schemas.microsoft.com/office/drawing/2014/main" val="823222909"/>
                  </a:ext>
                </a:extLst>
              </a:tr>
              <a:tr h="0">
                <a:tc>
                  <a:txBody>
                    <a:bodyPr/>
                    <a:lstStyle/>
                    <a:p>
                      <a:pPr fontAlgn="t">
                        <a:buNone/>
                      </a:pPr>
                      <a:r>
                        <a:rPr lang="en-IN">
                          <a:effectLst/>
                        </a:rPr>
                        <a:t>Tamil Nadu</a:t>
                      </a:r>
                    </a:p>
                  </a:txBody>
                  <a:tcPr/>
                </a:tc>
                <a:tc>
                  <a:txBody>
                    <a:bodyPr/>
                    <a:lstStyle/>
                    <a:p>
                      <a:pPr fontAlgn="t">
                        <a:buNone/>
                      </a:pPr>
                      <a:r>
                        <a:rPr lang="en-IN">
                          <a:effectLst/>
                        </a:rPr>
                        <a:t>5.520534</a:t>
                      </a:r>
                    </a:p>
                  </a:txBody>
                  <a:tcPr/>
                </a:tc>
                <a:tc>
                  <a:txBody>
                    <a:bodyPr/>
                    <a:lstStyle/>
                    <a:p>
                      <a:pPr fontAlgn="t">
                        <a:buNone/>
                      </a:pPr>
                      <a:r>
                        <a:rPr lang="en-IN">
                          <a:effectLst/>
                        </a:rPr>
                        <a:t>4.501394</a:t>
                      </a:r>
                    </a:p>
                  </a:txBody>
                  <a:tcPr/>
                </a:tc>
                <a:tc>
                  <a:txBody>
                    <a:bodyPr/>
                    <a:lstStyle/>
                    <a:p>
                      <a:pPr fontAlgn="t">
                        <a:buNone/>
                      </a:pPr>
                      <a:r>
                        <a:rPr lang="en-IN">
                          <a:effectLst/>
                        </a:rPr>
                        <a:t>4.097746</a:t>
                      </a:r>
                    </a:p>
                  </a:txBody>
                  <a:tcPr/>
                </a:tc>
                <a:extLst>
                  <a:ext uri="{0D108BD9-81ED-4DB2-BD59-A6C34878D82A}">
                    <a16:rowId xmlns:a16="http://schemas.microsoft.com/office/drawing/2014/main" val="3863234179"/>
                  </a:ext>
                </a:extLst>
              </a:tr>
              <a:tr h="0">
                <a:tc>
                  <a:txBody>
                    <a:bodyPr/>
                    <a:lstStyle/>
                    <a:p>
                      <a:pPr fontAlgn="t">
                        <a:buNone/>
                      </a:pPr>
                      <a:r>
                        <a:rPr lang="en-IN">
                          <a:effectLst/>
                        </a:rPr>
                        <a:t>Telangana</a:t>
                      </a:r>
                    </a:p>
                  </a:txBody>
                  <a:tcPr/>
                </a:tc>
                <a:tc>
                  <a:txBody>
                    <a:bodyPr/>
                    <a:lstStyle/>
                    <a:p>
                      <a:pPr fontAlgn="t">
                        <a:buNone/>
                      </a:pPr>
                      <a:r>
                        <a:rPr lang="en-IN">
                          <a:effectLst/>
                        </a:rPr>
                        <a:t>5.552436</a:t>
                      </a:r>
                    </a:p>
                  </a:txBody>
                  <a:tcPr/>
                </a:tc>
                <a:tc>
                  <a:txBody>
                    <a:bodyPr/>
                    <a:lstStyle/>
                    <a:p>
                      <a:pPr fontAlgn="t">
                        <a:buNone/>
                      </a:pPr>
                      <a:r>
                        <a:rPr lang="en-IN">
                          <a:effectLst/>
                        </a:rPr>
                        <a:t>4.784569</a:t>
                      </a:r>
                    </a:p>
                  </a:txBody>
                  <a:tcPr/>
                </a:tc>
                <a:tc>
                  <a:txBody>
                    <a:bodyPr/>
                    <a:lstStyle/>
                    <a:p>
                      <a:pPr fontAlgn="t">
                        <a:buNone/>
                      </a:pPr>
                      <a:r>
                        <a:rPr lang="en-IN" dirty="0">
                          <a:effectLst/>
                        </a:rPr>
                        <a:t>4.248471</a:t>
                      </a:r>
                    </a:p>
                  </a:txBody>
                  <a:tcPr/>
                </a:tc>
                <a:extLst>
                  <a:ext uri="{0D108BD9-81ED-4DB2-BD59-A6C34878D82A}">
                    <a16:rowId xmlns:a16="http://schemas.microsoft.com/office/drawing/2014/main" val="3714398204"/>
                  </a:ext>
                </a:extLst>
              </a:tr>
            </a:tbl>
          </a:graphicData>
        </a:graphic>
      </p:graphicFrame>
    </p:spTree>
    <p:extLst>
      <p:ext uri="{BB962C8B-B14F-4D97-AF65-F5344CB8AC3E}">
        <p14:creationId xmlns:p14="http://schemas.microsoft.com/office/powerpoint/2010/main" val="3751977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611309-59EF-275F-9211-3EEBCBA100A4}"/>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
        <p:nvSpPr>
          <p:cNvPr id="3" name="TextBox 2">
            <a:extLst>
              <a:ext uri="{FF2B5EF4-FFF2-40B4-BE49-F238E27FC236}">
                <a16:creationId xmlns:a16="http://schemas.microsoft.com/office/drawing/2014/main" id="{265D494F-9D72-F679-7B58-4B250901EFB2}"/>
              </a:ext>
            </a:extLst>
          </p:cNvPr>
          <p:cNvSpPr txBox="1"/>
          <p:nvPr/>
        </p:nvSpPr>
        <p:spPr>
          <a:xfrm>
            <a:off x="653143" y="662473"/>
            <a:ext cx="4769960" cy="4801314"/>
          </a:xfrm>
          <a:prstGeom prst="rect">
            <a:avLst/>
          </a:prstGeom>
          <a:noFill/>
        </p:spPr>
        <p:txBody>
          <a:bodyPr wrap="none" rtlCol="0">
            <a:spAutoFit/>
          </a:bodyPr>
          <a:lstStyle/>
          <a:p>
            <a:r>
              <a:rPr lang="en-IN" dirty="0" err="1"/>
              <a:t>plt.figure</a:t>
            </a:r>
            <a:r>
              <a:rPr lang="en-IN" dirty="0"/>
              <a:t>(</a:t>
            </a:r>
            <a:r>
              <a:rPr lang="en-IN" dirty="0" err="1"/>
              <a:t>figsize</a:t>
            </a:r>
            <a:r>
              <a:rPr lang="en-IN" dirty="0"/>
              <a:t>=(12,8))</a:t>
            </a:r>
          </a:p>
          <a:p>
            <a:br>
              <a:rPr lang="en-IN" dirty="0"/>
            </a:br>
            <a:endParaRPr lang="en-IN" dirty="0"/>
          </a:p>
          <a:p>
            <a:r>
              <a:rPr lang="en-IN" dirty="0" err="1"/>
              <a:t>sns.heatmap</a:t>
            </a:r>
            <a:r>
              <a:rPr lang="en-IN" dirty="0"/>
              <a:t>(</a:t>
            </a:r>
          </a:p>
          <a:p>
            <a:r>
              <a:rPr lang="en-IN" dirty="0"/>
              <a:t>    </a:t>
            </a:r>
            <a:r>
              <a:rPr lang="en-IN" dirty="0" err="1"/>
              <a:t>state_season</a:t>
            </a:r>
            <a:r>
              <a:rPr lang="en-IN" dirty="0"/>
              <a:t>,</a:t>
            </a:r>
          </a:p>
          <a:p>
            <a:r>
              <a:rPr lang="en-IN" dirty="0"/>
              <a:t>    </a:t>
            </a:r>
            <a:r>
              <a:rPr lang="en-IN" dirty="0" err="1"/>
              <a:t>annot</a:t>
            </a:r>
            <a:r>
              <a:rPr lang="en-IN" dirty="0"/>
              <a:t>=True,</a:t>
            </a:r>
          </a:p>
          <a:p>
            <a:r>
              <a:rPr lang="en-IN" dirty="0"/>
              <a:t>    </a:t>
            </a:r>
            <a:r>
              <a:rPr lang="en-IN" dirty="0" err="1"/>
              <a:t>fmt</a:t>
            </a:r>
            <a:r>
              <a:rPr lang="en-IN" dirty="0"/>
              <a:t>='.2f'</a:t>
            </a:r>
          </a:p>
          <a:p>
            <a:r>
              <a:rPr lang="en-IN" dirty="0"/>
              <a:t>)</a:t>
            </a:r>
          </a:p>
          <a:p>
            <a:br>
              <a:rPr lang="en-IN" dirty="0"/>
            </a:br>
            <a:endParaRPr lang="en-IN" dirty="0"/>
          </a:p>
          <a:p>
            <a:r>
              <a:rPr lang="en-IN" dirty="0" err="1"/>
              <a:t>plt.title</a:t>
            </a:r>
            <a:r>
              <a:rPr lang="en-IN" dirty="0"/>
              <a:t>('Average Yield by State and Season')</a:t>
            </a:r>
          </a:p>
          <a:p>
            <a:r>
              <a:rPr lang="en-IN" dirty="0" err="1"/>
              <a:t>plt.xlabel</a:t>
            </a:r>
            <a:r>
              <a:rPr lang="en-IN" dirty="0"/>
              <a:t>('Season')</a:t>
            </a:r>
          </a:p>
          <a:p>
            <a:r>
              <a:rPr lang="en-IN" dirty="0" err="1"/>
              <a:t>plt.ylabel</a:t>
            </a:r>
            <a:r>
              <a:rPr lang="en-IN" dirty="0"/>
              <a:t>('State')</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12418C0E-21A4-AA92-35F8-A5F15FAC9306}"/>
              </a:ext>
            </a:extLst>
          </p:cNvPr>
          <p:cNvPicPr>
            <a:picLocks noChangeAspect="1"/>
          </p:cNvPicPr>
          <p:nvPr/>
        </p:nvPicPr>
        <p:blipFill>
          <a:blip r:embed="rId2"/>
          <a:stretch>
            <a:fillRect/>
          </a:stretch>
        </p:blipFill>
        <p:spPr>
          <a:xfrm>
            <a:off x="5355770" y="224021"/>
            <a:ext cx="6836229" cy="6409957"/>
          </a:xfrm>
          <a:prstGeom prst="rect">
            <a:avLst/>
          </a:prstGeom>
        </p:spPr>
      </p:pic>
    </p:spTree>
    <p:extLst>
      <p:ext uri="{BB962C8B-B14F-4D97-AF65-F5344CB8AC3E}">
        <p14:creationId xmlns:p14="http://schemas.microsoft.com/office/powerpoint/2010/main" val="1319074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DF610A-E03D-F4DE-CF92-50B937648D9A}"/>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
        <p:nvSpPr>
          <p:cNvPr id="3" name="TextBox 2">
            <a:extLst>
              <a:ext uri="{FF2B5EF4-FFF2-40B4-BE49-F238E27FC236}">
                <a16:creationId xmlns:a16="http://schemas.microsoft.com/office/drawing/2014/main" id="{17F09EF0-795B-BB04-8337-0DFD09484B96}"/>
              </a:ext>
            </a:extLst>
          </p:cNvPr>
          <p:cNvSpPr txBox="1"/>
          <p:nvPr/>
        </p:nvSpPr>
        <p:spPr>
          <a:xfrm>
            <a:off x="410548" y="961053"/>
            <a:ext cx="3956180" cy="3970318"/>
          </a:xfrm>
          <a:prstGeom prst="rect">
            <a:avLst/>
          </a:prstGeom>
          <a:noFill/>
        </p:spPr>
        <p:txBody>
          <a:bodyPr wrap="square" rtlCol="0">
            <a:spAutoFit/>
          </a:bodyPr>
          <a:lstStyle/>
          <a:p>
            <a:r>
              <a:rPr lang="en-IN" dirty="0" err="1"/>
              <a:t>numeric_df</a:t>
            </a:r>
            <a:r>
              <a:rPr lang="en-IN" dirty="0"/>
              <a:t> = </a:t>
            </a:r>
            <a:r>
              <a:rPr lang="en-IN" dirty="0" err="1"/>
              <a:t>df_clean.select_dtypes</a:t>
            </a:r>
            <a:r>
              <a:rPr lang="en-IN" dirty="0"/>
              <a:t>(include=</a:t>
            </a:r>
            <a:r>
              <a:rPr lang="en-IN" dirty="0" err="1"/>
              <a:t>np.number</a:t>
            </a:r>
            <a:r>
              <a:rPr lang="en-IN" dirty="0"/>
              <a:t>)</a:t>
            </a:r>
          </a:p>
          <a:p>
            <a:r>
              <a:rPr lang="en-IN" dirty="0"/>
              <a:t>correlation = </a:t>
            </a:r>
            <a:r>
              <a:rPr lang="en-IN" dirty="0" err="1"/>
              <a:t>numeric_df.corr</a:t>
            </a:r>
            <a:r>
              <a:rPr lang="en-IN" dirty="0"/>
              <a:t>()</a:t>
            </a:r>
          </a:p>
          <a:p>
            <a:r>
              <a:rPr lang="en-IN" dirty="0" err="1"/>
              <a:t>plt.figure</a:t>
            </a:r>
            <a:r>
              <a:rPr lang="en-IN" dirty="0"/>
              <a:t>(</a:t>
            </a:r>
            <a:r>
              <a:rPr lang="en-IN" dirty="0" err="1"/>
              <a:t>figsize</a:t>
            </a:r>
            <a:r>
              <a:rPr lang="en-IN" dirty="0"/>
              <a:t>=(16,12))</a:t>
            </a:r>
          </a:p>
          <a:p>
            <a:r>
              <a:rPr lang="en-IN" dirty="0" err="1"/>
              <a:t>sns.heatmap</a:t>
            </a:r>
            <a:r>
              <a:rPr lang="en-IN" dirty="0"/>
              <a:t>(</a:t>
            </a:r>
          </a:p>
          <a:p>
            <a:r>
              <a:rPr lang="en-IN" dirty="0"/>
              <a:t>    correlation,</a:t>
            </a:r>
          </a:p>
          <a:p>
            <a:r>
              <a:rPr lang="en-IN" dirty="0"/>
              <a:t>    </a:t>
            </a:r>
            <a:r>
              <a:rPr lang="en-IN" dirty="0" err="1"/>
              <a:t>cmap</a:t>
            </a:r>
            <a:r>
              <a:rPr lang="en-IN" dirty="0"/>
              <a:t>='</a:t>
            </a:r>
            <a:r>
              <a:rPr lang="en-IN" dirty="0" err="1"/>
              <a:t>coolwarm</a:t>
            </a:r>
            <a:r>
              <a:rPr lang="en-IN" dirty="0"/>
              <a:t>',</a:t>
            </a:r>
          </a:p>
          <a:p>
            <a:r>
              <a:rPr lang="en-IN" dirty="0"/>
              <a:t>    </a:t>
            </a:r>
            <a:r>
              <a:rPr lang="en-IN" dirty="0" err="1"/>
              <a:t>center</a:t>
            </a:r>
            <a:r>
              <a:rPr lang="en-IN" dirty="0"/>
              <a:t>=0</a:t>
            </a:r>
          </a:p>
          <a:p>
            <a:r>
              <a:rPr lang="en-IN" dirty="0"/>
              <a:t>)</a:t>
            </a:r>
          </a:p>
          <a:p>
            <a:r>
              <a:rPr lang="en-IN" dirty="0" err="1"/>
              <a:t>plt.title</a:t>
            </a:r>
            <a:r>
              <a:rPr lang="en-IN" dirty="0"/>
              <a:t>('Correlation Matrix of Agricultural Variables')</a:t>
            </a:r>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10657E4C-268E-5CA4-A521-E6D91907EBB6}"/>
              </a:ext>
            </a:extLst>
          </p:cNvPr>
          <p:cNvPicPr>
            <a:picLocks noChangeAspect="1"/>
          </p:cNvPicPr>
          <p:nvPr/>
        </p:nvPicPr>
        <p:blipFill>
          <a:blip r:embed="rId2"/>
          <a:stretch>
            <a:fillRect/>
          </a:stretch>
        </p:blipFill>
        <p:spPr>
          <a:xfrm>
            <a:off x="4450702" y="0"/>
            <a:ext cx="7741298" cy="6858000"/>
          </a:xfrm>
          <a:prstGeom prst="rect">
            <a:avLst/>
          </a:prstGeom>
        </p:spPr>
      </p:pic>
    </p:spTree>
    <p:extLst>
      <p:ext uri="{BB962C8B-B14F-4D97-AF65-F5344CB8AC3E}">
        <p14:creationId xmlns:p14="http://schemas.microsoft.com/office/powerpoint/2010/main" val="1203238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BAB379-39ED-A318-CCD2-B54B609D003F}"/>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
        <p:nvSpPr>
          <p:cNvPr id="3" name="TextBox 2">
            <a:extLst>
              <a:ext uri="{FF2B5EF4-FFF2-40B4-BE49-F238E27FC236}">
                <a16:creationId xmlns:a16="http://schemas.microsoft.com/office/drawing/2014/main" id="{839E67FD-EEBE-1E25-8202-A2E1F4F80AD8}"/>
              </a:ext>
            </a:extLst>
          </p:cNvPr>
          <p:cNvSpPr txBox="1"/>
          <p:nvPr/>
        </p:nvSpPr>
        <p:spPr>
          <a:xfrm>
            <a:off x="164440" y="2323322"/>
            <a:ext cx="5931560" cy="1754326"/>
          </a:xfrm>
          <a:prstGeom prst="rect">
            <a:avLst/>
          </a:prstGeom>
          <a:noFill/>
        </p:spPr>
        <p:txBody>
          <a:bodyPr wrap="none" rtlCol="0">
            <a:spAutoFit/>
          </a:bodyPr>
          <a:lstStyle/>
          <a:p>
            <a:r>
              <a:rPr lang="en-IN" dirty="0" err="1"/>
              <a:t>yield_corr</a:t>
            </a:r>
            <a:r>
              <a:rPr lang="en-IN" dirty="0"/>
              <a:t> = correlation['</a:t>
            </a:r>
            <a:r>
              <a:rPr lang="en-IN" dirty="0" err="1"/>
              <a:t>Yield_Tonnes_Ha</a:t>
            </a:r>
            <a:r>
              <a:rPr lang="en-IN" dirty="0"/>
              <a:t>'].</a:t>
            </a:r>
            <a:r>
              <a:rPr lang="en-IN" dirty="0" err="1"/>
              <a:t>sort_values</a:t>
            </a:r>
            <a:r>
              <a:rPr lang="en-IN" dirty="0"/>
              <a:t>(</a:t>
            </a:r>
          </a:p>
          <a:p>
            <a:r>
              <a:rPr lang="en-IN" dirty="0"/>
              <a:t>    ascending=False</a:t>
            </a:r>
          </a:p>
          <a:p>
            <a:r>
              <a:rPr lang="en-IN" dirty="0"/>
              <a:t>)</a:t>
            </a:r>
          </a:p>
          <a:p>
            <a:br>
              <a:rPr lang="en-IN" dirty="0"/>
            </a:br>
            <a:r>
              <a:rPr lang="en-IN" dirty="0"/>
              <a:t>display(</a:t>
            </a:r>
            <a:r>
              <a:rPr lang="en-IN" dirty="0" err="1"/>
              <a:t>yield_corr</a:t>
            </a:r>
            <a:r>
              <a:rPr lang="en-IN" dirty="0"/>
              <a:t>)</a:t>
            </a:r>
          </a:p>
          <a:p>
            <a:endParaRPr lang="en-IN" dirty="0"/>
          </a:p>
        </p:txBody>
      </p:sp>
      <p:graphicFrame>
        <p:nvGraphicFramePr>
          <p:cNvPr id="5" name="Table 4">
            <a:extLst>
              <a:ext uri="{FF2B5EF4-FFF2-40B4-BE49-F238E27FC236}">
                <a16:creationId xmlns:a16="http://schemas.microsoft.com/office/drawing/2014/main" id="{3C811702-D937-31E1-F17C-8561011CA91C}"/>
              </a:ext>
            </a:extLst>
          </p:cNvPr>
          <p:cNvGraphicFramePr>
            <a:graphicFrameLocks noGrp="1"/>
          </p:cNvGraphicFramePr>
          <p:nvPr>
            <p:extLst>
              <p:ext uri="{D42A27DB-BD31-4B8C-83A1-F6EECF244321}">
                <p14:modId xmlns:p14="http://schemas.microsoft.com/office/powerpoint/2010/main" val="994489311"/>
              </p:ext>
            </p:extLst>
          </p:nvPr>
        </p:nvGraphicFramePr>
        <p:xfrm>
          <a:off x="6690047" y="74644"/>
          <a:ext cx="4572002" cy="5747654"/>
        </p:xfrm>
        <a:graphic>
          <a:graphicData uri="http://schemas.openxmlformats.org/drawingml/2006/table">
            <a:tbl>
              <a:tblPr>
                <a:tableStyleId>{6E25E649-3F16-4E02-A733-19D2CDBF48F0}</a:tableStyleId>
              </a:tblPr>
              <a:tblGrid>
                <a:gridCol w="2286001">
                  <a:extLst>
                    <a:ext uri="{9D8B030D-6E8A-4147-A177-3AD203B41FA5}">
                      <a16:colId xmlns:a16="http://schemas.microsoft.com/office/drawing/2014/main" val="3656004917"/>
                    </a:ext>
                  </a:extLst>
                </a:gridCol>
                <a:gridCol w="2286001">
                  <a:extLst>
                    <a:ext uri="{9D8B030D-6E8A-4147-A177-3AD203B41FA5}">
                      <a16:colId xmlns:a16="http://schemas.microsoft.com/office/drawing/2014/main" val="3519856921"/>
                    </a:ext>
                  </a:extLst>
                </a:gridCol>
              </a:tblGrid>
              <a:tr h="249898">
                <a:tc>
                  <a:txBody>
                    <a:bodyPr/>
                    <a:lstStyle/>
                    <a:p>
                      <a:pPr algn="r" fontAlgn="t">
                        <a:buNone/>
                      </a:pPr>
                      <a:endParaRPr lang="en-IN" sz="800">
                        <a:effectLst/>
                      </a:endParaRPr>
                    </a:p>
                  </a:txBody>
                  <a:tcPr marL="42190" marR="42190" marT="21095" marB="21095"/>
                </a:tc>
                <a:tc>
                  <a:txBody>
                    <a:bodyPr/>
                    <a:lstStyle/>
                    <a:p>
                      <a:pPr algn="r" fontAlgn="t">
                        <a:buNone/>
                      </a:pPr>
                      <a:r>
                        <a:rPr lang="en-IN" sz="800">
                          <a:effectLst/>
                        </a:rPr>
                        <a:t>Yield_Tonnes_Ha</a:t>
                      </a:r>
                    </a:p>
                  </a:txBody>
                  <a:tcPr marL="42190" marR="42190" marT="21095" marB="21095"/>
                </a:tc>
                <a:extLst>
                  <a:ext uri="{0D108BD9-81ED-4DB2-BD59-A6C34878D82A}">
                    <a16:rowId xmlns:a16="http://schemas.microsoft.com/office/drawing/2014/main" val="3698139072"/>
                  </a:ext>
                </a:extLst>
              </a:tr>
              <a:tr h="249898">
                <a:tc>
                  <a:txBody>
                    <a:bodyPr/>
                    <a:lstStyle/>
                    <a:p>
                      <a:pPr fontAlgn="t">
                        <a:buNone/>
                      </a:pPr>
                      <a:r>
                        <a:rPr lang="en-IN" sz="800">
                          <a:effectLst/>
                        </a:rPr>
                        <a:t>Yield_Tonnes_Ha</a:t>
                      </a:r>
                    </a:p>
                  </a:txBody>
                  <a:tcPr marL="42190" marR="42190" marT="21095" marB="21095"/>
                </a:tc>
                <a:tc>
                  <a:txBody>
                    <a:bodyPr/>
                    <a:lstStyle/>
                    <a:p>
                      <a:pPr fontAlgn="t">
                        <a:buNone/>
                      </a:pPr>
                      <a:r>
                        <a:rPr lang="en-IN" sz="800">
                          <a:effectLst/>
                        </a:rPr>
                        <a:t>1.000000</a:t>
                      </a:r>
                    </a:p>
                  </a:txBody>
                  <a:tcPr marL="42190" marR="42190" marT="21095" marB="21095"/>
                </a:tc>
                <a:extLst>
                  <a:ext uri="{0D108BD9-81ED-4DB2-BD59-A6C34878D82A}">
                    <a16:rowId xmlns:a16="http://schemas.microsoft.com/office/drawing/2014/main" val="3876317081"/>
                  </a:ext>
                </a:extLst>
              </a:tr>
              <a:tr h="249898">
                <a:tc>
                  <a:txBody>
                    <a:bodyPr/>
                    <a:lstStyle/>
                    <a:p>
                      <a:pPr fontAlgn="t">
                        <a:buNone/>
                      </a:pPr>
                      <a:r>
                        <a:rPr lang="en-IN" sz="800">
                          <a:effectLst/>
                        </a:rPr>
                        <a:t>Water_Efficiency_t_per_1000m3</a:t>
                      </a:r>
                    </a:p>
                  </a:txBody>
                  <a:tcPr marL="42190" marR="42190" marT="21095" marB="21095"/>
                </a:tc>
                <a:tc>
                  <a:txBody>
                    <a:bodyPr/>
                    <a:lstStyle/>
                    <a:p>
                      <a:pPr fontAlgn="t">
                        <a:buNone/>
                      </a:pPr>
                      <a:r>
                        <a:rPr lang="en-IN" sz="800">
                          <a:effectLst/>
                        </a:rPr>
                        <a:t>0.912568</a:t>
                      </a:r>
                    </a:p>
                  </a:txBody>
                  <a:tcPr marL="42190" marR="42190" marT="21095" marB="21095"/>
                </a:tc>
                <a:extLst>
                  <a:ext uri="{0D108BD9-81ED-4DB2-BD59-A6C34878D82A}">
                    <a16:rowId xmlns:a16="http://schemas.microsoft.com/office/drawing/2014/main" val="260680013"/>
                  </a:ext>
                </a:extLst>
              </a:tr>
              <a:tr h="249898">
                <a:tc>
                  <a:txBody>
                    <a:bodyPr/>
                    <a:lstStyle/>
                    <a:p>
                      <a:pPr fontAlgn="t">
                        <a:buNone/>
                      </a:pPr>
                      <a:r>
                        <a:rPr lang="en-IN" sz="800">
                          <a:effectLst/>
                        </a:rPr>
                        <a:t>Production_Tonnes</a:t>
                      </a:r>
                    </a:p>
                  </a:txBody>
                  <a:tcPr marL="42190" marR="42190" marT="21095" marB="21095"/>
                </a:tc>
                <a:tc>
                  <a:txBody>
                    <a:bodyPr/>
                    <a:lstStyle/>
                    <a:p>
                      <a:pPr fontAlgn="t">
                        <a:buNone/>
                      </a:pPr>
                      <a:r>
                        <a:rPr lang="en-IN" sz="800">
                          <a:effectLst/>
                        </a:rPr>
                        <a:t>0.882813</a:t>
                      </a:r>
                    </a:p>
                  </a:txBody>
                  <a:tcPr marL="42190" marR="42190" marT="21095" marB="21095"/>
                </a:tc>
                <a:extLst>
                  <a:ext uri="{0D108BD9-81ED-4DB2-BD59-A6C34878D82A}">
                    <a16:rowId xmlns:a16="http://schemas.microsoft.com/office/drawing/2014/main" val="683218687"/>
                  </a:ext>
                </a:extLst>
              </a:tr>
              <a:tr h="249898">
                <a:tc>
                  <a:txBody>
                    <a:bodyPr/>
                    <a:lstStyle/>
                    <a:p>
                      <a:pPr fontAlgn="t">
                        <a:buNone/>
                      </a:pPr>
                      <a:r>
                        <a:rPr lang="en-IN" sz="800">
                          <a:effectLst/>
                        </a:rPr>
                        <a:t>Profit_INR</a:t>
                      </a:r>
                    </a:p>
                  </a:txBody>
                  <a:tcPr marL="42190" marR="42190" marT="21095" marB="21095"/>
                </a:tc>
                <a:tc>
                  <a:txBody>
                    <a:bodyPr/>
                    <a:lstStyle/>
                    <a:p>
                      <a:pPr fontAlgn="t">
                        <a:buNone/>
                      </a:pPr>
                      <a:r>
                        <a:rPr lang="en-IN" sz="800">
                          <a:effectLst/>
                        </a:rPr>
                        <a:t>0.488466</a:t>
                      </a:r>
                    </a:p>
                  </a:txBody>
                  <a:tcPr marL="42190" marR="42190" marT="21095" marB="21095"/>
                </a:tc>
                <a:extLst>
                  <a:ext uri="{0D108BD9-81ED-4DB2-BD59-A6C34878D82A}">
                    <a16:rowId xmlns:a16="http://schemas.microsoft.com/office/drawing/2014/main" val="4203844216"/>
                  </a:ext>
                </a:extLst>
              </a:tr>
              <a:tr h="249898">
                <a:tc>
                  <a:txBody>
                    <a:bodyPr/>
                    <a:lstStyle/>
                    <a:p>
                      <a:pPr fontAlgn="t">
                        <a:buNone/>
                      </a:pPr>
                      <a:r>
                        <a:rPr lang="en-IN" sz="800">
                          <a:effectLst/>
                        </a:rPr>
                        <a:t>Revenue_INR</a:t>
                      </a:r>
                    </a:p>
                  </a:txBody>
                  <a:tcPr marL="42190" marR="42190" marT="21095" marB="21095"/>
                </a:tc>
                <a:tc>
                  <a:txBody>
                    <a:bodyPr/>
                    <a:lstStyle/>
                    <a:p>
                      <a:pPr fontAlgn="t">
                        <a:buNone/>
                      </a:pPr>
                      <a:r>
                        <a:rPr lang="en-IN" sz="800">
                          <a:effectLst/>
                        </a:rPr>
                        <a:t>0.432152</a:t>
                      </a:r>
                    </a:p>
                  </a:txBody>
                  <a:tcPr marL="42190" marR="42190" marT="21095" marB="21095"/>
                </a:tc>
                <a:extLst>
                  <a:ext uri="{0D108BD9-81ED-4DB2-BD59-A6C34878D82A}">
                    <a16:rowId xmlns:a16="http://schemas.microsoft.com/office/drawing/2014/main" val="1595550555"/>
                  </a:ext>
                </a:extLst>
              </a:tr>
              <a:tr h="249898">
                <a:tc>
                  <a:txBody>
                    <a:bodyPr/>
                    <a:lstStyle/>
                    <a:p>
                      <a:pPr fontAlgn="t">
                        <a:buNone/>
                      </a:pPr>
                      <a:r>
                        <a:rPr lang="en-IN" sz="800">
                          <a:effectLst/>
                        </a:rPr>
                        <a:t>Water_Used_m3</a:t>
                      </a:r>
                    </a:p>
                  </a:txBody>
                  <a:tcPr marL="42190" marR="42190" marT="21095" marB="21095"/>
                </a:tc>
                <a:tc>
                  <a:txBody>
                    <a:bodyPr/>
                    <a:lstStyle/>
                    <a:p>
                      <a:pPr fontAlgn="t">
                        <a:buNone/>
                      </a:pPr>
                      <a:r>
                        <a:rPr lang="en-IN" sz="800">
                          <a:effectLst/>
                        </a:rPr>
                        <a:t>0.386294</a:t>
                      </a:r>
                    </a:p>
                  </a:txBody>
                  <a:tcPr marL="42190" marR="42190" marT="21095" marB="21095"/>
                </a:tc>
                <a:extLst>
                  <a:ext uri="{0D108BD9-81ED-4DB2-BD59-A6C34878D82A}">
                    <a16:rowId xmlns:a16="http://schemas.microsoft.com/office/drawing/2014/main" val="2098254582"/>
                  </a:ext>
                </a:extLst>
              </a:tr>
              <a:tr h="249898">
                <a:tc>
                  <a:txBody>
                    <a:bodyPr/>
                    <a:lstStyle/>
                    <a:p>
                      <a:pPr fontAlgn="t">
                        <a:buNone/>
                      </a:pPr>
                      <a:r>
                        <a:rPr lang="en-IN" sz="800">
                          <a:effectLst/>
                        </a:rPr>
                        <a:t>Nitrogen_kg_ha</a:t>
                      </a:r>
                    </a:p>
                  </a:txBody>
                  <a:tcPr marL="42190" marR="42190" marT="21095" marB="21095"/>
                </a:tc>
                <a:tc>
                  <a:txBody>
                    <a:bodyPr/>
                    <a:lstStyle/>
                    <a:p>
                      <a:pPr fontAlgn="t">
                        <a:buNone/>
                      </a:pPr>
                      <a:r>
                        <a:rPr lang="en-IN" sz="800">
                          <a:effectLst/>
                        </a:rPr>
                        <a:t>0.053149</a:t>
                      </a:r>
                    </a:p>
                  </a:txBody>
                  <a:tcPr marL="42190" marR="42190" marT="21095" marB="21095"/>
                </a:tc>
                <a:extLst>
                  <a:ext uri="{0D108BD9-81ED-4DB2-BD59-A6C34878D82A}">
                    <a16:rowId xmlns:a16="http://schemas.microsoft.com/office/drawing/2014/main" val="1197837043"/>
                  </a:ext>
                </a:extLst>
              </a:tr>
              <a:tr h="249898">
                <a:tc>
                  <a:txBody>
                    <a:bodyPr/>
                    <a:lstStyle/>
                    <a:p>
                      <a:pPr fontAlgn="t">
                        <a:buNone/>
                      </a:pPr>
                      <a:r>
                        <a:rPr lang="en-IN" sz="800">
                          <a:effectLst/>
                        </a:rPr>
                        <a:t>Phosphorus_kg_ha</a:t>
                      </a:r>
                    </a:p>
                  </a:txBody>
                  <a:tcPr marL="42190" marR="42190" marT="21095" marB="21095"/>
                </a:tc>
                <a:tc>
                  <a:txBody>
                    <a:bodyPr/>
                    <a:lstStyle/>
                    <a:p>
                      <a:pPr fontAlgn="t">
                        <a:buNone/>
                      </a:pPr>
                      <a:r>
                        <a:rPr lang="en-IN" sz="800">
                          <a:effectLst/>
                        </a:rPr>
                        <a:t>0.047941</a:t>
                      </a:r>
                    </a:p>
                  </a:txBody>
                  <a:tcPr marL="42190" marR="42190" marT="21095" marB="21095"/>
                </a:tc>
                <a:extLst>
                  <a:ext uri="{0D108BD9-81ED-4DB2-BD59-A6C34878D82A}">
                    <a16:rowId xmlns:a16="http://schemas.microsoft.com/office/drawing/2014/main" val="177943269"/>
                  </a:ext>
                </a:extLst>
              </a:tr>
              <a:tr h="249898">
                <a:tc>
                  <a:txBody>
                    <a:bodyPr/>
                    <a:lstStyle/>
                    <a:p>
                      <a:pPr fontAlgn="t">
                        <a:buNone/>
                      </a:pPr>
                      <a:r>
                        <a:rPr lang="en-IN" sz="800">
                          <a:effectLst/>
                        </a:rPr>
                        <a:t>Rainfall_mm</a:t>
                      </a:r>
                    </a:p>
                  </a:txBody>
                  <a:tcPr marL="42190" marR="42190" marT="21095" marB="21095"/>
                </a:tc>
                <a:tc>
                  <a:txBody>
                    <a:bodyPr/>
                    <a:lstStyle/>
                    <a:p>
                      <a:pPr fontAlgn="t">
                        <a:buNone/>
                      </a:pPr>
                      <a:r>
                        <a:rPr lang="en-IN" sz="800">
                          <a:effectLst/>
                        </a:rPr>
                        <a:t>0.030951</a:t>
                      </a:r>
                    </a:p>
                  </a:txBody>
                  <a:tcPr marL="42190" marR="42190" marT="21095" marB="21095"/>
                </a:tc>
                <a:extLst>
                  <a:ext uri="{0D108BD9-81ED-4DB2-BD59-A6C34878D82A}">
                    <a16:rowId xmlns:a16="http://schemas.microsoft.com/office/drawing/2014/main" val="3260947216"/>
                  </a:ext>
                </a:extLst>
              </a:tr>
              <a:tr h="249898">
                <a:tc>
                  <a:txBody>
                    <a:bodyPr/>
                    <a:lstStyle/>
                    <a:p>
                      <a:pPr fontAlgn="t">
                        <a:buNone/>
                      </a:pPr>
                      <a:r>
                        <a:rPr lang="en-IN" sz="800">
                          <a:effectLst/>
                        </a:rPr>
                        <a:t>Total_Cost_INR</a:t>
                      </a:r>
                    </a:p>
                  </a:txBody>
                  <a:tcPr marL="42190" marR="42190" marT="21095" marB="21095"/>
                </a:tc>
                <a:tc>
                  <a:txBody>
                    <a:bodyPr/>
                    <a:lstStyle/>
                    <a:p>
                      <a:pPr fontAlgn="t">
                        <a:buNone/>
                      </a:pPr>
                      <a:r>
                        <a:rPr lang="en-IN" sz="800">
                          <a:effectLst/>
                        </a:rPr>
                        <a:t>0.030622</a:t>
                      </a:r>
                    </a:p>
                  </a:txBody>
                  <a:tcPr marL="42190" marR="42190" marT="21095" marB="21095"/>
                </a:tc>
                <a:extLst>
                  <a:ext uri="{0D108BD9-81ED-4DB2-BD59-A6C34878D82A}">
                    <a16:rowId xmlns:a16="http://schemas.microsoft.com/office/drawing/2014/main" val="2869866230"/>
                  </a:ext>
                </a:extLst>
              </a:tr>
              <a:tr h="249898">
                <a:tc>
                  <a:txBody>
                    <a:bodyPr/>
                    <a:lstStyle/>
                    <a:p>
                      <a:pPr fontAlgn="t">
                        <a:buNone/>
                      </a:pPr>
                      <a:r>
                        <a:rPr lang="en-IN" sz="800">
                          <a:effectLst/>
                        </a:rPr>
                        <a:t>Farm_Area_Hectares</a:t>
                      </a:r>
                    </a:p>
                  </a:txBody>
                  <a:tcPr marL="42190" marR="42190" marT="21095" marB="21095"/>
                </a:tc>
                <a:tc>
                  <a:txBody>
                    <a:bodyPr/>
                    <a:lstStyle/>
                    <a:p>
                      <a:pPr fontAlgn="t">
                        <a:buNone/>
                      </a:pPr>
                      <a:r>
                        <a:rPr lang="en-IN" sz="800">
                          <a:effectLst/>
                        </a:rPr>
                        <a:t>0.030203</a:t>
                      </a:r>
                    </a:p>
                  </a:txBody>
                  <a:tcPr marL="42190" marR="42190" marT="21095" marB="21095"/>
                </a:tc>
                <a:extLst>
                  <a:ext uri="{0D108BD9-81ED-4DB2-BD59-A6C34878D82A}">
                    <a16:rowId xmlns:a16="http://schemas.microsoft.com/office/drawing/2014/main" val="1631964864"/>
                  </a:ext>
                </a:extLst>
              </a:tr>
              <a:tr h="249898">
                <a:tc>
                  <a:txBody>
                    <a:bodyPr/>
                    <a:lstStyle/>
                    <a:p>
                      <a:pPr fontAlgn="t">
                        <a:buNone/>
                      </a:pPr>
                      <a:r>
                        <a:rPr lang="en-IN" sz="800">
                          <a:effectLst/>
                        </a:rPr>
                        <a:t>Disease_Pest_Risk_pct</a:t>
                      </a:r>
                    </a:p>
                  </a:txBody>
                  <a:tcPr marL="42190" marR="42190" marT="21095" marB="21095"/>
                </a:tc>
                <a:tc>
                  <a:txBody>
                    <a:bodyPr/>
                    <a:lstStyle/>
                    <a:p>
                      <a:pPr fontAlgn="t">
                        <a:buNone/>
                      </a:pPr>
                      <a:r>
                        <a:rPr lang="en-IN" sz="800">
                          <a:effectLst/>
                        </a:rPr>
                        <a:t>0.014292</a:t>
                      </a:r>
                    </a:p>
                  </a:txBody>
                  <a:tcPr marL="42190" marR="42190" marT="21095" marB="21095"/>
                </a:tc>
                <a:extLst>
                  <a:ext uri="{0D108BD9-81ED-4DB2-BD59-A6C34878D82A}">
                    <a16:rowId xmlns:a16="http://schemas.microsoft.com/office/drawing/2014/main" val="3161184670"/>
                  </a:ext>
                </a:extLst>
              </a:tr>
              <a:tr h="249898">
                <a:tc>
                  <a:txBody>
                    <a:bodyPr/>
                    <a:lstStyle/>
                    <a:p>
                      <a:pPr fontAlgn="t">
                        <a:buNone/>
                      </a:pPr>
                      <a:r>
                        <a:rPr lang="en-IN" sz="800">
                          <a:effectLst/>
                        </a:rPr>
                        <a:t>Humidity_pct</a:t>
                      </a:r>
                    </a:p>
                  </a:txBody>
                  <a:tcPr marL="42190" marR="42190" marT="21095" marB="21095"/>
                </a:tc>
                <a:tc>
                  <a:txBody>
                    <a:bodyPr/>
                    <a:lstStyle/>
                    <a:p>
                      <a:pPr fontAlgn="t">
                        <a:buNone/>
                      </a:pPr>
                      <a:r>
                        <a:rPr lang="en-IN" sz="800">
                          <a:effectLst/>
                        </a:rPr>
                        <a:t>0.012297</a:t>
                      </a:r>
                    </a:p>
                  </a:txBody>
                  <a:tcPr marL="42190" marR="42190" marT="21095" marB="21095"/>
                </a:tc>
                <a:extLst>
                  <a:ext uri="{0D108BD9-81ED-4DB2-BD59-A6C34878D82A}">
                    <a16:rowId xmlns:a16="http://schemas.microsoft.com/office/drawing/2014/main" val="454298901"/>
                  </a:ext>
                </a:extLst>
              </a:tr>
              <a:tr h="249898">
                <a:tc>
                  <a:txBody>
                    <a:bodyPr/>
                    <a:lstStyle/>
                    <a:p>
                      <a:pPr fontAlgn="t">
                        <a:buNone/>
                      </a:pPr>
                      <a:r>
                        <a:rPr lang="en-IN" sz="800">
                          <a:effectLst/>
                        </a:rPr>
                        <a:t>Soil_Moisture_pct</a:t>
                      </a:r>
                    </a:p>
                  </a:txBody>
                  <a:tcPr marL="42190" marR="42190" marT="21095" marB="21095"/>
                </a:tc>
                <a:tc>
                  <a:txBody>
                    <a:bodyPr/>
                    <a:lstStyle/>
                    <a:p>
                      <a:pPr fontAlgn="t">
                        <a:buNone/>
                      </a:pPr>
                      <a:r>
                        <a:rPr lang="en-IN" sz="800">
                          <a:effectLst/>
                        </a:rPr>
                        <a:t>0.010999</a:t>
                      </a:r>
                    </a:p>
                  </a:txBody>
                  <a:tcPr marL="42190" marR="42190" marT="21095" marB="21095"/>
                </a:tc>
                <a:extLst>
                  <a:ext uri="{0D108BD9-81ED-4DB2-BD59-A6C34878D82A}">
                    <a16:rowId xmlns:a16="http://schemas.microsoft.com/office/drawing/2014/main" val="2932930254"/>
                  </a:ext>
                </a:extLst>
              </a:tr>
              <a:tr h="249898">
                <a:tc>
                  <a:txBody>
                    <a:bodyPr/>
                    <a:lstStyle/>
                    <a:p>
                      <a:pPr fontAlgn="t">
                        <a:buNone/>
                      </a:pPr>
                      <a:r>
                        <a:rPr lang="en-IN" sz="800">
                          <a:effectLst/>
                        </a:rPr>
                        <a:t>Avg_Temperature_C</a:t>
                      </a:r>
                    </a:p>
                  </a:txBody>
                  <a:tcPr marL="42190" marR="42190" marT="21095" marB="21095"/>
                </a:tc>
                <a:tc>
                  <a:txBody>
                    <a:bodyPr/>
                    <a:lstStyle/>
                    <a:p>
                      <a:pPr fontAlgn="t">
                        <a:buNone/>
                      </a:pPr>
                      <a:r>
                        <a:rPr lang="en-IN" sz="800">
                          <a:effectLst/>
                        </a:rPr>
                        <a:t>0.009996</a:t>
                      </a:r>
                    </a:p>
                  </a:txBody>
                  <a:tcPr marL="42190" marR="42190" marT="21095" marB="21095"/>
                </a:tc>
                <a:extLst>
                  <a:ext uri="{0D108BD9-81ED-4DB2-BD59-A6C34878D82A}">
                    <a16:rowId xmlns:a16="http://schemas.microsoft.com/office/drawing/2014/main" val="1120660169"/>
                  </a:ext>
                </a:extLst>
              </a:tr>
              <a:tr h="249898">
                <a:tc>
                  <a:txBody>
                    <a:bodyPr/>
                    <a:lstStyle/>
                    <a:p>
                      <a:pPr fontAlgn="t">
                        <a:buNone/>
                      </a:pPr>
                      <a:r>
                        <a:rPr lang="en-IN" sz="800">
                          <a:effectLst/>
                        </a:rPr>
                        <a:t>Potassium_kg_ha</a:t>
                      </a:r>
                    </a:p>
                  </a:txBody>
                  <a:tcPr marL="42190" marR="42190" marT="21095" marB="21095"/>
                </a:tc>
                <a:tc>
                  <a:txBody>
                    <a:bodyPr/>
                    <a:lstStyle/>
                    <a:p>
                      <a:pPr fontAlgn="t">
                        <a:buNone/>
                      </a:pPr>
                      <a:r>
                        <a:rPr lang="en-IN" sz="800">
                          <a:effectLst/>
                        </a:rPr>
                        <a:t>0.003382</a:t>
                      </a:r>
                    </a:p>
                  </a:txBody>
                  <a:tcPr marL="42190" marR="42190" marT="21095" marB="21095"/>
                </a:tc>
                <a:extLst>
                  <a:ext uri="{0D108BD9-81ED-4DB2-BD59-A6C34878D82A}">
                    <a16:rowId xmlns:a16="http://schemas.microsoft.com/office/drawing/2014/main" val="2578480203"/>
                  </a:ext>
                </a:extLst>
              </a:tr>
              <a:tr h="249898">
                <a:tc>
                  <a:txBody>
                    <a:bodyPr/>
                    <a:lstStyle/>
                    <a:p>
                      <a:pPr fontAlgn="t">
                        <a:buNone/>
                      </a:pPr>
                      <a:r>
                        <a:rPr lang="en-IN" sz="800">
                          <a:effectLst/>
                        </a:rPr>
                        <a:t>Fertilizer_kg_ha</a:t>
                      </a:r>
                    </a:p>
                  </a:txBody>
                  <a:tcPr marL="42190" marR="42190" marT="21095" marB="21095"/>
                </a:tc>
                <a:tc>
                  <a:txBody>
                    <a:bodyPr/>
                    <a:lstStyle/>
                    <a:p>
                      <a:pPr fontAlgn="t">
                        <a:buNone/>
                      </a:pPr>
                      <a:r>
                        <a:rPr lang="en-IN" sz="800">
                          <a:effectLst/>
                        </a:rPr>
                        <a:t>0.000018</a:t>
                      </a:r>
                    </a:p>
                  </a:txBody>
                  <a:tcPr marL="42190" marR="42190" marT="21095" marB="21095"/>
                </a:tc>
                <a:extLst>
                  <a:ext uri="{0D108BD9-81ED-4DB2-BD59-A6C34878D82A}">
                    <a16:rowId xmlns:a16="http://schemas.microsoft.com/office/drawing/2014/main" val="3363349774"/>
                  </a:ext>
                </a:extLst>
              </a:tr>
              <a:tr h="249898">
                <a:tc>
                  <a:txBody>
                    <a:bodyPr/>
                    <a:lstStyle/>
                    <a:p>
                      <a:pPr fontAlgn="t">
                        <a:buNone/>
                      </a:pPr>
                      <a:r>
                        <a:rPr lang="en-IN" sz="800">
                          <a:effectLst/>
                        </a:rPr>
                        <a:t>Seed_Quality_Score</a:t>
                      </a:r>
                    </a:p>
                  </a:txBody>
                  <a:tcPr marL="42190" marR="42190" marT="21095" marB="21095"/>
                </a:tc>
                <a:tc>
                  <a:txBody>
                    <a:bodyPr/>
                    <a:lstStyle/>
                    <a:p>
                      <a:pPr fontAlgn="t">
                        <a:buNone/>
                      </a:pPr>
                      <a:r>
                        <a:rPr lang="en-IN" sz="800">
                          <a:effectLst/>
                        </a:rPr>
                        <a:t>-0.007209</a:t>
                      </a:r>
                    </a:p>
                  </a:txBody>
                  <a:tcPr marL="42190" marR="42190" marT="21095" marB="21095"/>
                </a:tc>
                <a:extLst>
                  <a:ext uri="{0D108BD9-81ED-4DB2-BD59-A6C34878D82A}">
                    <a16:rowId xmlns:a16="http://schemas.microsoft.com/office/drawing/2014/main" val="3291340565"/>
                  </a:ext>
                </a:extLst>
              </a:tr>
              <a:tr h="249898">
                <a:tc>
                  <a:txBody>
                    <a:bodyPr/>
                    <a:lstStyle/>
                    <a:p>
                      <a:pPr fontAlgn="t">
                        <a:buNone/>
                      </a:pPr>
                      <a:r>
                        <a:rPr lang="en-IN" sz="800">
                          <a:effectLst/>
                        </a:rPr>
                        <a:t>Pesticide_Litre_ha</a:t>
                      </a:r>
                    </a:p>
                  </a:txBody>
                  <a:tcPr marL="42190" marR="42190" marT="21095" marB="21095"/>
                </a:tc>
                <a:tc>
                  <a:txBody>
                    <a:bodyPr/>
                    <a:lstStyle/>
                    <a:p>
                      <a:pPr fontAlgn="t">
                        <a:buNone/>
                      </a:pPr>
                      <a:r>
                        <a:rPr lang="en-IN" sz="800">
                          <a:effectLst/>
                        </a:rPr>
                        <a:t>-0.007779</a:t>
                      </a:r>
                    </a:p>
                  </a:txBody>
                  <a:tcPr marL="42190" marR="42190" marT="21095" marB="21095"/>
                </a:tc>
                <a:extLst>
                  <a:ext uri="{0D108BD9-81ED-4DB2-BD59-A6C34878D82A}">
                    <a16:rowId xmlns:a16="http://schemas.microsoft.com/office/drawing/2014/main" val="1913626019"/>
                  </a:ext>
                </a:extLst>
              </a:tr>
              <a:tr h="249898">
                <a:tc>
                  <a:txBody>
                    <a:bodyPr/>
                    <a:lstStyle/>
                    <a:p>
                      <a:pPr fontAlgn="t">
                        <a:buNone/>
                      </a:pPr>
                      <a:r>
                        <a:rPr lang="en-IN" sz="800">
                          <a:effectLst/>
                        </a:rPr>
                        <a:t>Sunlight_Hours_Day</a:t>
                      </a:r>
                    </a:p>
                  </a:txBody>
                  <a:tcPr marL="42190" marR="42190" marT="21095" marB="21095"/>
                </a:tc>
                <a:tc>
                  <a:txBody>
                    <a:bodyPr/>
                    <a:lstStyle/>
                    <a:p>
                      <a:pPr fontAlgn="t">
                        <a:buNone/>
                      </a:pPr>
                      <a:r>
                        <a:rPr lang="en-IN" sz="800" dirty="0">
                          <a:effectLst/>
                        </a:rPr>
                        <a:t>-0.015341</a:t>
                      </a:r>
                    </a:p>
                  </a:txBody>
                  <a:tcPr marL="42190" marR="42190" marT="21095" marB="21095"/>
                </a:tc>
                <a:extLst>
                  <a:ext uri="{0D108BD9-81ED-4DB2-BD59-A6C34878D82A}">
                    <a16:rowId xmlns:a16="http://schemas.microsoft.com/office/drawing/2014/main" val="2193552460"/>
                  </a:ext>
                </a:extLst>
              </a:tr>
              <a:tr h="249898">
                <a:tc>
                  <a:txBody>
                    <a:bodyPr/>
                    <a:lstStyle/>
                    <a:p>
                      <a:pPr fontAlgn="t">
                        <a:buNone/>
                      </a:pPr>
                      <a:r>
                        <a:rPr lang="en-IN" sz="800">
                          <a:effectLst/>
                        </a:rPr>
                        <a:t>Soil_pH</a:t>
                      </a:r>
                    </a:p>
                  </a:txBody>
                  <a:tcPr marL="42190" marR="42190" marT="21095" marB="21095"/>
                </a:tc>
                <a:tc>
                  <a:txBody>
                    <a:bodyPr/>
                    <a:lstStyle/>
                    <a:p>
                      <a:pPr fontAlgn="t">
                        <a:buNone/>
                      </a:pPr>
                      <a:r>
                        <a:rPr lang="en-IN" sz="800">
                          <a:effectLst/>
                        </a:rPr>
                        <a:t>-0.020672</a:t>
                      </a:r>
                    </a:p>
                  </a:txBody>
                  <a:tcPr marL="42190" marR="42190" marT="21095" marB="21095"/>
                </a:tc>
                <a:extLst>
                  <a:ext uri="{0D108BD9-81ED-4DB2-BD59-A6C34878D82A}">
                    <a16:rowId xmlns:a16="http://schemas.microsoft.com/office/drawing/2014/main" val="3877208791"/>
                  </a:ext>
                </a:extLst>
              </a:tr>
              <a:tr h="249898">
                <a:tc>
                  <a:txBody>
                    <a:bodyPr/>
                    <a:lstStyle/>
                    <a:p>
                      <a:pPr fontAlgn="t">
                        <a:buNone/>
                      </a:pPr>
                      <a:r>
                        <a:rPr lang="en-IN" sz="800">
                          <a:effectLst/>
                        </a:rPr>
                        <a:t>Market_Price_INR_Tonne</a:t>
                      </a:r>
                    </a:p>
                  </a:txBody>
                  <a:tcPr marL="42190" marR="42190" marT="21095" marB="21095"/>
                </a:tc>
                <a:tc>
                  <a:txBody>
                    <a:bodyPr/>
                    <a:lstStyle/>
                    <a:p>
                      <a:pPr fontAlgn="t">
                        <a:buNone/>
                      </a:pPr>
                      <a:r>
                        <a:rPr lang="en-IN" sz="800" dirty="0">
                          <a:effectLst/>
                        </a:rPr>
                        <a:t>-0.382607</a:t>
                      </a:r>
                    </a:p>
                  </a:txBody>
                  <a:tcPr marL="42190" marR="42190" marT="21095" marB="21095"/>
                </a:tc>
                <a:extLst>
                  <a:ext uri="{0D108BD9-81ED-4DB2-BD59-A6C34878D82A}">
                    <a16:rowId xmlns:a16="http://schemas.microsoft.com/office/drawing/2014/main" val="1454655901"/>
                  </a:ext>
                </a:extLst>
              </a:tr>
            </a:tbl>
          </a:graphicData>
        </a:graphic>
      </p:graphicFrame>
      <p:sp>
        <p:nvSpPr>
          <p:cNvPr id="7" name="TextBox 6">
            <a:extLst>
              <a:ext uri="{FF2B5EF4-FFF2-40B4-BE49-F238E27FC236}">
                <a16:creationId xmlns:a16="http://schemas.microsoft.com/office/drawing/2014/main" id="{E82D78F6-4C9B-A64D-B4D5-C4B930E78C52}"/>
              </a:ext>
            </a:extLst>
          </p:cNvPr>
          <p:cNvSpPr txBox="1"/>
          <p:nvPr/>
        </p:nvSpPr>
        <p:spPr>
          <a:xfrm>
            <a:off x="6478380" y="5900758"/>
            <a:ext cx="5016933" cy="646331"/>
          </a:xfrm>
          <a:prstGeom prst="rect">
            <a:avLst/>
          </a:prstGeom>
          <a:noFill/>
        </p:spPr>
        <p:txBody>
          <a:bodyPr wrap="square">
            <a:spAutoFit/>
          </a:bodyPr>
          <a:lstStyle/>
          <a:p>
            <a:pPr>
              <a:buNone/>
            </a:pPr>
            <a:br>
              <a:rPr lang="en-IN" dirty="0"/>
            </a:br>
            <a:r>
              <a:rPr lang="en-IN" b="1" dirty="0" err="1"/>
              <a:t>dtype</a:t>
            </a:r>
            <a:r>
              <a:rPr lang="en-IN" b="1" dirty="0"/>
              <a:t>:</a:t>
            </a:r>
            <a:r>
              <a:rPr lang="en-IN" dirty="0"/>
              <a:t> float64</a:t>
            </a:r>
          </a:p>
        </p:txBody>
      </p:sp>
    </p:spTree>
    <p:extLst>
      <p:ext uri="{BB962C8B-B14F-4D97-AF65-F5344CB8AC3E}">
        <p14:creationId xmlns:p14="http://schemas.microsoft.com/office/powerpoint/2010/main" val="1659487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9E2B09-FCB5-7B94-EDF0-5A4BC4D5B5E6}"/>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TextBox 2">
            <a:extLst>
              <a:ext uri="{FF2B5EF4-FFF2-40B4-BE49-F238E27FC236}">
                <a16:creationId xmlns:a16="http://schemas.microsoft.com/office/drawing/2014/main" id="{F134C335-9ECB-D616-8AD5-5A2A6E40FD50}"/>
              </a:ext>
            </a:extLst>
          </p:cNvPr>
          <p:cNvSpPr txBox="1"/>
          <p:nvPr/>
        </p:nvSpPr>
        <p:spPr>
          <a:xfrm>
            <a:off x="671804" y="802433"/>
            <a:ext cx="5413661" cy="2031325"/>
          </a:xfrm>
          <a:prstGeom prst="rect">
            <a:avLst/>
          </a:prstGeom>
          <a:noFill/>
        </p:spPr>
        <p:txBody>
          <a:bodyPr wrap="none" rtlCol="0">
            <a:spAutoFit/>
          </a:bodyPr>
          <a:lstStyle/>
          <a:p>
            <a:r>
              <a:rPr lang="en-IN" dirty="0"/>
              <a:t>print("Strongest negative correlations with yield:")</a:t>
            </a:r>
          </a:p>
          <a:p>
            <a:br>
              <a:rPr lang="en-IN" dirty="0"/>
            </a:br>
            <a:endParaRPr lang="en-IN" dirty="0"/>
          </a:p>
          <a:p>
            <a:r>
              <a:rPr lang="en-IN" dirty="0"/>
              <a:t>display(</a:t>
            </a:r>
          </a:p>
          <a:p>
            <a:r>
              <a:rPr lang="en-IN" dirty="0"/>
              <a:t>    </a:t>
            </a:r>
            <a:r>
              <a:rPr lang="en-IN" dirty="0" err="1"/>
              <a:t>yield_corr.sort_values</a:t>
            </a:r>
            <a:r>
              <a:rPr lang="en-IN" dirty="0"/>
              <a:t>().head(10)</a:t>
            </a:r>
          </a:p>
          <a:p>
            <a:r>
              <a:rPr lang="en-IN" dirty="0"/>
              <a:t>)</a:t>
            </a:r>
          </a:p>
          <a:p>
            <a:endParaRPr lang="en-IN" dirty="0"/>
          </a:p>
        </p:txBody>
      </p:sp>
      <p:pic>
        <p:nvPicPr>
          <p:cNvPr id="10" name="Picture 9">
            <a:extLst>
              <a:ext uri="{FF2B5EF4-FFF2-40B4-BE49-F238E27FC236}">
                <a16:creationId xmlns:a16="http://schemas.microsoft.com/office/drawing/2014/main" id="{4E0DAA06-B87E-A34D-E37E-D322F466885C}"/>
              </a:ext>
            </a:extLst>
          </p:cNvPr>
          <p:cNvPicPr>
            <a:picLocks noChangeAspect="1"/>
          </p:cNvPicPr>
          <p:nvPr/>
        </p:nvPicPr>
        <p:blipFill>
          <a:blip r:embed="rId2"/>
          <a:stretch>
            <a:fillRect/>
          </a:stretch>
        </p:blipFill>
        <p:spPr>
          <a:xfrm>
            <a:off x="6488360" y="451513"/>
            <a:ext cx="4792350" cy="5501418"/>
          </a:xfrm>
          <a:prstGeom prst="rect">
            <a:avLst/>
          </a:prstGeom>
        </p:spPr>
      </p:pic>
    </p:spTree>
    <p:extLst>
      <p:ext uri="{BB962C8B-B14F-4D97-AF65-F5344CB8AC3E}">
        <p14:creationId xmlns:p14="http://schemas.microsoft.com/office/powerpoint/2010/main" val="1163664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B886A9-3AB2-C5F5-EEFC-9ACEF125ED23}"/>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
        <p:nvSpPr>
          <p:cNvPr id="3" name="TextBox 2">
            <a:extLst>
              <a:ext uri="{FF2B5EF4-FFF2-40B4-BE49-F238E27FC236}">
                <a16:creationId xmlns:a16="http://schemas.microsoft.com/office/drawing/2014/main" id="{11C7C72B-40C9-B302-8DD3-E1FC653BC0EB}"/>
              </a:ext>
            </a:extLst>
          </p:cNvPr>
          <p:cNvSpPr txBox="1"/>
          <p:nvPr/>
        </p:nvSpPr>
        <p:spPr>
          <a:xfrm>
            <a:off x="559837" y="1138335"/>
            <a:ext cx="3256383" cy="5355312"/>
          </a:xfrm>
          <a:prstGeom prst="rect">
            <a:avLst/>
          </a:prstGeom>
          <a:noFill/>
        </p:spPr>
        <p:txBody>
          <a:bodyPr wrap="square" rtlCol="0">
            <a:spAutoFit/>
          </a:bodyPr>
          <a:lstStyle/>
          <a:p>
            <a:r>
              <a:rPr lang="en-IN" dirty="0" err="1"/>
              <a:t>plt.figure</a:t>
            </a:r>
            <a:r>
              <a:rPr lang="en-IN" dirty="0"/>
              <a:t>(</a:t>
            </a:r>
            <a:r>
              <a:rPr lang="en-IN" dirty="0" err="1"/>
              <a:t>figsize</a:t>
            </a:r>
            <a:r>
              <a:rPr lang="en-IN" dirty="0"/>
              <a:t>=(9,6))</a:t>
            </a:r>
          </a:p>
          <a:p>
            <a:br>
              <a:rPr lang="en-IN" dirty="0"/>
            </a:br>
            <a:endParaRPr lang="en-IN" dirty="0"/>
          </a:p>
          <a:p>
            <a:r>
              <a:rPr lang="en-IN" dirty="0" err="1"/>
              <a:t>sns.scatterplot</a:t>
            </a:r>
            <a:r>
              <a:rPr lang="en-IN" dirty="0"/>
              <a:t>(</a:t>
            </a:r>
          </a:p>
          <a:p>
            <a:r>
              <a:rPr lang="en-IN" dirty="0"/>
              <a:t>    data=</a:t>
            </a:r>
            <a:r>
              <a:rPr lang="en-IN" dirty="0" err="1"/>
              <a:t>df_clean</a:t>
            </a:r>
            <a:r>
              <a:rPr lang="en-IN" dirty="0"/>
              <a:t>,</a:t>
            </a:r>
          </a:p>
          <a:p>
            <a:r>
              <a:rPr lang="en-IN" dirty="0"/>
              <a:t>    x='</a:t>
            </a:r>
            <a:r>
              <a:rPr lang="en-IN" dirty="0" err="1"/>
              <a:t>Rainfall_mm</a:t>
            </a:r>
            <a:r>
              <a:rPr lang="en-IN" dirty="0"/>
              <a:t>',</a:t>
            </a:r>
          </a:p>
          <a:p>
            <a:r>
              <a:rPr lang="en-IN" dirty="0"/>
              <a:t>    y='</a:t>
            </a:r>
            <a:r>
              <a:rPr lang="en-IN" dirty="0" err="1"/>
              <a:t>Yield_Tonnes_Ha</a:t>
            </a:r>
            <a:r>
              <a:rPr lang="en-IN" dirty="0"/>
              <a:t>',</a:t>
            </a:r>
          </a:p>
          <a:p>
            <a:r>
              <a:rPr lang="en-IN" dirty="0"/>
              <a:t>    hue='Season'</a:t>
            </a:r>
          </a:p>
          <a:p>
            <a:r>
              <a:rPr lang="en-IN" dirty="0"/>
              <a:t>)</a:t>
            </a:r>
          </a:p>
          <a:p>
            <a:br>
              <a:rPr lang="en-IN" dirty="0"/>
            </a:br>
            <a:endParaRPr lang="en-IN" dirty="0"/>
          </a:p>
          <a:p>
            <a:r>
              <a:rPr lang="en-IN" dirty="0" err="1"/>
              <a:t>plt.title</a:t>
            </a:r>
            <a:r>
              <a:rPr lang="en-IN" dirty="0"/>
              <a:t>('Rainfall vs Agricultural Yield')</a:t>
            </a:r>
          </a:p>
          <a:p>
            <a:r>
              <a:rPr lang="en-IN" dirty="0" err="1"/>
              <a:t>plt.xlabel</a:t>
            </a:r>
            <a:r>
              <a:rPr lang="en-IN" dirty="0"/>
              <a:t>('Rainfall (mm)')</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88546441-C79C-D23F-F6A3-9BE154C5B184}"/>
              </a:ext>
            </a:extLst>
          </p:cNvPr>
          <p:cNvPicPr>
            <a:picLocks noChangeAspect="1"/>
          </p:cNvPicPr>
          <p:nvPr/>
        </p:nvPicPr>
        <p:blipFill>
          <a:blip r:embed="rId2"/>
          <a:stretch>
            <a:fillRect/>
          </a:stretch>
        </p:blipFill>
        <p:spPr>
          <a:xfrm>
            <a:off x="3946848" y="928111"/>
            <a:ext cx="8245151" cy="5001778"/>
          </a:xfrm>
          <a:prstGeom prst="rect">
            <a:avLst/>
          </a:prstGeom>
        </p:spPr>
      </p:pic>
    </p:spTree>
    <p:extLst>
      <p:ext uri="{BB962C8B-B14F-4D97-AF65-F5344CB8AC3E}">
        <p14:creationId xmlns:p14="http://schemas.microsoft.com/office/powerpoint/2010/main" val="2024084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B84BEF-3987-9BA7-F5BD-019C393F67F8}"/>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
        <p:nvSpPr>
          <p:cNvPr id="3" name="TextBox 2">
            <a:extLst>
              <a:ext uri="{FF2B5EF4-FFF2-40B4-BE49-F238E27FC236}">
                <a16:creationId xmlns:a16="http://schemas.microsoft.com/office/drawing/2014/main" id="{03EDC968-4CB5-1EC5-0EF2-3E0CBBC18F0B}"/>
              </a:ext>
            </a:extLst>
          </p:cNvPr>
          <p:cNvSpPr txBox="1"/>
          <p:nvPr/>
        </p:nvSpPr>
        <p:spPr>
          <a:xfrm>
            <a:off x="699796" y="998376"/>
            <a:ext cx="4683526" cy="4247317"/>
          </a:xfrm>
          <a:prstGeom prst="rect">
            <a:avLst/>
          </a:prstGeom>
          <a:noFill/>
        </p:spPr>
        <p:txBody>
          <a:bodyPr wrap="none" rtlCol="0">
            <a:spAutoFit/>
          </a:bodyPr>
          <a:lstStyle/>
          <a:p>
            <a:r>
              <a:rPr lang="en-IN" dirty="0" err="1"/>
              <a:t>sns.scatterplot</a:t>
            </a:r>
            <a:r>
              <a:rPr lang="en-IN" dirty="0"/>
              <a:t>(</a:t>
            </a:r>
          </a:p>
          <a:p>
            <a:r>
              <a:rPr lang="en-IN" dirty="0"/>
              <a:t>    data=</a:t>
            </a:r>
            <a:r>
              <a:rPr lang="en-IN" dirty="0" err="1"/>
              <a:t>df_clean</a:t>
            </a:r>
            <a:r>
              <a:rPr lang="en-IN" dirty="0"/>
              <a:t>,</a:t>
            </a:r>
          </a:p>
          <a:p>
            <a:r>
              <a:rPr lang="en-IN" dirty="0"/>
              <a:t>    x='</a:t>
            </a:r>
            <a:r>
              <a:rPr lang="en-IN" dirty="0" err="1"/>
              <a:t>Avg_Temperature_C</a:t>
            </a:r>
            <a:r>
              <a:rPr lang="en-IN" dirty="0"/>
              <a:t>',</a:t>
            </a:r>
          </a:p>
          <a:p>
            <a:r>
              <a:rPr lang="en-IN" dirty="0"/>
              <a:t>    y='</a:t>
            </a:r>
            <a:r>
              <a:rPr lang="en-IN" dirty="0" err="1"/>
              <a:t>Yield_Tonnes_Ha</a:t>
            </a:r>
            <a:r>
              <a:rPr lang="en-IN" dirty="0"/>
              <a:t>',</a:t>
            </a:r>
          </a:p>
          <a:p>
            <a:r>
              <a:rPr lang="en-IN" dirty="0"/>
              <a:t>    hue='Season'</a:t>
            </a:r>
          </a:p>
          <a:p>
            <a:r>
              <a:rPr lang="en-IN" dirty="0"/>
              <a:t>)</a:t>
            </a:r>
          </a:p>
          <a:p>
            <a:br>
              <a:rPr lang="en-IN" dirty="0"/>
            </a:br>
            <a:endParaRPr lang="en-IN" dirty="0"/>
          </a:p>
          <a:p>
            <a:r>
              <a:rPr lang="en-IN" dirty="0" err="1"/>
              <a:t>plt.title</a:t>
            </a:r>
            <a:r>
              <a:rPr lang="en-IN" dirty="0"/>
              <a:t>('Temperature vs Agricultural Yield')</a:t>
            </a:r>
          </a:p>
          <a:p>
            <a:r>
              <a:rPr lang="en-IN" dirty="0" err="1"/>
              <a:t>plt.xlabel</a:t>
            </a:r>
            <a:r>
              <a:rPr lang="en-IN" dirty="0"/>
              <a:t>('Average Temperature (°C)')</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56F929F7-B310-F0A6-C33A-F56B4944CB36}"/>
              </a:ext>
            </a:extLst>
          </p:cNvPr>
          <p:cNvPicPr>
            <a:picLocks noChangeAspect="1"/>
          </p:cNvPicPr>
          <p:nvPr/>
        </p:nvPicPr>
        <p:blipFill>
          <a:blip r:embed="rId2"/>
          <a:stretch>
            <a:fillRect/>
          </a:stretch>
        </p:blipFill>
        <p:spPr>
          <a:xfrm>
            <a:off x="5383321" y="928111"/>
            <a:ext cx="6615846" cy="5001778"/>
          </a:xfrm>
          <a:prstGeom prst="rect">
            <a:avLst/>
          </a:prstGeom>
        </p:spPr>
      </p:pic>
    </p:spTree>
    <p:extLst>
      <p:ext uri="{BB962C8B-B14F-4D97-AF65-F5344CB8AC3E}">
        <p14:creationId xmlns:p14="http://schemas.microsoft.com/office/powerpoint/2010/main" val="1322861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5F162A-A540-D50D-6126-17D7A776E944}"/>
              </a:ext>
            </a:extLst>
          </p:cNvPr>
          <p:cNvSpPr>
            <a:spLocks noGrp="1"/>
          </p:cNvSpPr>
          <p:nvPr>
            <p:ph type="sldNum" sz="quarter" idx="12"/>
          </p:nvPr>
        </p:nvSpPr>
        <p:spPr/>
        <p:txBody>
          <a:bodyPr/>
          <a:lstStyle/>
          <a:p>
            <a:fld id="{D57F1E4F-1CFF-5643-939E-217C01CDF565}" type="slidenum">
              <a:rPr lang="en-US" smtClean="0"/>
              <a:pPr/>
              <a:t>37</a:t>
            </a:fld>
            <a:endParaRPr lang="en-US" dirty="0"/>
          </a:p>
        </p:txBody>
      </p:sp>
      <p:sp>
        <p:nvSpPr>
          <p:cNvPr id="3" name="TextBox 2">
            <a:extLst>
              <a:ext uri="{FF2B5EF4-FFF2-40B4-BE49-F238E27FC236}">
                <a16:creationId xmlns:a16="http://schemas.microsoft.com/office/drawing/2014/main" id="{A76B0545-6E07-225D-EE58-CD65A9E813AD}"/>
              </a:ext>
            </a:extLst>
          </p:cNvPr>
          <p:cNvSpPr txBox="1"/>
          <p:nvPr/>
        </p:nvSpPr>
        <p:spPr>
          <a:xfrm>
            <a:off x="550506" y="1278294"/>
            <a:ext cx="3816221" cy="5355312"/>
          </a:xfrm>
          <a:prstGeom prst="rect">
            <a:avLst/>
          </a:prstGeom>
          <a:noFill/>
        </p:spPr>
        <p:txBody>
          <a:bodyPr wrap="square" rtlCol="0">
            <a:spAutoFit/>
          </a:bodyPr>
          <a:lstStyle/>
          <a:p>
            <a:r>
              <a:rPr lang="en-IN" dirty="0" err="1"/>
              <a:t>plt.figure</a:t>
            </a:r>
            <a:r>
              <a:rPr lang="en-IN" dirty="0"/>
              <a:t>(</a:t>
            </a:r>
            <a:r>
              <a:rPr lang="en-IN" dirty="0" err="1"/>
              <a:t>figsize</a:t>
            </a:r>
            <a:r>
              <a:rPr lang="en-IN" dirty="0"/>
              <a:t>=(9,6))</a:t>
            </a:r>
          </a:p>
          <a:p>
            <a:br>
              <a:rPr lang="en-IN" dirty="0"/>
            </a:br>
            <a:endParaRPr lang="en-IN" dirty="0"/>
          </a:p>
          <a:p>
            <a:r>
              <a:rPr lang="en-IN" dirty="0" err="1"/>
              <a:t>sns.scatterplot</a:t>
            </a:r>
            <a:r>
              <a:rPr lang="en-IN" dirty="0"/>
              <a:t>(</a:t>
            </a:r>
          </a:p>
          <a:p>
            <a:r>
              <a:rPr lang="en-IN" dirty="0"/>
              <a:t>    data=</a:t>
            </a:r>
            <a:r>
              <a:rPr lang="en-IN" dirty="0" err="1"/>
              <a:t>df_clean</a:t>
            </a:r>
            <a:r>
              <a:rPr lang="en-IN" dirty="0"/>
              <a:t>,</a:t>
            </a:r>
          </a:p>
          <a:p>
            <a:r>
              <a:rPr lang="en-IN" dirty="0"/>
              <a:t>    x='</a:t>
            </a:r>
            <a:r>
              <a:rPr lang="en-IN" dirty="0" err="1"/>
              <a:t>Disease_Pest_Risk_pct</a:t>
            </a:r>
            <a:r>
              <a:rPr lang="en-IN" dirty="0"/>
              <a:t>',</a:t>
            </a:r>
          </a:p>
          <a:p>
            <a:r>
              <a:rPr lang="en-IN" dirty="0"/>
              <a:t>    y='</a:t>
            </a:r>
            <a:r>
              <a:rPr lang="en-IN" dirty="0" err="1"/>
              <a:t>Yield_Tonnes_Ha</a:t>
            </a:r>
            <a:r>
              <a:rPr lang="en-IN" dirty="0"/>
              <a:t>',</a:t>
            </a:r>
          </a:p>
          <a:p>
            <a:r>
              <a:rPr lang="en-IN" dirty="0"/>
              <a:t>    hue='Season'</a:t>
            </a:r>
          </a:p>
          <a:p>
            <a:r>
              <a:rPr lang="en-IN" dirty="0"/>
              <a:t>)</a:t>
            </a:r>
          </a:p>
          <a:p>
            <a:br>
              <a:rPr lang="en-IN" dirty="0"/>
            </a:br>
            <a:endParaRPr lang="en-IN" dirty="0"/>
          </a:p>
          <a:p>
            <a:r>
              <a:rPr lang="en-IN" dirty="0" err="1"/>
              <a:t>plt.title</a:t>
            </a:r>
            <a:r>
              <a:rPr lang="en-IN" dirty="0"/>
              <a:t>('Disease/Pest Risk vs Agricultural Yield')</a:t>
            </a:r>
          </a:p>
          <a:p>
            <a:r>
              <a:rPr lang="en-IN" dirty="0" err="1"/>
              <a:t>plt.xlabel</a:t>
            </a:r>
            <a:r>
              <a:rPr lang="en-IN" dirty="0"/>
              <a:t>('Disease/Pest Risk (%)')</a:t>
            </a:r>
          </a:p>
          <a:p>
            <a:r>
              <a:rPr lang="en-IN" dirty="0" err="1"/>
              <a:t>plt.ylabel</a:t>
            </a:r>
            <a:r>
              <a:rPr lang="en-IN" dirty="0"/>
              <a:t>('Yield (Tonnes/Ha)')</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783A4F20-D9B0-CE8F-0CF9-A1E2AA6CC6AD}"/>
              </a:ext>
            </a:extLst>
          </p:cNvPr>
          <p:cNvPicPr>
            <a:picLocks noChangeAspect="1"/>
          </p:cNvPicPr>
          <p:nvPr/>
        </p:nvPicPr>
        <p:blipFill>
          <a:blip r:embed="rId2"/>
          <a:stretch>
            <a:fillRect/>
          </a:stretch>
        </p:blipFill>
        <p:spPr>
          <a:xfrm>
            <a:off x="4366727" y="928111"/>
            <a:ext cx="7651102" cy="5001778"/>
          </a:xfrm>
          <a:prstGeom prst="rect">
            <a:avLst/>
          </a:prstGeom>
        </p:spPr>
      </p:pic>
    </p:spTree>
    <p:extLst>
      <p:ext uri="{BB962C8B-B14F-4D97-AF65-F5344CB8AC3E}">
        <p14:creationId xmlns:p14="http://schemas.microsoft.com/office/powerpoint/2010/main" val="2257008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D51AB3-FD9D-E1B6-EF77-580608E80B2B}"/>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
        <p:nvSpPr>
          <p:cNvPr id="3" name="TextBox 2">
            <a:extLst>
              <a:ext uri="{FF2B5EF4-FFF2-40B4-BE49-F238E27FC236}">
                <a16:creationId xmlns:a16="http://schemas.microsoft.com/office/drawing/2014/main" id="{C92DB481-5A83-5AB8-1105-734D3076F506}"/>
              </a:ext>
            </a:extLst>
          </p:cNvPr>
          <p:cNvSpPr txBox="1"/>
          <p:nvPr/>
        </p:nvSpPr>
        <p:spPr>
          <a:xfrm>
            <a:off x="802433" y="345233"/>
            <a:ext cx="3704254" cy="5909310"/>
          </a:xfrm>
          <a:prstGeom prst="rect">
            <a:avLst/>
          </a:prstGeom>
          <a:noFill/>
        </p:spPr>
        <p:txBody>
          <a:bodyPr wrap="square" rtlCol="0">
            <a:spAutoFit/>
          </a:bodyPr>
          <a:lstStyle/>
          <a:p>
            <a:r>
              <a:rPr lang="en-IN" dirty="0"/>
              <a:t>seasons = </a:t>
            </a:r>
            <a:r>
              <a:rPr lang="en-IN" dirty="0" err="1"/>
              <a:t>df_clean</a:t>
            </a:r>
            <a:r>
              <a:rPr lang="en-IN" dirty="0"/>
              <a:t>['Season'].unique()</a:t>
            </a:r>
          </a:p>
          <a:p>
            <a:r>
              <a:rPr lang="en-IN" dirty="0" err="1"/>
              <a:t>season_groups</a:t>
            </a:r>
            <a:r>
              <a:rPr lang="en-IN" dirty="0"/>
              <a:t> = [</a:t>
            </a:r>
          </a:p>
          <a:p>
            <a:r>
              <a:rPr lang="en-IN" dirty="0"/>
              <a:t>    </a:t>
            </a:r>
            <a:r>
              <a:rPr lang="en-IN" dirty="0" err="1"/>
              <a:t>df_clean</a:t>
            </a:r>
            <a:r>
              <a:rPr lang="en-IN" dirty="0"/>
              <a:t>[</a:t>
            </a:r>
            <a:r>
              <a:rPr lang="en-IN" dirty="0" err="1"/>
              <a:t>df_clean</a:t>
            </a:r>
            <a:r>
              <a:rPr lang="en-IN" dirty="0"/>
              <a:t>['Season'] == season]['</a:t>
            </a:r>
            <a:r>
              <a:rPr lang="en-IN" dirty="0" err="1"/>
              <a:t>Yield_Tonnes_Ha</a:t>
            </a:r>
            <a:r>
              <a:rPr lang="en-IN" dirty="0"/>
              <a:t>']</a:t>
            </a:r>
          </a:p>
          <a:p>
            <a:r>
              <a:rPr lang="en-IN" dirty="0"/>
              <a:t>    for season in seasons</a:t>
            </a:r>
          </a:p>
          <a:p>
            <a:r>
              <a:rPr lang="en-IN" dirty="0"/>
              <a:t>]</a:t>
            </a:r>
          </a:p>
          <a:p>
            <a:r>
              <a:rPr lang="en-IN" dirty="0" err="1"/>
              <a:t>anova_stat</a:t>
            </a:r>
            <a:r>
              <a:rPr lang="en-IN" dirty="0"/>
              <a:t>, </a:t>
            </a:r>
            <a:r>
              <a:rPr lang="en-IN" dirty="0" err="1"/>
              <a:t>p_value</a:t>
            </a:r>
            <a:r>
              <a:rPr lang="en-IN" dirty="0"/>
              <a:t> = </a:t>
            </a:r>
            <a:r>
              <a:rPr lang="en-IN" dirty="0" err="1"/>
              <a:t>f_oneway</a:t>
            </a:r>
            <a:r>
              <a:rPr lang="en-IN" dirty="0"/>
              <a:t>(*</a:t>
            </a:r>
            <a:r>
              <a:rPr lang="en-IN" dirty="0" err="1"/>
              <a:t>season_groups</a:t>
            </a:r>
            <a:r>
              <a:rPr lang="en-IN" dirty="0"/>
              <a:t>)</a:t>
            </a:r>
          </a:p>
          <a:p>
            <a:r>
              <a:rPr lang="en-IN" dirty="0"/>
              <a:t>print("ANOVA F-statistic:", </a:t>
            </a:r>
            <a:r>
              <a:rPr lang="en-IN" dirty="0" err="1"/>
              <a:t>anova_stat</a:t>
            </a:r>
            <a:r>
              <a:rPr lang="en-IN" dirty="0"/>
              <a:t>)</a:t>
            </a:r>
          </a:p>
          <a:p>
            <a:r>
              <a:rPr lang="en-IN" dirty="0"/>
              <a:t>print("ANOVA p-value:", </a:t>
            </a:r>
            <a:r>
              <a:rPr lang="en-IN" dirty="0" err="1"/>
              <a:t>p_value</a:t>
            </a:r>
            <a:r>
              <a:rPr lang="en-IN" dirty="0"/>
              <a:t>)</a:t>
            </a:r>
          </a:p>
          <a:p>
            <a:r>
              <a:rPr lang="en-IN" dirty="0"/>
              <a:t>alpha = 0.05</a:t>
            </a:r>
          </a:p>
          <a:p>
            <a:r>
              <a:rPr lang="en-IN" dirty="0"/>
              <a:t>if </a:t>
            </a:r>
            <a:r>
              <a:rPr lang="en-IN" dirty="0" err="1"/>
              <a:t>p_value</a:t>
            </a:r>
            <a:r>
              <a:rPr lang="en-IN" dirty="0"/>
              <a:t> &lt; alpha:</a:t>
            </a:r>
          </a:p>
          <a:p>
            <a:r>
              <a:rPr lang="en-IN" dirty="0"/>
              <a:t>    print("\</a:t>
            </a:r>
            <a:r>
              <a:rPr lang="en-IN" dirty="0" err="1"/>
              <a:t>nResult</a:t>
            </a:r>
            <a:r>
              <a:rPr lang="en-IN" dirty="0"/>
              <a:t>: Yield differs significantly across seasons.")</a:t>
            </a:r>
          </a:p>
          <a:p>
            <a:r>
              <a:rPr lang="en-IN" dirty="0"/>
              <a:t>else:</a:t>
            </a:r>
          </a:p>
          <a:p>
            <a:r>
              <a:rPr lang="en-IN" dirty="0"/>
              <a:t>    print("\</a:t>
            </a:r>
            <a:r>
              <a:rPr lang="en-IN" dirty="0" err="1"/>
              <a:t>nResult</a:t>
            </a:r>
            <a:r>
              <a:rPr lang="en-IN" dirty="0"/>
              <a:t>: No statistically significant difference in yield across seasons.")</a:t>
            </a:r>
          </a:p>
          <a:p>
            <a:endParaRPr lang="en-IN" dirty="0"/>
          </a:p>
        </p:txBody>
      </p:sp>
      <p:sp>
        <p:nvSpPr>
          <p:cNvPr id="4" name="TextBox 3">
            <a:extLst>
              <a:ext uri="{FF2B5EF4-FFF2-40B4-BE49-F238E27FC236}">
                <a16:creationId xmlns:a16="http://schemas.microsoft.com/office/drawing/2014/main" id="{F4A2C9D6-66EE-C6D6-2CF7-9CCDD5734C9E}"/>
              </a:ext>
            </a:extLst>
          </p:cNvPr>
          <p:cNvSpPr txBox="1"/>
          <p:nvPr/>
        </p:nvSpPr>
        <p:spPr>
          <a:xfrm>
            <a:off x="5859624" y="2192694"/>
            <a:ext cx="5103845" cy="1754326"/>
          </a:xfrm>
          <a:prstGeom prst="rect">
            <a:avLst/>
          </a:prstGeom>
          <a:noFill/>
        </p:spPr>
        <p:txBody>
          <a:bodyPr wrap="square" rtlCol="0">
            <a:spAutoFit/>
          </a:bodyPr>
          <a:lstStyle/>
          <a:p>
            <a:r>
              <a:rPr lang="en-IN" dirty="0"/>
              <a:t>ANOVA F-statistic: 1.5438804542488311</a:t>
            </a:r>
          </a:p>
          <a:p>
            <a:r>
              <a:rPr lang="en-IN" dirty="0"/>
              <a:t>ANOVA p-value: 0.21367813841792296</a:t>
            </a:r>
          </a:p>
          <a:p>
            <a:endParaRPr lang="en-IN" dirty="0"/>
          </a:p>
          <a:p>
            <a:r>
              <a:rPr lang="en-IN" dirty="0"/>
              <a:t>Result: No statistically significant difference in yield across seasons.</a:t>
            </a:r>
          </a:p>
          <a:p>
            <a:endParaRPr lang="en-IN" dirty="0"/>
          </a:p>
        </p:txBody>
      </p:sp>
    </p:spTree>
    <p:extLst>
      <p:ext uri="{BB962C8B-B14F-4D97-AF65-F5344CB8AC3E}">
        <p14:creationId xmlns:p14="http://schemas.microsoft.com/office/powerpoint/2010/main" val="3106326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EC0008-F61C-8434-C44B-371444ECA7E2}"/>
              </a:ext>
            </a:extLst>
          </p:cNvPr>
          <p:cNvSpPr>
            <a:spLocks noGrp="1"/>
          </p:cNvSpPr>
          <p:nvPr>
            <p:ph type="sldNum" sz="quarter" idx="12"/>
          </p:nvPr>
        </p:nvSpPr>
        <p:spPr/>
        <p:txBody>
          <a:bodyPr/>
          <a:lstStyle/>
          <a:p>
            <a:fld id="{D57F1E4F-1CFF-5643-939E-217C01CDF565}" type="slidenum">
              <a:rPr lang="en-US" smtClean="0"/>
              <a:pPr/>
              <a:t>39</a:t>
            </a:fld>
            <a:endParaRPr lang="en-US" dirty="0"/>
          </a:p>
        </p:txBody>
      </p:sp>
      <p:sp>
        <p:nvSpPr>
          <p:cNvPr id="3" name="TextBox 2">
            <a:extLst>
              <a:ext uri="{FF2B5EF4-FFF2-40B4-BE49-F238E27FC236}">
                <a16:creationId xmlns:a16="http://schemas.microsoft.com/office/drawing/2014/main" id="{F613DEDA-1FF9-CC27-5ABB-CFD58A550DC1}"/>
              </a:ext>
            </a:extLst>
          </p:cNvPr>
          <p:cNvSpPr txBox="1"/>
          <p:nvPr/>
        </p:nvSpPr>
        <p:spPr>
          <a:xfrm>
            <a:off x="513184" y="1194318"/>
            <a:ext cx="4907902" cy="4801314"/>
          </a:xfrm>
          <a:prstGeom prst="rect">
            <a:avLst/>
          </a:prstGeom>
          <a:noFill/>
        </p:spPr>
        <p:txBody>
          <a:bodyPr wrap="square" rtlCol="0">
            <a:spAutoFit/>
          </a:bodyPr>
          <a:lstStyle/>
          <a:p>
            <a:r>
              <a:rPr lang="en-IN" dirty="0"/>
              <a:t>r, p = </a:t>
            </a:r>
            <a:r>
              <a:rPr lang="en-IN" dirty="0" err="1"/>
              <a:t>pearsonr</a:t>
            </a:r>
            <a:r>
              <a:rPr lang="en-IN" dirty="0"/>
              <a:t>(</a:t>
            </a:r>
          </a:p>
          <a:p>
            <a:r>
              <a:rPr lang="en-IN" dirty="0"/>
              <a:t>    </a:t>
            </a:r>
            <a:r>
              <a:rPr lang="en-IN" dirty="0" err="1"/>
              <a:t>df_clean</a:t>
            </a:r>
            <a:r>
              <a:rPr lang="en-IN" dirty="0"/>
              <a:t>['</a:t>
            </a:r>
            <a:r>
              <a:rPr lang="en-IN" dirty="0" err="1"/>
              <a:t>Rainfall_mm</a:t>
            </a:r>
            <a:r>
              <a:rPr lang="en-IN" dirty="0"/>
              <a:t>'],</a:t>
            </a:r>
          </a:p>
          <a:p>
            <a:r>
              <a:rPr lang="en-IN" dirty="0"/>
              <a:t>    </a:t>
            </a:r>
            <a:r>
              <a:rPr lang="en-IN" dirty="0" err="1"/>
              <a:t>df_clean</a:t>
            </a:r>
            <a:r>
              <a:rPr lang="en-IN" dirty="0"/>
              <a:t>['</a:t>
            </a:r>
            <a:r>
              <a:rPr lang="en-IN" dirty="0" err="1"/>
              <a:t>Yield_Tonnes_Ha</a:t>
            </a:r>
            <a:r>
              <a:rPr lang="en-IN" dirty="0"/>
              <a:t>']</a:t>
            </a:r>
          </a:p>
          <a:p>
            <a:r>
              <a:rPr lang="en-IN" dirty="0"/>
              <a:t>)</a:t>
            </a:r>
          </a:p>
          <a:p>
            <a:br>
              <a:rPr lang="en-IN" dirty="0"/>
            </a:br>
            <a:endParaRPr lang="en-IN" dirty="0"/>
          </a:p>
          <a:p>
            <a:r>
              <a:rPr lang="en-IN" dirty="0"/>
              <a:t>print("Pearson correlation coefficient:", r)</a:t>
            </a:r>
          </a:p>
          <a:p>
            <a:r>
              <a:rPr lang="en-IN" dirty="0"/>
              <a:t>print("p-value:", p)</a:t>
            </a:r>
          </a:p>
          <a:p>
            <a:br>
              <a:rPr lang="en-IN" dirty="0"/>
            </a:br>
            <a:endParaRPr lang="en-IN" dirty="0"/>
          </a:p>
          <a:p>
            <a:r>
              <a:rPr lang="en-IN" dirty="0"/>
              <a:t>if p &lt; 0.05:</a:t>
            </a:r>
          </a:p>
          <a:p>
            <a:r>
              <a:rPr lang="en-IN" dirty="0"/>
              <a:t>    print("The relationship is statistically significant.")</a:t>
            </a:r>
          </a:p>
          <a:p>
            <a:r>
              <a:rPr lang="en-IN" dirty="0"/>
              <a:t>else:</a:t>
            </a:r>
          </a:p>
          <a:p>
            <a:r>
              <a:rPr lang="en-IN" dirty="0"/>
              <a:t>    print("The relationship is not statistically significant.")</a:t>
            </a:r>
          </a:p>
          <a:p>
            <a:endParaRPr lang="en-IN" dirty="0"/>
          </a:p>
        </p:txBody>
      </p:sp>
      <p:sp>
        <p:nvSpPr>
          <p:cNvPr id="4" name="TextBox 3">
            <a:extLst>
              <a:ext uri="{FF2B5EF4-FFF2-40B4-BE49-F238E27FC236}">
                <a16:creationId xmlns:a16="http://schemas.microsoft.com/office/drawing/2014/main" id="{89CD1E95-11E5-E4FD-E76E-8EBA13D0EA4A}"/>
              </a:ext>
            </a:extLst>
          </p:cNvPr>
          <p:cNvSpPr txBox="1"/>
          <p:nvPr/>
        </p:nvSpPr>
        <p:spPr>
          <a:xfrm>
            <a:off x="7128588" y="2743200"/>
            <a:ext cx="4432041" cy="1754326"/>
          </a:xfrm>
          <a:prstGeom prst="rect">
            <a:avLst/>
          </a:prstGeom>
          <a:noFill/>
        </p:spPr>
        <p:txBody>
          <a:bodyPr wrap="square" rtlCol="0">
            <a:spAutoFit/>
          </a:bodyPr>
          <a:lstStyle/>
          <a:p>
            <a:r>
              <a:rPr lang="en-IN" dirty="0"/>
              <a:t>Pearson correlation coefficient: 0.030950993551650867</a:t>
            </a:r>
          </a:p>
          <a:p>
            <a:r>
              <a:rPr lang="en-IN" dirty="0"/>
              <a:t>p-value: 0.05030400505380311</a:t>
            </a:r>
          </a:p>
          <a:p>
            <a:r>
              <a:rPr lang="en-IN" dirty="0"/>
              <a:t>The relationship is not statistically significant.</a:t>
            </a:r>
          </a:p>
          <a:p>
            <a:endParaRPr lang="en-IN" dirty="0"/>
          </a:p>
        </p:txBody>
      </p:sp>
    </p:spTree>
    <p:extLst>
      <p:ext uri="{BB962C8B-B14F-4D97-AF65-F5344CB8AC3E}">
        <p14:creationId xmlns:p14="http://schemas.microsoft.com/office/powerpoint/2010/main" val="363063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B96E0C-1FA9-411D-01D5-332B944064DE}"/>
              </a:ext>
            </a:extLst>
          </p:cNvPr>
          <p:cNvSpPr>
            <a:spLocks noGrp="1"/>
          </p:cNvSpPr>
          <p:nvPr>
            <p:ph type="sldNum" sz="quarter" idx="12"/>
          </p:nvPr>
        </p:nvSpPr>
        <p:spPr/>
        <p:txBody>
          <a:bodyPr/>
          <a:lstStyle/>
          <a:p>
            <a:fld id="{D57F1E4F-1CFF-5643-939E-217C01CDF565}" type="slidenum">
              <a:rPr lang="en-US" smtClean="0"/>
              <a:pPr/>
              <a:t>40</a:t>
            </a:fld>
            <a:endParaRPr lang="en-US" dirty="0"/>
          </a:p>
        </p:txBody>
      </p:sp>
      <p:sp>
        <p:nvSpPr>
          <p:cNvPr id="3" name="TextBox 2">
            <a:extLst>
              <a:ext uri="{FF2B5EF4-FFF2-40B4-BE49-F238E27FC236}">
                <a16:creationId xmlns:a16="http://schemas.microsoft.com/office/drawing/2014/main" id="{39401CF4-A8E2-FFFD-5567-47A3473C6607}"/>
              </a:ext>
            </a:extLst>
          </p:cNvPr>
          <p:cNvSpPr txBox="1"/>
          <p:nvPr/>
        </p:nvSpPr>
        <p:spPr>
          <a:xfrm>
            <a:off x="531845" y="1623527"/>
            <a:ext cx="3740319" cy="2585323"/>
          </a:xfrm>
          <a:prstGeom prst="rect">
            <a:avLst/>
          </a:prstGeom>
          <a:noFill/>
        </p:spPr>
        <p:txBody>
          <a:bodyPr wrap="none" rtlCol="0">
            <a:spAutoFit/>
          </a:bodyPr>
          <a:lstStyle/>
          <a:p>
            <a:r>
              <a:rPr lang="en-IN" dirty="0"/>
              <a:t>r, p = </a:t>
            </a:r>
            <a:r>
              <a:rPr lang="en-IN" dirty="0" err="1"/>
              <a:t>pearsonr</a:t>
            </a:r>
            <a:r>
              <a:rPr lang="en-IN" dirty="0"/>
              <a:t>(</a:t>
            </a:r>
          </a:p>
          <a:p>
            <a:r>
              <a:rPr lang="en-IN" dirty="0"/>
              <a:t>    </a:t>
            </a:r>
            <a:r>
              <a:rPr lang="en-IN" dirty="0" err="1"/>
              <a:t>df_clean</a:t>
            </a:r>
            <a:r>
              <a:rPr lang="en-IN" dirty="0"/>
              <a:t>['</a:t>
            </a:r>
            <a:r>
              <a:rPr lang="en-IN" dirty="0" err="1"/>
              <a:t>Avg_Temperature_C</a:t>
            </a:r>
            <a:r>
              <a:rPr lang="en-IN" dirty="0"/>
              <a:t>'],</a:t>
            </a:r>
          </a:p>
          <a:p>
            <a:r>
              <a:rPr lang="en-IN" dirty="0"/>
              <a:t>    </a:t>
            </a:r>
            <a:r>
              <a:rPr lang="en-IN" dirty="0" err="1"/>
              <a:t>df_clean</a:t>
            </a:r>
            <a:r>
              <a:rPr lang="en-IN" dirty="0"/>
              <a:t>['</a:t>
            </a:r>
            <a:r>
              <a:rPr lang="en-IN" dirty="0" err="1"/>
              <a:t>Yield_Tonnes_Ha</a:t>
            </a:r>
            <a:r>
              <a:rPr lang="en-IN" dirty="0"/>
              <a:t>']</a:t>
            </a:r>
          </a:p>
          <a:p>
            <a:r>
              <a:rPr lang="en-IN" dirty="0"/>
              <a:t>)</a:t>
            </a:r>
          </a:p>
          <a:p>
            <a:br>
              <a:rPr lang="en-IN" dirty="0"/>
            </a:br>
            <a:endParaRPr lang="en-IN" dirty="0"/>
          </a:p>
          <a:p>
            <a:r>
              <a:rPr lang="en-IN" dirty="0"/>
              <a:t>print("Correlation coefficient:", r)</a:t>
            </a:r>
          </a:p>
          <a:p>
            <a:r>
              <a:rPr lang="en-IN" dirty="0"/>
              <a:t>print("p-value:", p)</a:t>
            </a:r>
          </a:p>
          <a:p>
            <a:endParaRPr lang="en-IN" dirty="0"/>
          </a:p>
        </p:txBody>
      </p:sp>
      <p:sp>
        <p:nvSpPr>
          <p:cNvPr id="4" name="TextBox 3">
            <a:extLst>
              <a:ext uri="{FF2B5EF4-FFF2-40B4-BE49-F238E27FC236}">
                <a16:creationId xmlns:a16="http://schemas.microsoft.com/office/drawing/2014/main" id="{0F79D96B-AEFE-A1D4-FCEA-626BB832987A}"/>
              </a:ext>
            </a:extLst>
          </p:cNvPr>
          <p:cNvSpPr txBox="1"/>
          <p:nvPr/>
        </p:nvSpPr>
        <p:spPr>
          <a:xfrm>
            <a:off x="5943600" y="2267339"/>
            <a:ext cx="5094664" cy="923330"/>
          </a:xfrm>
          <a:prstGeom prst="rect">
            <a:avLst/>
          </a:prstGeom>
          <a:noFill/>
        </p:spPr>
        <p:txBody>
          <a:bodyPr wrap="none" rtlCol="0">
            <a:spAutoFit/>
          </a:bodyPr>
          <a:lstStyle/>
          <a:p>
            <a:r>
              <a:rPr lang="en-IN" dirty="0"/>
              <a:t>Correlation coefficient: 0.009996320546703604</a:t>
            </a:r>
          </a:p>
          <a:p>
            <a:r>
              <a:rPr lang="en-IN" dirty="0"/>
              <a:t>p-value: 0.5273600766164954</a:t>
            </a:r>
          </a:p>
          <a:p>
            <a:endParaRPr lang="en-IN" dirty="0"/>
          </a:p>
        </p:txBody>
      </p:sp>
    </p:spTree>
    <p:extLst>
      <p:ext uri="{BB962C8B-B14F-4D97-AF65-F5344CB8AC3E}">
        <p14:creationId xmlns:p14="http://schemas.microsoft.com/office/powerpoint/2010/main" val="4068264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B42F38-6E3F-F4B4-4CF1-F6ECDC069B0D}"/>
              </a:ext>
            </a:extLst>
          </p:cNvPr>
          <p:cNvSpPr>
            <a:spLocks noGrp="1"/>
          </p:cNvSpPr>
          <p:nvPr>
            <p:ph type="sldNum" sz="quarter" idx="12"/>
          </p:nvPr>
        </p:nvSpPr>
        <p:spPr/>
        <p:txBody>
          <a:bodyPr/>
          <a:lstStyle/>
          <a:p>
            <a:fld id="{D57F1E4F-1CFF-5643-939E-217C01CDF565}" type="slidenum">
              <a:rPr lang="en-US" smtClean="0"/>
              <a:pPr/>
              <a:t>41</a:t>
            </a:fld>
            <a:endParaRPr lang="en-US" dirty="0"/>
          </a:p>
        </p:txBody>
      </p:sp>
      <p:sp>
        <p:nvSpPr>
          <p:cNvPr id="3" name="TextBox 2">
            <a:extLst>
              <a:ext uri="{FF2B5EF4-FFF2-40B4-BE49-F238E27FC236}">
                <a16:creationId xmlns:a16="http://schemas.microsoft.com/office/drawing/2014/main" id="{85F41382-1625-FD1A-880F-383568E0EA86}"/>
              </a:ext>
            </a:extLst>
          </p:cNvPr>
          <p:cNvSpPr txBox="1"/>
          <p:nvPr/>
        </p:nvSpPr>
        <p:spPr>
          <a:xfrm>
            <a:off x="737118" y="1194318"/>
            <a:ext cx="3692036" cy="2585323"/>
          </a:xfrm>
          <a:prstGeom prst="rect">
            <a:avLst/>
          </a:prstGeom>
          <a:noFill/>
        </p:spPr>
        <p:txBody>
          <a:bodyPr wrap="none" rtlCol="0">
            <a:spAutoFit/>
          </a:bodyPr>
          <a:lstStyle/>
          <a:p>
            <a:r>
              <a:rPr lang="en-IN" dirty="0"/>
              <a:t>r, p = </a:t>
            </a:r>
            <a:r>
              <a:rPr lang="en-IN" dirty="0" err="1"/>
              <a:t>pearsonr</a:t>
            </a:r>
            <a:r>
              <a:rPr lang="en-IN" dirty="0"/>
              <a:t>(</a:t>
            </a:r>
          </a:p>
          <a:p>
            <a:r>
              <a:rPr lang="en-IN" dirty="0"/>
              <a:t>    </a:t>
            </a:r>
            <a:r>
              <a:rPr lang="en-IN" dirty="0" err="1"/>
              <a:t>df_clean</a:t>
            </a:r>
            <a:r>
              <a:rPr lang="en-IN" dirty="0"/>
              <a:t>['Water_Used_m3'],</a:t>
            </a:r>
          </a:p>
          <a:p>
            <a:r>
              <a:rPr lang="en-IN" dirty="0"/>
              <a:t>    </a:t>
            </a:r>
            <a:r>
              <a:rPr lang="en-IN" dirty="0" err="1"/>
              <a:t>df_clean</a:t>
            </a:r>
            <a:r>
              <a:rPr lang="en-IN" dirty="0"/>
              <a:t>['</a:t>
            </a:r>
            <a:r>
              <a:rPr lang="en-IN" dirty="0" err="1"/>
              <a:t>Yield_Tonnes_Ha</a:t>
            </a:r>
            <a:r>
              <a:rPr lang="en-IN" dirty="0"/>
              <a:t>']</a:t>
            </a:r>
          </a:p>
          <a:p>
            <a:r>
              <a:rPr lang="en-IN" dirty="0"/>
              <a:t>)</a:t>
            </a:r>
          </a:p>
          <a:p>
            <a:br>
              <a:rPr lang="en-IN" dirty="0"/>
            </a:br>
            <a:endParaRPr lang="en-IN" dirty="0"/>
          </a:p>
          <a:p>
            <a:r>
              <a:rPr lang="en-IN" dirty="0"/>
              <a:t>print("Correlation coefficient:", r)</a:t>
            </a:r>
          </a:p>
          <a:p>
            <a:r>
              <a:rPr lang="en-IN" dirty="0"/>
              <a:t>print("p-value:", p)</a:t>
            </a:r>
          </a:p>
          <a:p>
            <a:endParaRPr lang="en-IN" dirty="0"/>
          </a:p>
        </p:txBody>
      </p:sp>
      <p:sp>
        <p:nvSpPr>
          <p:cNvPr id="4" name="TextBox 3">
            <a:extLst>
              <a:ext uri="{FF2B5EF4-FFF2-40B4-BE49-F238E27FC236}">
                <a16:creationId xmlns:a16="http://schemas.microsoft.com/office/drawing/2014/main" id="{3EC905D0-B6DD-0733-7075-8A7953A9DAAD}"/>
              </a:ext>
            </a:extLst>
          </p:cNvPr>
          <p:cNvSpPr txBox="1"/>
          <p:nvPr/>
        </p:nvSpPr>
        <p:spPr>
          <a:xfrm>
            <a:off x="5990253" y="2435290"/>
            <a:ext cx="4851008" cy="923330"/>
          </a:xfrm>
          <a:prstGeom prst="rect">
            <a:avLst/>
          </a:prstGeom>
          <a:noFill/>
        </p:spPr>
        <p:txBody>
          <a:bodyPr wrap="none" rtlCol="0">
            <a:spAutoFit/>
          </a:bodyPr>
          <a:lstStyle/>
          <a:p>
            <a:r>
              <a:rPr lang="en-IN" dirty="0"/>
              <a:t>Correlation coefficient: 0.3862938118886715</a:t>
            </a:r>
          </a:p>
          <a:p>
            <a:r>
              <a:rPr lang="en-IN" dirty="0"/>
              <a:t>p-value: 1.64140286973321e-142</a:t>
            </a:r>
          </a:p>
          <a:p>
            <a:endParaRPr lang="en-IN" dirty="0"/>
          </a:p>
        </p:txBody>
      </p:sp>
    </p:spTree>
    <p:extLst>
      <p:ext uri="{BB962C8B-B14F-4D97-AF65-F5344CB8AC3E}">
        <p14:creationId xmlns:p14="http://schemas.microsoft.com/office/powerpoint/2010/main" val="2123252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40828A-387E-7CA7-EE03-FF9AF3D58640}"/>
              </a:ext>
            </a:extLst>
          </p:cNvPr>
          <p:cNvSpPr>
            <a:spLocks noGrp="1"/>
          </p:cNvSpPr>
          <p:nvPr>
            <p:ph type="sldNum" sz="quarter" idx="12"/>
          </p:nvPr>
        </p:nvSpPr>
        <p:spPr/>
        <p:txBody>
          <a:bodyPr/>
          <a:lstStyle/>
          <a:p>
            <a:fld id="{D57F1E4F-1CFF-5643-939E-217C01CDF565}" type="slidenum">
              <a:rPr lang="en-US" smtClean="0"/>
              <a:pPr/>
              <a:t>42</a:t>
            </a:fld>
            <a:endParaRPr lang="en-US" dirty="0"/>
          </a:p>
        </p:txBody>
      </p:sp>
      <p:sp>
        <p:nvSpPr>
          <p:cNvPr id="3" name="TextBox 2">
            <a:extLst>
              <a:ext uri="{FF2B5EF4-FFF2-40B4-BE49-F238E27FC236}">
                <a16:creationId xmlns:a16="http://schemas.microsoft.com/office/drawing/2014/main" id="{1AFE74BB-CC06-6A0F-1FB7-FC398C4CAD4B}"/>
              </a:ext>
            </a:extLst>
          </p:cNvPr>
          <p:cNvSpPr txBox="1"/>
          <p:nvPr/>
        </p:nvSpPr>
        <p:spPr>
          <a:xfrm>
            <a:off x="130629" y="1035698"/>
            <a:ext cx="3181739" cy="5786199"/>
          </a:xfrm>
          <a:prstGeom prst="rect">
            <a:avLst/>
          </a:prstGeom>
          <a:noFill/>
        </p:spPr>
        <p:txBody>
          <a:bodyPr wrap="square" rtlCol="0">
            <a:spAutoFit/>
          </a:bodyPr>
          <a:lstStyle/>
          <a:p>
            <a:r>
              <a:rPr lang="en-IN" sz="1600" dirty="0"/>
              <a:t>Q1 = </a:t>
            </a:r>
            <a:r>
              <a:rPr lang="en-IN" sz="1600" dirty="0" err="1"/>
              <a:t>df_clean</a:t>
            </a:r>
            <a:r>
              <a:rPr lang="en-IN" sz="1600" dirty="0"/>
              <a:t>['</a:t>
            </a:r>
            <a:r>
              <a:rPr lang="en-IN" sz="1600" dirty="0" err="1"/>
              <a:t>Yield_Tonnes_Ha</a:t>
            </a:r>
            <a:r>
              <a:rPr lang="en-IN" sz="1600" dirty="0"/>
              <a:t>'].quantile(0.25)</a:t>
            </a:r>
          </a:p>
          <a:p>
            <a:r>
              <a:rPr lang="en-IN" sz="1600" dirty="0"/>
              <a:t>Q3 = </a:t>
            </a:r>
            <a:r>
              <a:rPr lang="en-IN" sz="1600" dirty="0" err="1"/>
              <a:t>df_clean</a:t>
            </a:r>
            <a:r>
              <a:rPr lang="en-IN" sz="1600" dirty="0"/>
              <a:t>['</a:t>
            </a:r>
            <a:r>
              <a:rPr lang="en-IN" sz="1600" dirty="0" err="1"/>
              <a:t>Yield_Tonnes_Ha</a:t>
            </a:r>
            <a:r>
              <a:rPr lang="en-IN" sz="1600" dirty="0"/>
              <a:t>'].quantile(0.75)</a:t>
            </a:r>
          </a:p>
          <a:p>
            <a:r>
              <a:rPr lang="en-IN" sz="1600" dirty="0"/>
              <a:t>IQR = Q3 - Q1</a:t>
            </a:r>
          </a:p>
          <a:p>
            <a:r>
              <a:rPr lang="en-IN" sz="1600" dirty="0" err="1"/>
              <a:t>lower_bound</a:t>
            </a:r>
            <a:r>
              <a:rPr lang="en-IN" sz="1600" dirty="0"/>
              <a:t> = Q1 - 1.5 * IQR</a:t>
            </a:r>
          </a:p>
          <a:p>
            <a:r>
              <a:rPr lang="en-IN" sz="1600" dirty="0" err="1"/>
              <a:t>upper_bound</a:t>
            </a:r>
            <a:r>
              <a:rPr lang="en-IN" sz="1600" dirty="0"/>
              <a:t> = Q3 + 1.5 * IQR</a:t>
            </a:r>
          </a:p>
          <a:p>
            <a:r>
              <a:rPr lang="en-IN" sz="1600" dirty="0"/>
              <a:t>outliers = </a:t>
            </a:r>
            <a:r>
              <a:rPr lang="en-IN" sz="1600" dirty="0" err="1"/>
              <a:t>df_clean</a:t>
            </a:r>
            <a:r>
              <a:rPr lang="en-IN" sz="1600" dirty="0"/>
              <a:t>[</a:t>
            </a:r>
          </a:p>
          <a:p>
            <a:r>
              <a:rPr lang="en-IN" sz="1600" dirty="0"/>
              <a:t>    (</a:t>
            </a:r>
            <a:r>
              <a:rPr lang="en-IN" sz="1600" dirty="0" err="1"/>
              <a:t>df_clean</a:t>
            </a:r>
            <a:r>
              <a:rPr lang="en-IN" sz="1600" dirty="0"/>
              <a:t>['</a:t>
            </a:r>
            <a:r>
              <a:rPr lang="en-IN" sz="1600" dirty="0" err="1"/>
              <a:t>Yield_Tonnes_Ha</a:t>
            </a:r>
            <a:r>
              <a:rPr lang="en-IN" sz="1600" dirty="0"/>
              <a:t>'] &lt; </a:t>
            </a:r>
            <a:r>
              <a:rPr lang="en-IN" sz="1600" dirty="0" err="1"/>
              <a:t>lower_bound</a:t>
            </a:r>
            <a:r>
              <a:rPr lang="en-IN" sz="1600" dirty="0"/>
              <a:t>) |</a:t>
            </a:r>
          </a:p>
          <a:p>
            <a:r>
              <a:rPr lang="en-IN" sz="1600" dirty="0"/>
              <a:t>    (</a:t>
            </a:r>
            <a:r>
              <a:rPr lang="en-IN" sz="1600" dirty="0" err="1"/>
              <a:t>df_clean</a:t>
            </a:r>
            <a:r>
              <a:rPr lang="en-IN" sz="1600" dirty="0"/>
              <a:t>['</a:t>
            </a:r>
            <a:r>
              <a:rPr lang="en-IN" sz="1600" dirty="0" err="1"/>
              <a:t>Yield_Tonnes_Ha</a:t>
            </a:r>
            <a:r>
              <a:rPr lang="en-IN" sz="1600" dirty="0"/>
              <a:t>'] &gt; </a:t>
            </a:r>
            <a:r>
              <a:rPr lang="en-IN" sz="1600" dirty="0" err="1"/>
              <a:t>upper_bound</a:t>
            </a:r>
            <a:r>
              <a:rPr lang="en-IN" sz="1600" dirty="0"/>
              <a:t>)</a:t>
            </a:r>
          </a:p>
          <a:p>
            <a:r>
              <a:rPr lang="en-IN" sz="1600" dirty="0"/>
              <a:t>]</a:t>
            </a:r>
          </a:p>
          <a:p>
            <a:r>
              <a:rPr lang="en-IN" sz="1600" dirty="0"/>
              <a:t>print("Lower bound:", </a:t>
            </a:r>
            <a:r>
              <a:rPr lang="en-IN" sz="1600" dirty="0" err="1"/>
              <a:t>lower_bound</a:t>
            </a:r>
            <a:r>
              <a:rPr lang="en-IN" sz="1600" dirty="0"/>
              <a:t>)</a:t>
            </a:r>
          </a:p>
          <a:p>
            <a:r>
              <a:rPr lang="en-IN" sz="1600" dirty="0"/>
              <a:t>print("Upper bound:", </a:t>
            </a:r>
            <a:r>
              <a:rPr lang="en-IN" sz="1600" dirty="0" err="1"/>
              <a:t>upper_bound</a:t>
            </a:r>
            <a:r>
              <a:rPr lang="en-IN" sz="1600" dirty="0"/>
              <a:t>)</a:t>
            </a:r>
          </a:p>
          <a:p>
            <a:r>
              <a:rPr lang="en-IN" sz="1600" dirty="0"/>
              <a:t>print("Number of yield outliers:", </a:t>
            </a:r>
            <a:r>
              <a:rPr lang="en-IN" sz="1600" dirty="0" err="1"/>
              <a:t>len</a:t>
            </a:r>
            <a:r>
              <a:rPr lang="en-IN" sz="1600" dirty="0"/>
              <a:t>(outliers))</a:t>
            </a:r>
          </a:p>
          <a:p>
            <a:r>
              <a:rPr lang="en-IN" sz="1600" dirty="0"/>
              <a:t>display(</a:t>
            </a:r>
            <a:r>
              <a:rPr lang="en-IN" sz="1600" dirty="0" err="1"/>
              <a:t>outliers.head</a:t>
            </a:r>
            <a:r>
              <a:rPr lang="en-IN" sz="1600" dirty="0"/>
              <a:t>(20))</a:t>
            </a:r>
          </a:p>
          <a:p>
            <a:endParaRPr lang="en-IN" dirty="0"/>
          </a:p>
        </p:txBody>
      </p:sp>
      <p:sp>
        <p:nvSpPr>
          <p:cNvPr id="4" name="TextBox 3">
            <a:extLst>
              <a:ext uri="{FF2B5EF4-FFF2-40B4-BE49-F238E27FC236}">
                <a16:creationId xmlns:a16="http://schemas.microsoft.com/office/drawing/2014/main" id="{0211D3F9-69A7-055E-D760-EF2E75A2856F}"/>
              </a:ext>
            </a:extLst>
          </p:cNvPr>
          <p:cNvSpPr txBox="1"/>
          <p:nvPr/>
        </p:nvSpPr>
        <p:spPr>
          <a:xfrm>
            <a:off x="4534678" y="1035698"/>
            <a:ext cx="0" cy="0"/>
          </a:xfrm>
          <a:prstGeom prst="rect">
            <a:avLst/>
          </a:prstGeom>
          <a:noFill/>
        </p:spPr>
        <p:txBody>
          <a:bodyPr wrap="none" rtlCol="0">
            <a:spAutoFit/>
          </a:bodyPr>
          <a:lstStyle/>
          <a:p>
            <a:endParaRPr lang="en-IN" dirty="0"/>
          </a:p>
        </p:txBody>
      </p:sp>
      <p:pic>
        <p:nvPicPr>
          <p:cNvPr id="10" name="Picture 9">
            <a:extLst>
              <a:ext uri="{FF2B5EF4-FFF2-40B4-BE49-F238E27FC236}">
                <a16:creationId xmlns:a16="http://schemas.microsoft.com/office/drawing/2014/main" id="{0176C457-B6A4-7765-7947-AB935773FB02}"/>
              </a:ext>
            </a:extLst>
          </p:cNvPr>
          <p:cNvPicPr>
            <a:picLocks noChangeAspect="1"/>
          </p:cNvPicPr>
          <p:nvPr/>
        </p:nvPicPr>
        <p:blipFill>
          <a:blip r:embed="rId2"/>
          <a:stretch>
            <a:fillRect/>
          </a:stretch>
        </p:blipFill>
        <p:spPr>
          <a:xfrm>
            <a:off x="3200400" y="895130"/>
            <a:ext cx="8980697" cy="5067739"/>
          </a:xfrm>
          <a:prstGeom prst="rect">
            <a:avLst/>
          </a:prstGeom>
        </p:spPr>
      </p:pic>
    </p:spTree>
    <p:extLst>
      <p:ext uri="{BB962C8B-B14F-4D97-AF65-F5344CB8AC3E}">
        <p14:creationId xmlns:p14="http://schemas.microsoft.com/office/powerpoint/2010/main" val="1834452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C55014-83C3-56D1-DE67-40568FDC52BC}"/>
              </a:ext>
            </a:extLst>
          </p:cNvPr>
          <p:cNvSpPr>
            <a:spLocks noGrp="1"/>
          </p:cNvSpPr>
          <p:nvPr>
            <p:ph type="sldNum" sz="quarter" idx="12"/>
          </p:nvPr>
        </p:nvSpPr>
        <p:spPr/>
        <p:txBody>
          <a:bodyPr/>
          <a:lstStyle/>
          <a:p>
            <a:fld id="{D57F1E4F-1CFF-5643-939E-217C01CDF565}" type="slidenum">
              <a:rPr lang="en-US" smtClean="0"/>
              <a:pPr/>
              <a:t>43</a:t>
            </a:fld>
            <a:endParaRPr lang="en-US" dirty="0"/>
          </a:p>
        </p:txBody>
      </p:sp>
      <p:sp>
        <p:nvSpPr>
          <p:cNvPr id="3" name="TextBox 2">
            <a:extLst>
              <a:ext uri="{FF2B5EF4-FFF2-40B4-BE49-F238E27FC236}">
                <a16:creationId xmlns:a16="http://schemas.microsoft.com/office/drawing/2014/main" id="{00142507-BCE2-24C7-4C11-63E00B1B3EEF}"/>
              </a:ext>
            </a:extLst>
          </p:cNvPr>
          <p:cNvSpPr txBox="1"/>
          <p:nvPr/>
        </p:nvSpPr>
        <p:spPr>
          <a:xfrm>
            <a:off x="494522" y="1119673"/>
            <a:ext cx="4282751" cy="4247317"/>
          </a:xfrm>
          <a:prstGeom prst="rect">
            <a:avLst/>
          </a:prstGeom>
          <a:noFill/>
        </p:spPr>
        <p:txBody>
          <a:bodyPr wrap="square" rtlCol="0">
            <a:spAutoFit/>
          </a:bodyPr>
          <a:lstStyle/>
          <a:p>
            <a:r>
              <a:rPr lang="en-IN" dirty="0" err="1"/>
              <a:t>season_variability</a:t>
            </a:r>
            <a:r>
              <a:rPr lang="en-IN" dirty="0"/>
              <a:t> = </a:t>
            </a:r>
            <a:r>
              <a:rPr lang="en-IN" dirty="0" err="1"/>
              <a:t>df_clean.groupby</a:t>
            </a:r>
            <a:r>
              <a:rPr lang="en-IN" dirty="0"/>
              <a:t>('Season').</a:t>
            </a:r>
            <a:r>
              <a:rPr lang="en-IN" dirty="0" err="1"/>
              <a:t>agg</a:t>
            </a:r>
            <a:r>
              <a:rPr lang="en-IN" dirty="0"/>
              <a:t>({</a:t>
            </a:r>
          </a:p>
          <a:p>
            <a:br>
              <a:rPr lang="en-IN" dirty="0"/>
            </a:br>
            <a:endParaRPr lang="en-IN" dirty="0"/>
          </a:p>
          <a:p>
            <a:r>
              <a:rPr lang="en-IN" dirty="0"/>
              <a:t>    '</a:t>
            </a:r>
            <a:r>
              <a:rPr lang="en-IN" dirty="0" err="1"/>
              <a:t>Yield_Tonnes_Ha</a:t>
            </a:r>
            <a:r>
              <a:rPr lang="en-IN" dirty="0"/>
              <a:t>': ['mean', 'std', 'min', 'max'],</a:t>
            </a:r>
          </a:p>
          <a:p>
            <a:r>
              <a:rPr lang="en-IN" dirty="0"/>
              <a:t>    '</a:t>
            </a:r>
            <a:r>
              <a:rPr lang="en-IN" dirty="0" err="1"/>
              <a:t>Profit_INR</a:t>
            </a:r>
            <a:r>
              <a:rPr lang="en-IN" dirty="0"/>
              <a:t>': ['mean', 'std'],</a:t>
            </a:r>
          </a:p>
          <a:p>
            <a:r>
              <a:rPr lang="en-IN" dirty="0"/>
              <a:t>    'Water_Used_m3': ['mean', 'std']</a:t>
            </a:r>
          </a:p>
          <a:p>
            <a:br>
              <a:rPr lang="en-IN" dirty="0"/>
            </a:br>
            <a:endParaRPr lang="en-IN" dirty="0"/>
          </a:p>
          <a:p>
            <a:r>
              <a:rPr lang="en-IN" dirty="0"/>
              <a:t>}).round(2)</a:t>
            </a:r>
          </a:p>
          <a:p>
            <a:br>
              <a:rPr lang="en-IN" dirty="0"/>
            </a:br>
            <a:endParaRPr lang="en-IN" dirty="0"/>
          </a:p>
          <a:p>
            <a:r>
              <a:rPr lang="en-IN" dirty="0"/>
              <a:t>display(</a:t>
            </a:r>
            <a:r>
              <a:rPr lang="en-IN" dirty="0" err="1"/>
              <a:t>season_variability</a:t>
            </a:r>
            <a:r>
              <a:rPr lang="en-IN" dirty="0"/>
              <a:t>)</a:t>
            </a:r>
          </a:p>
          <a:p>
            <a:endParaRPr lang="en-IN" dirty="0"/>
          </a:p>
        </p:txBody>
      </p:sp>
      <p:graphicFrame>
        <p:nvGraphicFramePr>
          <p:cNvPr id="4" name="Table 3">
            <a:extLst>
              <a:ext uri="{FF2B5EF4-FFF2-40B4-BE49-F238E27FC236}">
                <a16:creationId xmlns:a16="http://schemas.microsoft.com/office/drawing/2014/main" id="{78FCE860-C2CA-7D25-0408-739CDC735607}"/>
              </a:ext>
            </a:extLst>
          </p:cNvPr>
          <p:cNvGraphicFramePr>
            <a:graphicFrameLocks noGrp="1"/>
          </p:cNvGraphicFramePr>
          <p:nvPr>
            <p:extLst>
              <p:ext uri="{D42A27DB-BD31-4B8C-83A1-F6EECF244321}">
                <p14:modId xmlns:p14="http://schemas.microsoft.com/office/powerpoint/2010/main" val="2796916179"/>
              </p:ext>
            </p:extLst>
          </p:nvPr>
        </p:nvGraphicFramePr>
        <p:xfrm>
          <a:off x="4254759" y="1074887"/>
          <a:ext cx="7897086" cy="5331600"/>
        </p:xfrm>
        <a:graphic>
          <a:graphicData uri="http://schemas.openxmlformats.org/drawingml/2006/table">
            <a:tbl>
              <a:tblPr>
                <a:tableStyleId>{6E25E649-3F16-4E02-A733-19D2CDBF48F0}</a:tableStyleId>
              </a:tblPr>
              <a:tblGrid>
                <a:gridCol w="877454">
                  <a:extLst>
                    <a:ext uri="{9D8B030D-6E8A-4147-A177-3AD203B41FA5}">
                      <a16:colId xmlns:a16="http://schemas.microsoft.com/office/drawing/2014/main" val="3290661785"/>
                    </a:ext>
                  </a:extLst>
                </a:gridCol>
                <a:gridCol w="877454">
                  <a:extLst>
                    <a:ext uri="{9D8B030D-6E8A-4147-A177-3AD203B41FA5}">
                      <a16:colId xmlns:a16="http://schemas.microsoft.com/office/drawing/2014/main" val="531403078"/>
                    </a:ext>
                  </a:extLst>
                </a:gridCol>
                <a:gridCol w="877454">
                  <a:extLst>
                    <a:ext uri="{9D8B030D-6E8A-4147-A177-3AD203B41FA5}">
                      <a16:colId xmlns:a16="http://schemas.microsoft.com/office/drawing/2014/main" val="4077862266"/>
                    </a:ext>
                  </a:extLst>
                </a:gridCol>
                <a:gridCol w="877454">
                  <a:extLst>
                    <a:ext uri="{9D8B030D-6E8A-4147-A177-3AD203B41FA5}">
                      <a16:colId xmlns:a16="http://schemas.microsoft.com/office/drawing/2014/main" val="3280521473"/>
                    </a:ext>
                  </a:extLst>
                </a:gridCol>
                <a:gridCol w="877454">
                  <a:extLst>
                    <a:ext uri="{9D8B030D-6E8A-4147-A177-3AD203B41FA5}">
                      <a16:colId xmlns:a16="http://schemas.microsoft.com/office/drawing/2014/main" val="2607663838"/>
                    </a:ext>
                  </a:extLst>
                </a:gridCol>
                <a:gridCol w="877454">
                  <a:extLst>
                    <a:ext uri="{9D8B030D-6E8A-4147-A177-3AD203B41FA5}">
                      <a16:colId xmlns:a16="http://schemas.microsoft.com/office/drawing/2014/main" val="2069877006"/>
                    </a:ext>
                  </a:extLst>
                </a:gridCol>
                <a:gridCol w="877454">
                  <a:extLst>
                    <a:ext uri="{9D8B030D-6E8A-4147-A177-3AD203B41FA5}">
                      <a16:colId xmlns:a16="http://schemas.microsoft.com/office/drawing/2014/main" val="2885932619"/>
                    </a:ext>
                  </a:extLst>
                </a:gridCol>
                <a:gridCol w="877454">
                  <a:extLst>
                    <a:ext uri="{9D8B030D-6E8A-4147-A177-3AD203B41FA5}">
                      <a16:colId xmlns:a16="http://schemas.microsoft.com/office/drawing/2014/main" val="3607847651"/>
                    </a:ext>
                  </a:extLst>
                </a:gridCol>
                <a:gridCol w="877454">
                  <a:extLst>
                    <a:ext uri="{9D8B030D-6E8A-4147-A177-3AD203B41FA5}">
                      <a16:colId xmlns:a16="http://schemas.microsoft.com/office/drawing/2014/main" val="388455347"/>
                    </a:ext>
                  </a:extLst>
                </a:gridCol>
              </a:tblGrid>
              <a:tr h="731788">
                <a:tc>
                  <a:txBody>
                    <a:bodyPr/>
                    <a:lstStyle/>
                    <a:p>
                      <a:pPr fontAlgn="t">
                        <a:buNone/>
                      </a:pPr>
                      <a:endParaRPr lang="en-IN" sz="1800">
                        <a:effectLst/>
                      </a:endParaRPr>
                    </a:p>
                  </a:txBody>
                  <a:tcPr/>
                </a:tc>
                <a:tc gridSpan="4">
                  <a:txBody>
                    <a:bodyPr/>
                    <a:lstStyle/>
                    <a:p>
                      <a:pPr fontAlgn="t">
                        <a:buNone/>
                      </a:pPr>
                      <a:r>
                        <a:rPr lang="en-IN" sz="1800">
                          <a:effectLst/>
                        </a:rPr>
                        <a:t>Yield_Tonnes_Ha</a:t>
                      </a:r>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2">
                  <a:txBody>
                    <a:bodyPr/>
                    <a:lstStyle/>
                    <a:p>
                      <a:pPr fontAlgn="t">
                        <a:buNone/>
                      </a:pPr>
                      <a:r>
                        <a:rPr lang="en-IN" sz="1800">
                          <a:effectLst/>
                        </a:rPr>
                        <a:t>Profit_INR</a:t>
                      </a:r>
                    </a:p>
                  </a:txBody>
                  <a:tcPr/>
                </a:tc>
                <a:tc hMerge="1">
                  <a:txBody>
                    <a:bodyPr/>
                    <a:lstStyle/>
                    <a:p>
                      <a:endParaRPr lang="en-IN"/>
                    </a:p>
                  </a:txBody>
                  <a:tcPr/>
                </a:tc>
                <a:tc gridSpan="2">
                  <a:txBody>
                    <a:bodyPr/>
                    <a:lstStyle/>
                    <a:p>
                      <a:pPr fontAlgn="t">
                        <a:buNone/>
                      </a:pPr>
                      <a:r>
                        <a:rPr lang="en-IN" sz="1800">
                          <a:effectLst/>
                        </a:rPr>
                        <a:t>Water_Used_m3</a:t>
                      </a:r>
                    </a:p>
                  </a:txBody>
                  <a:tcPr/>
                </a:tc>
                <a:tc hMerge="1">
                  <a:txBody>
                    <a:bodyPr/>
                    <a:lstStyle/>
                    <a:p>
                      <a:endParaRPr lang="en-IN"/>
                    </a:p>
                  </a:txBody>
                  <a:tcPr/>
                </a:tc>
                <a:extLst>
                  <a:ext uri="{0D108BD9-81ED-4DB2-BD59-A6C34878D82A}">
                    <a16:rowId xmlns:a16="http://schemas.microsoft.com/office/drawing/2014/main" val="1802193686"/>
                  </a:ext>
                </a:extLst>
              </a:tr>
              <a:tr h="731788">
                <a:tc>
                  <a:txBody>
                    <a:bodyPr/>
                    <a:lstStyle/>
                    <a:p>
                      <a:pPr fontAlgn="t">
                        <a:buNone/>
                      </a:pPr>
                      <a:endParaRPr lang="en-IN" sz="1800">
                        <a:effectLst/>
                      </a:endParaRPr>
                    </a:p>
                  </a:txBody>
                  <a:tcPr/>
                </a:tc>
                <a:tc>
                  <a:txBody>
                    <a:bodyPr/>
                    <a:lstStyle/>
                    <a:p>
                      <a:pPr fontAlgn="t">
                        <a:buNone/>
                      </a:pPr>
                      <a:r>
                        <a:rPr lang="en-IN" sz="1800">
                          <a:effectLst/>
                        </a:rPr>
                        <a:t>mean</a:t>
                      </a:r>
                    </a:p>
                  </a:txBody>
                  <a:tcPr/>
                </a:tc>
                <a:tc>
                  <a:txBody>
                    <a:bodyPr/>
                    <a:lstStyle/>
                    <a:p>
                      <a:pPr fontAlgn="t">
                        <a:buNone/>
                      </a:pPr>
                      <a:r>
                        <a:rPr lang="en-IN" sz="1800">
                          <a:effectLst/>
                        </a:rPr>
                        <a:t>std</a:t>
                      </a:r>
                    </a:p>
                  </a:txBody>
                  <a:tcPr/>
                </a:tc>
                <a:tc>
                  <a:txBody>
                    <a:bodyPr/>
                    <a:lstStyle/>
                    <a:p>
                      <a:pPr fontAlgn="t">
                        <a:buNone/>
                      </a:pPr>
                      <a:r>
                        <a:rPr lang="en-IN" sz="1800">
                          <a:effectLst/>
                        </a:rPr>
                        <a:t>min</a:t>
                      </a:r>
                    </a:p>
                  </a:txBody>
                  <a:tcPr/>
                </a:tc>
                <a:tc>
                  <a:txBody>
                    <a:bodyPr/>
                    <a:lstStyle/>
                    <a:p>
                      <a:pPr fontAlgn="t">
                        <a:buNone/>
                      </a:pPr>
                      <a:r>
                        <a:rPr lang="en-IN" sz="1800">
                          <a:effectLst/>
                        </a:rPr>
                        <a:t>max</a:t>
                      </a:r>
                    </a:p>
                  </a:txBody>
                  <a:tcPr/>
                </a:tc>
                <a:tc>
                  <a:txBody>
                    <a:bodyPr/>
                    <a:lstStyle/>
                    <a:p>
                      <a:pPr fontAlgn="t">
                        <a:buNone/>
                      </a:pPr>
                      <a:r>
                        <a:rPr lang="en-IN" sz="1800">
                          <a:effectLst/>
                        </a:rPr>
                        <a:t>mean</a:t>
                      </a:r>
                    </a:p>
                  </a:txBody>
                  <a:tcPr/>
                </a:tc>
                <a:tc>
                  <a:txBody>
                    <a:bodyPr/>
                    <a:lstStyle/>
                    <a:p>
                      <a:pPr fontAlgn="t">
                        <a:buNone/>
                      </a:pPr>
                      <a:r>
                        <a:rPr lang="en-IN" sz="1800">
                          <a:effectLst/>
                        </a:rPr>
                        <a:t>std</a:t>
                      </a:r>
                    </a:p>
                  </a:txBody>
                  <a:tcPr/>
                </a:tc>
                <a:tc>
                  <a:txBody>
                    <a:bodyPr/>
                    <a:lstStyle/>
                    <a:p>
                      <a:pPr fontAlgn="t">
                        <a:buNone/>
                      </a:pPr>
                      <a:r>
                        <a:rPr lang="en-IN" sz="1800">
                          <a:effectLst/>
                        </a:rPr>
                        <a:t>mean</a:t>
                      </a:r>
                    </a:p>
                  </a:txBody>
                  <a:tcPr/>
                </a:tc>
                <a:tc>
                  <a:txBody>
                    <a:bodyPr/>
                    <a:lstStyle/>
                    <a:p>
                      <a:pPr fontAlgn="t">
                        <a:buNone/>
                      </a:pPr>
                      <a:r>
                        <a:rPr lang="en-IN" sz="1800">
                          <a:effectLst/>
                        </a:rPr>
                        <a:t>std</a:t>
                      </a:r>
                    </a:p>
                  </a:txBody>
                  <a:tcPr/>
                </a:tc>
                <a:extLst>
                  <a:ext uri="{0D108BD9-81ED-4DB2-BD59-A6C34878D82A}">
                    <a16:rowId xmlns:a16="http://schemas.microsoft.com/office/drawing/2014/main" val="1789597533"/>
                  </a:ext>
                </a:extLst>
              </a:tr>
              <a:tr h="731788">
                <a:tc>
                  <a:txBody>
                    <a:bodyPr/>
                    <a:lstStyle/>
                    <a:p>
                      <a:pPr fontAlgn="t">
                        <a:buNone/>
                      </a:pPr>
                      <a:r>
                        <a:rPr lang="en-IN" sz="1800">
                          <a:effectLst/>
                        </a:rPr>
                        <a:t>Season</a:t>
                      </a:r>
                    </a:p>
                  </a:txBody>
                  <a:tcPr/>
                </a:tc>
                <a:tc>
                  <a:txBody>
                    <a:bodyPr/>
                    <a:lstStyle/>
                    <a:p>
                      <a:pPr fontAlgn="t">
                        <a:buNone/>
                      </a:pPr>
                      <a:endParaRPr lang="en-IN" sz="1800" dirty="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extLst>
                  <a:ext uri="{0D108BD9-81ED-4DB2-BD59-A6C34878D82A}">
                    <a16:rowId xmlns:a16="http://schemas.microsoft.com/office/drawing/2014/main" val="2509631970"/>
                  </a:ext>
                </a:extLst>
              </a:tr>
              <a:tr h="1045412">
                <a:tc>
                  <a:txBody>
                    <a:bodyPr/>
                    <a:lstStyle/>
                    <a:p>
                      <a:pPr fontAlgn="t">
                        <a:buNone/>
                      </a:pPr>
                      <a:r>
                        <a:rPr lang="en-IN" sz="1800">
                          <a:effectLst/>
                        </a:rPr>
                        <a:t>Kharif</a:t>
                      </a:r>
                    </a:p>
                  </a:txBody>
                  <a:tcPr/>
                </a:tc>
                <a:tc>
                  <a:txBody>
                    <a:bodyPr/>
                    <a:lstStyle/>
                    <a:p>
                      <a:pPr fontAlgn="t">
                        <a:buNone/>
                      </a:pPr>
                      <a:r>
                        <a:rPr lang="en-IN" sz="1800">
                          <a:effectLst/>
                        </a:rPr>
                        <a:t>5.63</a:t>
                      </a:r>
                    </a:p>
                  </a:txBody>
                  <a:tcPr/>
                </a:tc>
                <a:tc>
                  <a:txBody>
                    <a:bodyPr/>
                    <a:lstStyle/>
                    <a:p>
                      <a:pPr fontAlgn="t">
                        <a:buNone/>
                      </a:pPr>
                      <a:r>
                        <a:rPr lang="en-IN" sz="1800">
                          <a:effectLst/>
                        </a:rPr>
                        <a:t>14.39</a:t>
                      </a:r>
                    </a:p>
                  </a:txBody>
                  <a:tcPr/>
                </a:tc>
                <a:tc>
                  <a:txBody>
                    <a:bodyPr/>
                    <a:lstStyle/>
                    <a:p>
                      <a:pPr fontAlgn="t">
                        <a:buNone/>
                      </a:pPr>
                      <a:r>
                        <a:rPr lang="en-IN" sz="1800">
                          <a:effectLst/>
                        </a:rPr>
                        <a:t>0.3</a:t>
                      </a:r>
                    </a:p>
                  </a:txBody>
                  <a:tcPr/>
                </a:tc>
                <a:tc>
                  <a:txBody>
                    <a:bodyPr/>
                    <a:lstStyle/>
                    <a:p>
                      <a:pPr fontAlgn="t">
                        <a:buNone/>
                      </a:pPr>
                      <a:r>
                        <a:rPr lang="en-IN" sz="1800">
                          <a:effectLst/>
                        </a:rPr>
                        <a:t>101.44</a:t>
                      </a:r>
                    </a:p>
                  </a:txBody>
                  <a:tcPr/>
                </a:tc>
                <a:tc>
                  <a:txBody>
                    <a:bodyPr/>
                    <a:lstStyle/>
                    <a:p>
                      <a:pPr fontAlgn="t">
                        <a:buNone/>
                      </a:pPr>
                      <a:r>
                        <a:rPr lang="en-IN" sz="1800">
                          <a:effectLst/>
                        </a:rPr>
                        <a:t>178914.65</a:t>
                      </a:r>
                    </a:p>
                  </a:txBody>
                  <a:tcPr/>
                </a:tc>
                <a:tc>
                  <a:txBody>
                    <a:bodyPr/>
                    <a:lstStyle/>
                    <a:p>
                      <a:pPr fontAlgn="t">
                        <a:buNone/>
                      </a:pPr>
                      <a:r>
                        <a:rPr lang="en-IN" sz="1800">
                          <a:effectLst/>
                        </a:rPr>
                        <a:t>611549.78</a:t>
                      </a:r>
                    </a:p>
                  </a:txBody>
                  <a:tcPr/>
                </a:tc>
                <a:tc>
                  <a:txBody>
                    <a:bodyPr/>
                    <a:lstStyle/>
                    <a:p>
                      <a:pPr fontAlgn="t">
                        <a:buNone/>
                      </a:pPr>
                      <a:r>
                        <a:rPr lang="en-IN" sz="1800">
                          <a:effectLst/>
                        </a:rPr>
                        <a:t>6102.20</a:t>
                      </a:r>
                    </a:p>
                  </a:txBody>
                  <a:tcPr/>
                </a:tc>
                <a:tc>
                  <a:txBody>
                    <a:bodyPr/>
                    <a:lstStyle/>
                    <a:p>
                      <a:pPr fontAlgn="t">
                        <a:buNone/>
                      </a:pPr>
                      <a:r>
                        <a:rPr lang="en-IN" sz="1800">
                          <a:effectLst/>
                        </a:rPr>
                        <a:t>5670.58</a:t>
                      </a:r>
                    </a:p>
                  </a:txBody>
                  <a:tcPr/>
                </a:tc>
                <a:extLst>
                  <a:ext uri="{0D108BD9-81ED-4DB2-BD59-A6C34878D82A}">
                    <a16:rowId xmlns:a16="http://schemas.microsoft.com/office/drawing/2014/main" val="3137460221"/>
                  </a:ext>
                </a:extLst>
              </a:tr>
              <a:tr h="1045412">
                <a:tc>
                  <a:txBody>
                    <a:bodyPr/>
                    <a:lstStyle/>
                    <a:p>
                      <a:pPr fontAlgn="t">
                        <a:buNone/>
                      </a:pPr>
                      <a:r>
                        <a:rPr lang="en-IN" sz="1800">
                          <a:effectLst/>
                        </a:rPr>
                        <a:t>Rabi</a:t>
                      </a:r>
                    </a:p>
                  </a:txBody>
                  <a:tcPr/>
                </a:tc>
                <a:tc>
                  <a:txBody>
                    <a:bodyPr/>
                    <a:lstStyle/>
                    <a:p>
                      <a:pPr fontAlgn="t">
                        <a:buNone/>
                      </a:pPr>
                      <a:r>
                        <a:rPr lang="en-IN" sz="1800">
                          <a:effectLst/>
                        </a:rPr>
                        <a:t>5.04</a:t>
                      </a:r>
                    </a:p>
                  </a:txBody>
                  <a:tcPr/>
                </a:tc>
                <a:tc>
                  <a:txBody>
                    <a:bodyPr/>
                    <a:lstStyle/>
                    <a:p>
                      <a:pPr fontAlgn="t">
                        <a:buNone/>
                      </a:pPr>
                      <a:r>
                        <a:rPr lang="en-IN" sz="1800">
                          <a:effectLst/>
                        </a:rPr>
                        <a:t>12.75</a:t>
                      </a:r>
                    </a:p>
                  </a:txBody>
                  <a:tcPr/>
                </a:tc>
                <a:tc>
                  <a:txBody>
                    <a:bodyPr/>
                    <a:lstStyle/>
                    <a:p>
                      <a:pPr fontAlgn="t">
                        <a:buNone/>
                      </a:pPr>
                      <a:r>
                        <a:rPr lang="en-IN" sz="1800">
                          <a:effectLst/>
                        </a:rPr>
                        <a:t>0.3</a:t>
                      </a:r>
                    </a:p>
                  </a:txBody>
                  <a:tcPr/>
                </a:tc>
                <a:tc>
                  <a:txBody>
                    <a:bodyPr/>
                    <a:lstStyle/>
                    <a:p>
                      <a:pPr fontAlgn="t">
                        <a:buNone/>
                      </a:pPr>
                      <a:r>
                        <a:rPr lang="en-IN" sz="1800">
                          <a:effectLst/>
                        </a:rPr>
                        <a:t>93.13</a:t>
                      </a:r>
                    </a:p>
                  </a:txBody>
                  <a:tcPr/>
                </a:tc>
                <a:tc>
                  <a:txBody>
                    <a:bodyPr/>
                    <a:lstStyle/>
                    <a:p>
                      <a:pPr fontAlgn="t">
                        <a:buNone/>
                      </a:pPr>
                      <a:r>
                        <a:rPr lang="en-IN" sz="1800">
                          <a:effectLst/>
                        </a:rPr>
                        <a:t>87689.47</a:t>
                      </a:r>
                    </a:p>
                  </a:txBody>
                  <a:tcPr/>
                </a:tc>
                <a:tc>
                  <a:txBody>
                    <a:bodyPr/>
                    <a:lstStyle/>
                    <a:p>
                      <a:pPr fontAlgn="t">
                        <a:buNone/>
                      </a:pPr>
                      <a:r>
                        <a:rPr lang="en-IN" sz="1800">
                          <a:effectLst/>
                        </a:rPr>
                        <a:t>489901.25</a:t>
                      </a:r>
                    </a:p>
                  </a:txBody>
                  <a:tcPr/>
                </a:tc>
                <a:tc>
                  <a:txBody>
                    <a:bodyPr/>
                    <a:lstStyle/>
                    <a:p>
                      <a:pPr fontAlgn="t">
                        <a:buNone/>
                      </a:pPr>
                      <a:r>
                        <a:rPr lang="en-IN" sz="1800">
                          <a:effectLst/>
                        </a:rPr>
                        <a:t>5846.99</a:t>
                      </a:r>
                    </a:p>
                  </a:txBody>
                  <a:tcPr/>
                </a:tc>
                <a:tc>
                  <a:txBody>
                    <a:bodyPr/>
                    <a:lstStyle/>
                    <a:p>
                      <a:pPr fontAlgn="t">
                        <a:buNone/>
                      </a:pPr>
                      <a:r>
                        <a:rPr lang="en-IN" sz="1800">
                          <a:effectLst/>
                        </a:rPr>
                        <a:t>5397.65</a:t>
                      </a:r>
                    </a:p>
                  </a:txBody>
                  <a:tcPr/>
                </a:tc>
                <a:extLst>
                  <a:ext uri="{0D108BD9-81ED-4DB2-BD59-A6C34878D82A}">
                    <a16:rowId xmlns:a16="http://schemas.microsoft.com/office/drawing/2014/main" val="2416957837"/>
                  </a:ext>
                </a:extLst>
              </a:tr>
              <a:tr h="1045412">
                <a:tc>
                  <a:txBody>
                    <a:bodyPr/>
                    <a:lstStyle/>
                    <a:p>
                      <a:pPr fontAlgn="t">
                        <a:buNone/>
                      </a:pPr>
                      <a:r>
                        <a:rPr lang="en-IN" sz="1800">
                          <a:effectLst/>
                        </a:rPr>
                        <a:t>Zaid</a:t>
                      </a:r>
                    </a:p>
                  </a:txBody>
                  <a:tcPr/>
                </a:tc>
                <a:tc>
                  <a:txBody>
                    <a:bodyPr/>
                    <a:lstStyle/>
                    <a:p>
                      <a:pPr fontAlgn="t">
                        <a:buNone/>
                      </a:pPr>
                      <a:r>
                        <a:rPr lang="en-IN" sz="1800">
                          <a:effectLst/>
                        </a:rPr>
                        <a:t>4.64</a:t>
                      </a:r>
                    </a:p>
                  </a:txBody>
                  <a:tcPr/>
                </a:tc>
                <a:tc>
                  <a:txBody>
                    <a:bodyPr/>
                    <a:lstStyle/>
                    <a:p>
                      <a:pPr fontAlgn="t">
                        <a:buNone/>
                      </a:pPr>
                      <a:r>
                        <a:rPr lang="en-IN" sz="1800">
                          <a:effectLst/>
                        </a:rPr>
                        <a:t>11.27</a:t>
                      </a:r>
                    </a:p>
                  </a:txBody>
                  <a:tcPr/>
                </a:tc>
                <a:tc>
                  <a:txBody>
                    <a:bodyPr/>
                    <a:lstStyle/>
                    <a:p>
                      <a:pPr fontAlgn="t">
                        <a:buNone/>
                      </a:pPr>
                      <a:r>
                        <a:rPr lang="en-IN" sz="1800">
                          <a:effectLst/>
                        </a:rPr>
                        <a:t>0.3</a:t>
                      </a:r>
                    </a:p>
                  </a:txBody>
                  <a:tcPr/>
                </a:tc>
                <a:tc>
                  <a:txBody>
                    <a:bodyPr/>
                    <a:lstStyle/>
                    <a:p>
                      <a:pPr fontAlgn="t">
                        <a:buNone/>
                      </a:pPr>
                      <a:r>
                        <a:rPr lang="en-IN" sz="1800">
                          <a:effectLst/>
                        </a:rPr>
                        <a:t>64.76</a:t>
                      </a:r>
                    </a:p>
                  </a:txBody>
                  <a:tcPr/>
                </a:tc>
                <a:tc>
                  <a:txBody>
                    <a:bodyPr/>
                    <a:lstStyle/>
                    <a:p>
                      <a:pPr fontAlgn="t">
                        <a:buNone/>
                      </a:pPr>
                      <a:r>
                        <a:rPr lang="en-IN" sz="1800">
                          <a:effectLst/>
                        </a:rPr>
                        <a:t>-24804.82</a:t>
                      </a:r>
                    </a:p>
                  </a:txBody>
                  <a:tcPr/>
                </a:tc>
                <a:tc>
                  <a:txBody>
                    <a:bodyPr/>
                    <a:lstStyle/>
                    <a:p>
                      <a:pPr fontAlgn="t">
                        <a:buNone/>
                      </a:pPr>
                      <a:r>
                        <a:rPr lang="en-IN" sz="1800">
                          <a:effectLst/>
                        </a:rPr>
                        <a:t>436356.75</a:t>
                      </a:r>
                    </a:p>
                  </a:txBody>
                  <a:tcPr/>
                </a:tc>
                <a:tc>
                  <a:txBody>
                    <a:bodyPr/>
                    <a:lstStyle/>
                    <a:p>
                      <a:pPr fontAlgn="t">
                        <a:buNone/>
                      </a:pPr>
                      <a:r>
                        <a:rPr lang="en-IN" sz="1800">
                          <a:effectLst/>
                        </a:rPr>
                        <a:t>6419.89</a:t>
                      </a:r>
                    </a:p>
                  </a:txBody>
                  <a:tcPr/>
                </a:tc>
                <a:tc>
                  <a:txBody>
                    <a:bodyPr/>
                    <a:lstStyle/>
                    <a:p>
                      <a:pPr fontAlgn="t">
                        <a:buNone/>
                      </a:pPr>
                      <a:r>
                        <a:rPr lang="en-IN" sz="1800" dirty="0">
                          <a:effectLst/>
                        </a:rPr>
                        <a:t>5734.62</a:t>
                      </a:r>
                    </a:p>
                  </a:txBody>
                  <a:tcPr/>
                </a:tc>
                <a:extLst>
                  <a:ext uri="{0D108BD9-81ED-4DB2-BD59-A6C34878D82A}">
                    <a16:rowId xmlns:a16="http://schemas.microsoft.com/office/drawing/2014/main" val="253264878"/>
                  </a:ext>
                </a:extLst>
              </a:tr>
            </a:tbl>
          </a:graphicData>
        </a:graphic>
      </p:graphicFrame>
    </p:spTree>
    <p:extLst>
      <p:ext uri="{BB962C8B-B14F-4D97-AF65-F5344CB8AC3E}">
        <p14:creationId xmlns:p14="http://schemas.microsoft.com/office/powerpoint/2010/main" val="2571029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3B9E2B-88BE-8E8C-96A4-2DD31B94C7C4}"/>
              </a:ext>
            </a:extLst>
          </p:cNvPr>
          <p:cNvSpPr>
            <a:spLocks noGrp="1"/>
          </p:cNvSpPr>
          <p:nvPr>
            <p:ph type="sldNum" sz="quarter" idx="12"/>
          </p:nvPr>
        </p:nvSpPr>
        <p:spPr/>
        <p:txBody>
          <a:bodyPr/>
          <a:lstStyle/>
          <a:p>
            <a:fld id="{D57F1E4F-1CFF-5643-939E-217C01CDF565}" type="slidenum">
              <a:rPr lang="en-US" smtClean="0"/>
              <a:pPr/>
              <a:t>44</a:t>
            </a:fld>
            <a:endParaRPr lang="en-US" dirty="0"/>
          </a:p>
        </p:txBody>
      </p:sp>
      <p:sp>
        <p:nvSpPr>
          <p:cNvPr id="3" name="TextBox 2">
            <a:extLst>
              <a:ext uri="{FF2B5EF4-FFF2-40B4-BE49-F238E27FC236}">
                <a16:creationId xmlns:a16="http://schemas.microsoft.com/office/drawing/2014/main" id="{D3486D35-0CE4-000D-B999-2B4DC65B9EE4}"/>
              </a:ext>
            </a:extLst>
          </p:cNvPr>
          <p:cNvSpPr txBox="1"/>
          <p:nvPr/>
        </p:nvSpPr>
        <p:spPr>
          <a:xfrm>
            <a:off x="100432" y="1051175"/>
            <a:ext cx="3890866" cy="5355312"/>
          </a:xfrm>
          <a:prstGeom prst="rect">
            <a:avLst/>
          </a:prstGeom>
          <a:noFill/>
        </p:spPr>
        <p:txBody>
          <a:bodyPr wrap="square" rtlCol="0">
            <a:spAutoFit/>
          </a:bodyPr>
          <a:lstStyle/>
          <a:p>
            <a:r>
              <a:rPr lang="en-IN" dirty="0" err="1"/>
              <a:t>score_data</a:t>
            </a:r>
            <a:r>
              <a:rPr lang="en-IN" dirty="0"/>
              <a:t> = </a:t>
            </a:r>
            <a:r>
              <a:rPr lang="en-IN" dirty="0" err="1"/>
              <a:t>df_clean</a:t>
            </a:r>
            <a:r>
              <a:rPr lang="en-IN" dirty="0"/>
              <a:t>[</a:t>
            </a:r>
          </a:p>
          <a:p>
            <a:r>
              <a:rPr lang="en-IN" dirty="0"/>
              <a:t>    ['</a:t>
            </a:r>
            <a:r>
              <a:rPr lang="en-IN" dirty="0" err="1"/>
              <a:t>Yield_Tonnes_Ha</a:t>
            </a:r>
            <a:r>
              <a:rPr lang="en-IN" dirty="0"/>
              <a:t>',</a:t>
            </a:r>
          </a:p>
          <a:p>
            <a:r>
              <a:rPr lang="en-IN" dirty="0"/>
              <a:t>     '</a:t>
            </a:r>
            <a:r>
              <a:rPr lang="en-IN" dirty="0" err="1"/>
              <a:t>Profit_INR</a:t>
            </a:r>
            <a:r>
              <a:rPr lang="en-IN" dirty="0"/>
              <a:t>',</a:t>
            </a:r>
          </a:p>
          <a:p>
            <a:r>
              <a:rPr lang="en-IN" dirty="0"/>
              <a:t>     'Water_Efficiency_t_per_1000m3']</a:t>
            </a:r>
          </a:p>
          <a:p>
            <a:r>
              <a:rPr lang="en-IN" dirty="0"/>
              <a:t>].copy()</a:t>
            </a:r>
          </a:p>
          <a:p>
            <a:r>
              <a:rPr lang="en-IN" dirty="0"/>
              <a:t>scaler = </a:t>
            </a:r>
            <a:r>
              <a:rPr lang="en-IN" dirty="0" err="1"/>
              <a:t>StandardScaler</a:t>
            </a:r>
            <a:r>
              <a:rPr lang="en-IN" dirty="0"/>
              <a:t>()</a:t>
            </a:r>
          </a:p>
          <a:p>
            <a:r>
              <a:rPr lang="en-IN" dirty="0" err="1"/>
              <a:t>score_data_scaled</a:t>
            </a:r>
            <a:r>
              <a:rPr lang="en-IN" dirty="0"/>
              <a:t> = </a:t>
            </a:r>
            <a:r>
              <a:rPr lang="en-IN" dirty="0" err="1"/>
              <a:t>scaler.fit_transform</a:t>
            </a:r>
            <a:r>
              <a:rPr lang="en-IN" dirty="0"/>
              <a:t>(</a:t>
            </a:r>
            <a:r>
              <a:rPr lang="en-IN" dirty="0" err="1"/>
              <a:t>score_data</a:t>
            </a:r>
            <a:r>
              <a:rPr lang="en-IN" dirty="0"/>
              <a:t>)</a:t>
            </a:r>
          </a:p>
          <a:p>
            <a:r>
              <a:rPr lang="en-IN" dirty="0" err="1"/>
              <a:t>df_clean</a:t>
            </a:r>
            <a:r>
              <a:rPr lang="en-IN" dirty="0"/>
              <a:t>['</a:t>
            </a:r>
            <a:r>
              <a:rPr lang="en-IN" dirty="0" err="1"/>
              <a:t>Performance_Score</a:t>
            </a:r>
            <a:r>
              <a:rPr lang="en-IN" dirty="0"/>
              <a:t>'] = </a:t>
            </a:r>
            <a:r>
              <a:rPr lang="en-IN" dirty="0" err="1"/>
              <a:t>score_data_scaled.mean</a:t>
            </a:r>
            <a:r>
              <a:rPr lang="en-IN" dirty="0"/>
              <a:t>(axis=1)</a:t>
            </a:r>
          </a:p>
          <a:p>
            <a:r>
              <a:rPr lang="en-IN" dirty="0" err="1"/>
              <a:t>season_score</a:t>
            </a:r>
            <a:r>
              <a:rPr lang="en-IN" dirty="0"/>
              <a:t> = </a:t>
            </a:r>
            <a:r>
              <a:rPr lang="en-IN" dirty="0" err="1"/>
              <a:t>df_clean.groupby</a:t>
            </a:r>
            <a:r>
              <a:rPr lang="en-IN" dirty="0"/>
              <a:t>(</a:t>
            </a:r>
          </a:p>
          <a:p>
            <a:r>
              <a:rPr lang="en-IN" dirty="0"/>
              <a:t>    'Season'</a:t>
            </a:r>
          </a:p>
          <a:p>
            <a:r>
              <a:rPr lang="en-IN" dirty="0"/>
              <a:t>)['</a:t>
            </a:r>
            <a:r>
              <a:rPr lang="en-IN" dirty="0" err="1"/>
              <a:t>Performance_Score</a:t>
            </a:r>
            <a:r>
              <a:rPr lang="en-IN" dirty="0"/>
              <a:t>'].mean().</a:t>
            </a:r>
            <a:r>
              <a:rPr lang="en-IN" dirty="0" err="1"/>
              <a:t>sort_values</a:t>
            </a:r>
            <a:r>
              <a:rPr lang="en-IN" dirty="0"/>
              <a:t>(</a:t>
            </a:r>
          </a:p>
          <a:p>
            <a:r>
              <a:rPr lang="en-IN" dirty="0"/>
              <a:t>    ascending=False</a:t>
            </a:r>
          </a:p>
          <a:p>
            <a:r>
              <a:rPr lang="en-IN" dirty="0"/>
              <a:t>)</a:t>
            </a:r>
          </a:p>
          <a:p>
            <a:r>
              <a:rPr lang="en-IN" dirty="0"/>
              <a:t>display(</a:t>
            </a:r>
            <a:r>
              <a:rPr lang="en-IN" dirty="0" err="1"/>
              <a:t>season_score</a:t>
            </a:r>
            <a:r>
              <a:rPr lang="en-IN" dirty="0"/>
              <a:t>)</a:t>
            </a:r>
          </a:p>
          <a:p>
            <a:endParaRPr lang="en-IN" dirty="0"/>
          </a:p>
        </p:txBody>
      </p:sp>
      <p:graphicFrame>
        <p:nvGraphicFramePr>
          <p:cNvPr id="5" name="Table 4">
            <a:extLst>
              <a:ext uri="{FF2B5EF4-FFF2-40B4-BE49-F238E27FC236}">
                <a16:creationId xmlns:a16="http://schemas.microsoft.com/office/drawing/2014/main" id="{28576F76-66A8-B842-5D90-247A63FAD3EE}"/>
              </a:ext>
            </a:extLst>
          </p:cNvPr>
          <p:cNvGraphicFramePr>
            <a:graphicFrameLocks noGrp="1"/>
          </p:cNvGraphicFramePr>
          <p:nvPr>
            <p:extLst>
              <p:ext uri="{D42A27DB-BD31-4B8C-83A1-F6EECF244321}">
                <p14:modId xmlns:p14="http://schemas.microsoft.com/office/powerpoint/2010/main" val="1505997916"/>
              </p:ext>
            </p:extLst>
          </p:nvPr>
        </p:nvGraphicFramePr>
        <p:xfrm>
          <a:off x="5243803" y="1670476"/>
          <a:ext cx="6083560" cy="1828800"/>
        </p:xfrm>
        <a:graphic>
          <a:graphicData uri="http://schemas.openxmlformats.org/drawingml/2006/table">
            <a:tbl>
              <a:tblPr>
                <a:tableStyleId>{6E25E649-3F16-4E02-A733-19D2CDBF48F0}</a:tableStyleId>
              </a:tblPr>
              <a:tblGrid>
                <a:gridCol w="3041780">
                  <a:extLst>
                    <a:ext uri="{9D8B030D-6E8A-4147-A177-3AD203B41FA5}">
                      <a16:colId xmlns:a16="http://schemas.microsoft.com/office/drawing/2014/main" val="3311126677"/>
                    </a:ext>
                  </a:extLst>
                </a:gridCol>
                <a:gridCol w="3041780">
                  <a:extLst>
                    <a:ext uri="{9D8B030D-6E8A-4147-A177-3AD203B41FA5}">
                      <a16:colId xmlns:a16="http://schemas.microsoft.com/office/drawing/2014/main" val="2195270767"/>
                    </a:ext>
                  </a:extLst>
                </a:gridCol>
              </a:tblGrid>
              <a:tr h="0">
                <a:tc>
                  <a:txBody>
                    <a:bodyPr/>
                    <a:lstStyle/>
                    <a:p>
                      <a:pPr algn="r" fontAlgn="t">
                        <a:buNone/>
                      </a:pPr>
                      <a:endParaRPr lang="en-IN">
                        <a:effectLst/>
                      </a:endParaRPr>
                    </a:p>
                  </a:txBody>
                  <a:tcPr/>
                </a:tc>
                <a:tc>
                  <a:txBody>
                    <a:bodyPr/>
                    <a:lstStyle/>
                    <a:p>
                      <a:pPr algn="r" fontAlgn="t">
                        <a:buNone/>
                      </a:pPr>
                      <a:r>
                        <a:rPr lang="en-IN">
                          <a:effectLst/>
                        </a:rPr>
                        <a:t>Performance_Score</a:t>
                      </a:r>
                    </a:p>
                  </a:txBody>
                  <a:tcPr/>
                </a:tc>
                <a:extLst>
                  <a:ext uri="{0D108BD9-81ED-4DB2-BD59-A6C34878D82A}">
                    <a16:rowId xmlns:a16="http://schemas.microsoft.com/office/drawing/2014/main" val="2603427225"/>
                  </a:ext>
                </a:extLst>
              </a:tr>
              <a:tr h="0">
                <a:tc>
                  <a:txBody>
                    <a:bodyPr/>
                    <a:lstStyle/>
                    <a:p>
                      <a:pPr fontAlgn="t">
                        <a:buNone/>
                      </a:pPr>
                      <a:r>
                        <a:rPr lang="en-IN">
                          <a:effectLst/>
                        </a:rPr>
                        <a:t>Season</a:t>
                      </a:r>
                    </a:p>
                  </a:txBody>
                  <a:tcPr/>
                </a:tc>
                <a:tc>
                  <a:txBody>
                    <a:bodyPr/>
                    <a:lstStyle/>
                    <a:p>
                      <a:pPr fontAlgn="t">
                        <a:buNone/>
                      </a:pPr>
                      <a:endParaRPr lang="en-IN">
                        <a:effectLst/>
                      </a:endParaRPr>
                    </a:p>
                  </a:txBody>
                  <a:tcPr/>
                </a:tc>
                <a:extLst>
                  <a:ext uri="{0D108BD9-81ED-4DB2-BD59-A6C34878D82A}">
                    <a16:rowId xmlns:a16="http://schemas.microsoft.com/office/drawing/2014/main" val="1486191951"/>
                  </a:ext>
                </a:extLst>
              </a:tr>
              <a:tr h="0">
                <a:tc>
                  <a:txBody>
                    <a:bodyPr/>
                    <a:lstStyle/>
                    <a:p>
                      <a:pPr fontAlgn="t">
                        <a:buNone/>
                      </a:pPr>
                      <a:r>
                        <a:rPr lang="en-IN">
                          <a:effectLst/>
                        </a:rPr>
                        <a:t>Kharif</a:t>
                      </a:r>
                    </a:p>
                  </a:txBody>
                  <a:tcPr/>
                </a:tc>
                <a:tc>
                  <a:txBody>
                    <a:bodyPr/>
                    <a:lstStyle/>
                    <a:p>
                      <a:pPr fontAlgn="t">
                        <a:buNone/>
                      </a:pPr>
                      <a:r>
                        <a:rPr lang="en-IN">
                          <a:effectLst/>
                        </a:rPr>
                        <a:t>0.069980</a:t>
                      </a:r>
                    </a:p>
                  </a:txBody>
                  <a:tcPr/>
                </a:tc>
                <a:extLst>
                  <a:ext uri="{0D108BD9-81ED-4DB2-BD59-A6C34878D82A}">
                    <a16:rowId xmlns:a16="http://schemas.microsoft.com/office/drawing/2014/main" val="2647965430"/>
                  </a:ext>
                </a:extLst>
              </a:tr>
              <a:tr h="0">
                <a:tc>
                  <a:txBody>
                    <a:bodyPr/>
                    <a:lstStyle/>
                    <a:p>
                      <a:pPr fontAlgn="t">
                        <a:buNone/>
                      </a:pPr>
                      <a:r>
                        <a:rPr lang="en-IN">
                          <a:effectLst/>
                        </a:rPr>
                        <a:t>Rabi</a:t>
                      </a:r>
                    </a:p>
                  </a:txBody>
                  <a:tcPr/>
                </a:tc>
                <a:tc>
                  <a:txBody>
                    <a:bodyPr/>
                    <a:lstStyle/>
                    <a:p>
                      <a:pPr fontAlgn="t">
                        <a:buNone/>
                      </a:pPr>
                      <a:r>
                        <a:rPr lang="en-IN">
                          <a:effectLst/>
                        </a:rPr>
                        <a:t>-0.027189</a:t>
                      </a:r>
                    </a:p>
                  </a:txBody>
                  <a:tcPr/>
                </a:tc>
                <a:extLst>
                  <a:ext uri="{0D108BD9-81ED-4DB2-BD59-A6C34878D82A}">
                    <a16:rowId xmlns:a16="http://schemas.microsoft.com/office/drawing/2014/main" val="813315092"/>
                  </a:ext>
                </a:extLst>
              </a:tr>
              <a:tr h="0">
                <a:tc>
                  <a:txBody>
                    <a:bodyPr/>
                    <a:lstStyle/>
                    <a:p>
                      <a:pPr fontAlgn="t">
                        <a:buNone/>
                      </a:pPr>
                      <a:r>
                        <a:rPr lang="en-IN">
                          <a:effectLst/>
                        </a:rPr>
                        <a:t>Zaid</a:t>
                      </a:r>
                    </a:p>
                  </a:txBody>
                  <a:tcPr/>
                </a:tc>
                <a:tc>
                  <a:txBody>
                    <a:bodyPr/>
                    <a:lstStyle/>
                    <a:p>
                      <a:pPr fontAlgn="t">
                        <a:buNone/>
                      </a:pPr>
                      <a:r>
                        <a:rPr lang="en-IN" dirty="0">
                          <a:effectLst/>
                        </a:rPr>
                        <a:t>-0.135115</a:t>
                      </a:r>
                    </a:p>
                  </a:txBody>
                  <a:tcPr/>
                </a:tc>
                <a:extLst>
                  <a:ext uri="{0D108BD9-81ED-4DB2-BD59-A6C34878D82A}">
                    <a16:rowId xmlns:a16="http://schemas.microsoft.com/office/drawing/2014/main" val="208986186"/>
                  </a:ext>
                </a:extLst>
              </a:tr>
            </a:tbl>
          </a:graphicData>
        </a:graphic>
      </p:graphicFrame>
      <p:sp>
        <p:nvSpPr>
          <p:cNvPr id="7" name="TextBox 6">
            <a:extLst>
              <a:ext uri="{FF2B5EF4-FFF2-40B4-BE49-F238E27FC236}">
                <a16:creationId xmlns:a16="http://schemas.microsoft.com/office/drawing/2014/main" id="{C42418D2-6CDB-CAE9-5808-A9EC67A74511}"/>
              </a:ext>
            </a:extLst>
          </p:cNvPr>
          <p:cNvSpPr txBox="1"/>
          <p:nvPr/>
        </p:nvSpPr>
        <p:spPr>
          <a:xfrm rot="10800000" flipV="1">
            <a:off x="6292310" y="3756831"/>
            <a:ext cx="4318505" cy="646331"/>
          </a:xfrm>
          <a:prstGeom prst="rect">
            <a:avLst/>
          </a:prstGeom>
          <a:noFill/>
        </p:spPr>
        <p:txBody>
          <a:bodyPr wrap="square">
            <a:spAutoFit/>
          </a:bodyPr>
          <a:lstStyle/>
          <a:p>
            <a:pPr>
              <a:buNone/>
            </a:pPr>
            <a:br>
              <a:rPr lang="en-IN"/>
            </a:br>
            <a:r>
              <a:rPr lang="en-IN" b="1" dirty="0" err="1"/>
              <a:t>dtype</a:t>
            </a:r>
            <a:r>
              <a:rPr lang="en-IN" b="1" dirty="0"/>
              <a:t>:</a:t>
            </a:r>
            <a:r>
              <a:rPr lang="en-IN" dirty="0"/>
              <a:t> float64</a:t>
            </a:r>
          </a:p>
        </p:txBody>
      </p:sp>
    </p:spTree>
    <p:extLst>
      <p:ext uri="{BB962C8B-B14F-4D97-AF65-F5344CB8AC3E}">
        <p14:creationId xmlns:p14="http://schemas.microsoft.com/office/powerpoint/2010/main" val="2974910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F4D64E-7389-C4C5-69F8-3B6ACE0BB1D3}"/>
              </a:ext>
            </a:extLst>
          </p:cNvPr>
          <p:cNvSpPr>
            <a:spLocks noGrp="1"/>
          </p:cNvSpPr>
          <p:nvPr>
            <p:ph type="sldNum" sz="quarter" idx="12"/>
          </p:nvPr>
        </p:nvSpPr>
        <p:spPr/>
        <p:txBody>
          <a:bodyPr/>
          <a:lstStyle/>
          <a:p>
            <a:fld id="{D57F1E4F-1CFF-5643-939E-217C01CDF565}" type="slidenum">
              <a:rPr lang="en-US" smtClean="0"/>
              <a:pPr/>
              <a:t>45</a:t>
            </a:fld>
            <a:endParaRPr lang="en-US" dirty="0"/>
          </a:p>
        </p:txBody>
      </p:sp>
      <p:sp>
        <p:nvSpPr>
          <p:cNvPr id="3" name="TextBox 2">
            <a:extLst>
              <a:ext uri="{FF2B5EF4-FFF2-40B4-BE49-F238E27FC236}">
                <a16:creationId xmlns:a16="http://schemas.microsoft.com/office/drawing/2014/main" id="{3D5F4AA5-26C2-1FD7-1850-AA90D919C07B}"/>
              </a:ext>
            </a:extLst>
          </p:cNvPr>
          <p:cNvSpPr txBox="1"/>
          <p:nvPr/>
        </p:nvSpPr>
        <p:spPr>
          <a:xfrm>
            <a:off x="177282" y="821094"/>
            <a:ext cx="3265714" cy="5355312"/>
          </a:xfrm>
          <a:prstGeom prst="rect">
            <a:avLst/>
          </a:prstGeom>
          <a:noFill/>
        </p:spPr>
        <p:txBody>
          <a:bodyPr wrap="square" rtlCol="0">
            <a:spAutoFit/>
          </a:bodyPr>
          <a:lstStyle/>
          <a:p>
            <a:r>
              <a:rPr lang="en-IN" dirty="0" err="1"/>
              <a:t>plt.figure</a:t>
            </a:r>
            <a:r>
              <a:rPr lang="en-IN" dirty="0"/>
              <a:t>(</a:t>
            </a:r>
            <a:r>
              <a:rPr lang="en-IN" dirty="0" err="1"/>
              <a:t>figsize</a:t>
            </a:r>
            <a:r>
              <a:rPr lang="en-IN" dirty="0"/>
              <a:t>=(8,5))</a:t>
            </a:r>
          </a:p>
          <a:p>
            <a:br>
              <a:rPr lang="en-IN" dirty="0"/>
            </a:br>
            <a:endParaRPr lang="en-IN" dirty="0"/>
          </a:p>
          <a:p>
            <a:r>
              <a:rPr lang="en-IN" dirty="0" err="1"/>
              <a:t>sns.barplot</a:t>
            </a:r>
            <a:r>
              <a:rPr lang="en-IN" dirty="0"/>
              <a:t>(</a:t>
            </a:r>
          </a:p>
          <a:p>
            <a:r>
              <a:rPr lang="en-IN" dirty="0"/>
              <a:t>    x=</a:t>
            </a:r>
            <a:r>
              <a:rPr lang="en-IN" dirty="0" err="1"/>
              <a:t>season_score.index</a:t>
            </a:r>
            <a:r>
              <a:rPr lang="en-IN" dirty="0"/>
              <a:t>,</a:t>
            </a:r>
          </a:p>
          <a:p>
            <a:r>
              <a:rPr lang="en-IN" dirty="0"/>
              <a:t>    y=</a:t>
            </a:r>
            <a:r>
              <a:rPr lang="en-IN" dirty="0" err="1"/>
              <a:t>season_score.values</a:t>
            </a:r>
            <a:endParaRPr lang="en-IN" dirty="0"/>
          </a:p>
          <a:p>
            <a:r>
              <a:rPr lang="en-IN" dirty="0"/>
              <a:t>)</a:t>
            </a:r>
          </a:p>
          <a:p>
            <a:br>
              <a:rPr lang="en-IN" dirty="0"/>
            </a:br>
            <a:endParaRPr lang="en-IN" dirty="0"/>
          </a:p>
          <a:p>
            <a:r>
              <a:rPr lang="en-IN" dirty="0" err="1"/>
              <a:t>plt.title</a:t>
            </a:r>
            <a:r>
              <a:rPr lang="en-IN" dirty="0"/>
              <a:t>('Average Agricultural Performance Score by Season')</a:t>
            </a:r>
          </a:p>
          <a:p>
            <a:r>
              <a:rPr lang="en-IN" dirty="0" err="1"/>
              <a:t>plt.xlabel</a:t>
            </a:r>
            <a:r>
              <a:rPr lang="en-IN" dirty="0"/>
              <a:t>('Season')</a:t>
            </a:r>
          </a:p>
          <a:p>
            <a:r>
              <a:rPr lang="en-IN" dirty="0" err="1"/>
              <a:t>plt.ylabel</a:t>
            </a:r>
            <a:r>
              <a:rPr lang="en-IN" dirty="0"/>
              <a:t>('Performance Score')</a:t>
            </a:r>
          </a:p>
          <a:p>
            <a:br>
              <a:rPr lang="en-IN" dirty="0"/>
            </a:br>
            <a:endParaRPr lang="en-IN" dirty="0"/>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5ED13D11-B2EC-EEAE-9B8F-DE2341328001}"/>
              </a:ext>
            </a:extLst>
          </p:cNvPr>
          <p:cNvPicPr>
            <a:picLocks noChangeAspect="1"/>
          </p:cNvPicPr>
          <p:nvPr/>
        </p:nvPicPr>
        <p:blipFill>
          <a:blip r:embed="rId2"/>
          <a:stretch>
            <a:fillRect/>
          </a:stretch>
        </p:blipFill>
        <p:spPr>
          <a:xfrm>
            <a:off x="3944968" y="1280155"/>
            <a:ext cx="7027832" cy="4297689"/>
          </a:xfrm>
          <a:prstGeom prst="rect">
            <a:avLst/>
          </a:prstGeom>
        </p:spPr>
      </p:pic>
    </p:spTree>
    <p:extLst>
      <p:ext uri="{BB962C8B-B14F-4D97-AF65-F5344CB8AC3E}">
        <p14:creationId xmlns:p14="http://schemas.microsoft.com/office/powerpoint/2010/main" val="2478763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C70414-E561-914B-31FC-381E6586EB6B}"/>
              </a:ext>
            </a:extLst>
          </p:cNvPr>
          <p:cNvSpPr>
            <a:spLocks noGrp="1"/>
          </p:cNvSpPr>
          <p:nvPr>
            <p:ph type="sldNum" sz="quarter" idx="12"/>
          </p:nvPr>
        </p:nvSpPr>
        <p:spPr/>
        <p:txBody>
          <a:bodyPr/>
          <a:lstStyle/>
          <a:p>
            <a:fld id="{D57F1E4F-1CFF-5643-939E-217C01CDF565}" type="slidenum">
              <a:rPr lang="en-US" smtClean="0"/>
              <a:pPr/>
              <a:t>46</a:t>
            </a:fld>
            <a:endParaRPr lang="en-US" dirty="0"/>
          </a:p>
        </p:txBody>
      </p:sp>
      <p:sp>
        <p:nvSpPr>
          <p:cNvPr id="3" name="TextBox 2">
            <a:extLst>
              <a:ext uri="{FF2B5EF4-FFF2-40B4-BE49-F238E27FC236}">
                <a16:creationId xmlns:a16="http://schemas.microsoft.com/office/drawing/2014/main" id="{F810428E-D17B-D265-BE4D-B10897247DB4}"/>
              </a:ext>
            </a:extLst>
          </p:cNvPr>
          <p:cNvSpPr txBox="1"/>
          <p:nvPr/>
        </p:nvSpPr>
        <p:spPr>
          <a:xfrm>
            <a:off x="597159" y="839755"/>
            <a:ext cx="4124131" cy="5632311"/>
          </a:xfrm>
          <a:prstGeom prst="rect">
            <a:avLst/>
          </a:prstGeom>
          <a:noFill/>
        </p:spPr>
        <p:txBody>
          <a:bodyPr wrap="square" rtlCol="0">
            <a:spAutoFit/>
          </a:bodyPr>
          <a:lstStyle/>
          <a:p>
            <a:r>
              <a:rPr lang="en-IN" dirty="0" err="1"/>
              <a:t>ml_df</a:t>
            </a:r>
            <a:r>
              <a:rPr lang="en-IN" dirty="0"/>
              <a:t> = </a:t>
            </a:r>
            <a:r>
              <a:rPr lang="en-IN" dirty="0" err="1"/>
              <a:t>df_clean.copy</a:t>
            </a:r>
            <a:r>
              <a:rPr lang="en-IN" dirty="0"/>
              <a:t>()</a:t>
            </a:r>
          </a:p>
          <a:p>
            <a:br>
              <a:rPr lang="en-IN" dirty="0"/>
            </a:br>
            <a:br>
              <a:rPr lang="en-IN" dirty="0"/>
            </a:br>
            <a:endParaRPr lang="en-IN" dirty="0"/>
          </a:p>
          <a:p>
            <a:r>
              <a:rPr lang="en-IN" dirty="0" err="1"/>
              <a:t>ml_df</a:t>
            </a:r>
            <a:r>
              <a:rPr lang="en-IN" dirty="0"/>
              <a:t> = </a:t>
            </a:r>
            <a:r>
              <a:rPr lang="en-IN" dirty="0" err="1"/>
              <a:t>ml_df.drop</a:t>
            </a:r>
            <a:r>
              <a:rPr lang="en-IN" dirty="0"/>
              <a:t>(columns=['</a:t>
            </a:r>
            <a:r>
              <a:rPr lang="en-IN" dirty="0" err="1"/>
              <a:t>Farm_ID</a:t>
            </a:r>
            <a:r>
              <a:rPr lang="en-IN" dirty="0"/>
              <a:t>'])</a:t>
            </a:r>
          </a:p>
          <a:p>
            <a:br>
              <a:rPr lang="en-IN" dirty="0"/>
            </a:br>
            <a:br>
              <a:rPr lang="en-IN" dirty="0"/>
            </a:br>
            <a:endParaRPr lang="en-IN" dirty="0"/>
          </a:p>
          <a:p>
            <a:r>
              <a:rPr lang="en-IN" dirty="0" err="1"/>
              <a:t>ml_df</a:t>
            </a:r>
            <a:r>
              <a:rPr lang="en-IN" dirty="0"/>
              <a:t> = </a:t>
            </a:r>
            <a:r>
              <a:rPr lang="en-IN" dirty="0" err="1"/>
              <a:t>pd.get_dummies</a:t>
            </a:r>
            <a:r>
              <a:rPr lang="en-IN" dirty="0"/>
              <a:t>(</a:t>
            </a:r>
          </a:p>
          <a:p>
            <a:r>
              <a:rPr lang="en-IN" dirty="0"/>
              <a:t>    </a:t>
            </a:r>
            <a:r>
              <a:rPr lang="en-IN" dirty="0" err="1"/>
              <a:t>ml_df</a:t>
            </a:r>
            <a:r>
              <a:rPr lang="en-IN" dirty="0"/>
              <a:t>,</a:t>
            </a:r>
          </a:p>
          <a:p>
            <a:r>
              <a:rPr lang="en-IN" dirty="0"/>
              <a:t>    columns=['State', 'District', 'Crop', 'Season', '</a:t>
            </a:r>
            <a:r>
              <a:rPr lang="en-IN" dirty="0" err="1"/>
              <a:t>Irrigation_Method</a:t>
            </a:r>
            <a:r>
              <a:rPr lang="en-IN" dirty="0"/>
              <a:t>'],</a:t>
            </a:r>
          </a:p>
          <a:p>
            <a:r>
              <a:rPr lang="en-IN" dirty="0"/>
              <a:t>    </a:t>
            </a:r>
            <a:r>
              <a:rPr lang="en-IN" dirty="0" err="1"/>
              <a:t>drop_first</a:t>
            </a:r>
            <a:r>
              <a:rPr lang="en-IN" dirty="0"/>
              <a:t>=True</a:t>
            </a:r>
          </a:p>
          <a:p>
            <a:r>
              <a:rPr lang="en-IN" dirty="0"/>
              <a:t>)</a:t>
            </a:r>
          </a:p>
          <a:p>
            <a:br>
              <a:rPr lang="en-IN" dirty="0"/>
            </a:br>
            <a:endParaRPr lang="en-IN" dirty="0"/>
          </a:p>
          <a:p>
            <a:r>
              <a:rPr lang="en-IN" dirty="0"/>
              <a:t>print("ML dataset shape:", </a:t>
            </a:r>
            <a:r>
              <a:rPr lang="en-IN" dirty="0" err="1"/>
              <a:t>ml_df.shape</a:t>
            </a:r>
            <a:r>
              <a:rPr lang="en-IN" dirty="0"/>
              <a:t>)</a:t>
            </a:r>
          </a:p>
          <a:p>
            <a:endParaRPr lang="en-IN" dirty="0"/>
          </a:p>
        </p:txBody>
      </p:sp>
      <p:sp>
        <p:nvSpPr>
          <p:cNvPr id="4" name="TextBox 3">
            <a:extLst>
              <a:ext uri="{FF2B5EF4-FFF2-40B4-BE49-F238E27FC236}">
                <a16:creationId xmlns:a16="http://schemas.microsoft.com/office/drawing/2014/main" id="{59A8C1C5-F1C7-390F-F8A2-2A43CC51A370}"/>
              </a:ext>
            </a:extLst>
          </p:cNvPr>
          <p:cNvSpPr txBox="1"/>
          <p:nvPr/>
        </p:nvSpPr>
        <p:spPr>
          <a:xfrm>
            <a:off x="6400800" y="2724539"/>
            <a:ext cx="3173689" cy="369332"/>
          </a:xfrm>
          <a:prstGeom prst="rect">
            <a:avLst/>
          </a:prstGeom>
          <a:noFill/>
        </p:spPr>
        <p:txBody>
          <a:bodyPr wrap="none" rtlCol="0">
            <a:spAutoFit/>
          </a:bodyPr>
          <a:lstStyle/>
          <a:p>
            <a:r>
              <a:rPr lang="en-IN" dirty="0"/>
              <a:t>ML dataset shape: (4000, 51)</a:t>
            </a:r>
          </a:p>
        </p:txBody>
      </p:sp>
    </p:spTree>
    <p:extLst>
      <p:ext uri="{BB962C8B-B14F-4D97-AF65-F5344CB8AC3E}">
        <p14:creationId xmlns:p14="http://schemas.microsoft.com/office/powerpoint/2010/main" val="34847748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0EC15A-E37A-A612-4EBF-D67A12843385}"/>
              </a:ext>
            </a:extLst>
          </p:cNvPr>
          <p:cNvSpPr>
            <a:spLocks noGrp="1"/>
          </p:cNvSpPr>
          <p:nvPr>
            <p:ph type="sldNum" sz="quarter" idx="12"/>
          </p:nvPr>
        </p:nvSpPr>
        <p:spPr/>
        <p:txBody>
          <a:bodyPr/>
          <a:lstStyle/>
          <a:p>
            <a:fld id="{D57F1E4F-1CFF-5643-939E-217C01CDF565}" type="slidenum">
              <a:rPr lang="en-US" smtClean="0"/>
              <a:pPr/>
              <a:t>47</a:t>
            </a:fld>
            <a:endParaRPr lang="en-US" dirty="0"/>
          </a:p>
        </p:txBody>
      </p:sp>
      <p:sp>
        <p:nvSpPr>
          <p:cNvPr id="3" name="TextBox 2">
            <a:extLst>
              <a:ext uri="{FF2B5EF4-FFF2-40B4-BE49-F238E27FC236}">
                <a16:creationId xmlns:a16="http://schemas.microsoft.com/office/drawing/2014/main" id="{99081368-AF40-6AF8-9DBC-417A41B4683D}"/>
              </a:ext>
            </a:extLst>
          </p:cNvPr>
          <p:cNvSpPr txBox="1"/>
          <p:nvPr/>
        </p:nvSpPr>
        <p:spPr>
          <a:xfrm>
            <a:off x="634482" y="634482"/>
            <a:ext cx="5141167" cy="5909310"/>
          </a:xfrm>
          <a:prstGeom prst="rect">
            <a:avLst/>
          </a:prstGeom>
          <a:noFill/>
        </p:spPr>
        <p:txBody>
          <a:bodyPr wrap="square" rtlCol="0">
            <a:spAutoFit/>
          </a:bodyPr>
          <a:lstStyle/>
          <a:p>
            <a:r>
              <a:rPr lang="en-IN" dirty="0"/>
              <a:t>X = </a:t>
            </a:r>
            <a:r>
              <a:rPr lang="en-IN" dirty="0" err="1"/>
              <a:t>ml_df.drop</a:t>
            </a:r>
            <a:r>
              <a:rPr lang="en-IN" dirty="0"/>
              <a:t>(columns=['</a:t>
            </a:r>
            <a:r>
              <a:rPr lang="en-IN" dirty="0" err="1"/>
              <a:t>Yield_Tonnes_Ha</a:t>
            </a:r>
            <a:r>
              <a:rPr lang="en-IN" dirty="0"/>
              <a:t>'])</a:t>
            </a:r>
          </a:p>
          <a:p>
            <a:r>
              <a:rPr lang="en-IN" dirty="0"/>
              <a:t>y = </a:t>
            </a:r>
            <a:r>
              <a:rPr lang="en-IN" dirty="0" err="1"/>
              <a:t>ml_df</a:t>
            </a:r>
            <a:r>
              <a:rPr lang="en-IN" dirty="0"/>
              <a:t>['</a:t>
            </a:r>
            <a:r>
              <a:rPr lang="en-IN" dirty="0" err="1"/>
              <a:t>Yield_Tonnes_Ha</a:t>
            </a:r>
            <a:r>
              <a:rPr lang="en-IN" dirty="0"/>
              <a:t>']</a:t>
            </a:r>
          </a:p>
          <a:p>
            <a:r>
              <a:rPr lang="en-IN" dirty="0" err="1"/>
              <a:t>X_train</a:t>
            </a:r>
            <a:r>
              <a:rPr lang="en-IN" dirty="0"/>
              <a:t>, </a:t>
            </a:r>
            <a:r>
              <a:rPr lang="en-IN" dirty="0" err="1"/>
              <a:t>X_test</a:t>
            </a:r>
            <a:r>
              <a:rPr lang="en-IN" dirty="0"/>
              <a:t>, </a:t>
            </a:r>
            <a:r>
              <a:rPr lang="en-IN" dirty="0" err="1"/>
              <a:t>y_train</a:t>
            </a:r>
            <a:r>
              <a:rPr lang="en-IN" dirty="0"/>
              <a:t>, </a:t>
            </a:r>
            <a:r>
              <a:rPr lang="en-IN" dirty="0" err="1"/>
              <a:t>y_test</a:t>
            </a:r>
            <a:r>
              <a:rPr lang="en-IN" dirty="0"/>
              <a:t> = </a:t>
            </a:r>
            <a:r>
              <a:rPr lang="en-IN" dirty="0" err="1"/>
              <a:t>train_test_split</a:t>
            </a:r>
            <a:r>
              <a:rPr lang="en-IN" dirty="0"/>
              <a:t>(</a:t>
            </a:r>
          </a:p>
          <a:p>
            <a:r>
              <a:rPr lang="en-IN" dirty="0"/>
              <a:t>    X,</a:t>
            </a:r>
          </a:p>
          <a:p>
            <a:r>
              <a:rPr lang="en-IN" dirty="0"/>
              <a:t>    y,</a:t>
            </a:r>
          </a:p>
          <a:p>
            <a:r>
              <a:rPr lang="en-IN" dirty="0"/>
              <a:t>    </a:t>
            </a:r>
            <a:r>
              <a:rPr lang="en-IN" dirty="0" err="1"/>
              <a:t>test_size</a:t>
            </a:r>
            <a:r>
              <a:rPr lang="en-IN" dirty="0"/>
              <a:t>=0.20,</a:t>
            </a:r>
          </a:p>
          <a:p>
            <a:r>
              <a:rPr lang="en-IN" dirty="0"/>
              <a:t>    </a:t>
            </a:r>
            <a:r>
              <a:rPr lang="en-IN" dirty="0" err="1"/>
              <a:t>random_state</a:t>
            </a:r>
            <a:r>
              <a:rPr lang="en-IN" dirty="0"/>
              <a:t>=42</a:t>
            </a:r>
          </a:p>
          <a:p>
            <a:r>
              <a:rPr lang="en-IN" dirty="0"/>
              <a:t>)</a:t>
            </a:r>
          </a:p>
          <a:p>
            <a:br>
              <a:rPr lang="en-IN" dirty="0"/>
            </a:br>
            <a:r>
              <a:rPr lang="en-IN" dirty="0"/>
              <a:t>model = </a:t>
            </a:r>
            <a:r>
              <a:rPr lang="en-IN" dirty="0" err="1"/>
              <a:t>RandomForestRegressor</a:t>
            </a:r>
            <a:r>
              <a:rPr lang="en-IN" dirty="0"/>
              <a:t>(</a:t>
            </a:r>
          </a:p>
          <a:p>
            <a:r>
              <a:rPr lang="en-IN" dirty="0"/>
              <a:t>    </a:t>
            </a:r>
            <a:r>
              <a:rPr lang="en-IN" dirty="0" err="1"/>
              <a:t>n_estimators</a:t>
            </a:r>
            <a:r>
              <a:rPr lang="en-IN" dirty="0"/>
              <a:t>=200,</a:t>
            </a:r>
          </a:p>
          <a:p>
            <a:r>
              <a:rPr lang="en-IN" dirty="0"/>
              <a:t>    </a:t>
            </a:r>
            <a:r>
              <a:rPr lang="en-IN" dirty="0" err="1"/>
              <a:t>random_state</a:t>
            </a:r>
            <a:r>
              <a:rPr lang="en-IN" dirty="0"/>
              <a:t>=42</a:t>
            </a:r>
          </a:p>
          <a:p>
            <a:r>
              <a:rPr lang="en-IN" dirty="0"/>
              <a:t>)</a:t>
            </a:r>
          </a:p>
          <a:p>
            <a:r>
              <a:rPr lang="en-IN" dirty="0" err="1"/>
              <a:t>model.fit</a:t>
            </a:r>
            <a:r>
              <a:rPr lang="en-IN" dirty="0"/>
              <a:t>(</a:t>
            </a:r>
            <a:r>
              <a:rPr lang="en-IN" dirty="0" err="1"/>
              <a:t>X_train</a:t>
            </a:r>
            <a:r>
              <a:rPr lang="en-IN" dirty="0"/>
              <a:t>, </a:t>
            </a:r>
            <a:r>
              <a:rPr lang="en-IN" dirty="0" err="1"/>
              <a:t>y_train</a:t>
            </a:r>
            <a:r>
              <a:rPr lang="en-IN" dirty="0"/>
              <a:t>)</a:t>
            </a:r>
          </a:p>
          <a:p>
            <a:br>
              <a:rPr lang="en-IN" dirty="0"/>
            </a:br>
            <a:r>
              <a:rPr lang="en-IN" dirty="0"/>
              <a:t>predictions = </a:t>
            </a:r>
            <a:r>
              <a:rPr lang="en-IN" dirty="0" err="1"/>
              <a:t>model.predict</a:t>
            </a:r>
            <a:r>
              <a:rPr lang="en-IN" dirty="0"/>
              <a:t>(</a:t>
            </a:r>
            <a:r>
              <a:rPr lang="en-IN" dirty="0" err="1"/>
              <a:t>X_test</a:t>
            </a:r>
            <a:r>
              <a:rPr lang="en-IN" dirty="0"/>
              <a:t>)</a:t>
            </a:r>
          </a:p>
          <a:p>
            <a:endParaRPr lang="en-IN" dirty="0"/>
          </a:p>
          <a:p>
            <a:endParaRPr lang="en-IN" dirty="0"/>
          </a:p>
          <a:p>
            <a:r>
              <a:rPr lang="en-IN" dirty="0"/>
              <a:t>print("Model trained successfully!")</a:t>
            </a:r>
          </a:p>
          <a:p>
            <a:endParaRPr lang="en-IN" dirty="0"/>
          </a:p>
        </p:txBody>
      </p:sp>
      <p:sp>
        <p:nvSpPr>
          <p:cNvPr id="4" name="TextBox 3">
            <a:extLst>
              <a:ext uri="{FF2B5EF4-FFF2-40B4-BE49-F238E27FC236}">
                <a16:creationId xmlns:a16="http://schemas.microsoft.com/office/drawing/2014/main" id="{79174909-FCF4-6652-372A-082A342EAA54}"/>
              </a:ext>
            </a:extLst>
          </p:cNvPr>
          <p:cNvSpPr txBox="1"/>
          <p:nvPr/>
        </p:nvSpPr>
        <p:spPr>
          <a:xfrm>
            <a:off x="7800392" y="3097763"/>
            <a:ext cx="2986715" cy="369332"/>
          </a:xfrm>
          <a:prstGeom prst="rect">
            <a:avLst/>
          </a:prstGeom>
          <a:noFill/>
        </p:spPr>
        <p:txBody>
          <a:bodyPr wrap="none" rtlCol="0">
            <a:spAutoFit/>
          </a:bodyPr>
          <a:lstStyle/>
          <a:p>
            <a:r>
              <a:rPr lang="en-IN" dirty="0"/>
              <a:t>Model trained successfully!</a:t>
            </a:r>
          </a:p>
        </p:txBody>
      </p:sp>
    </p:spTree>
    <p:extLst>
      <p:ext uri="{BB962C8B-B14F-4D97-AF65-F5344CB8AC3E}">
        <p14:creationId xmlns:p14="http://schemas.microsoft.com/office/powerpoint/2010/main" val="1772878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A50BCE-3AD5-46B5-98EA-FD6B9CD5821F}"/>
              </a:ext>
            </a:extLst>
          </p:cNvPr>
          <p:cNvSpPr>
            <a:spLocks noGrp="1"/>
          </p:cNvSpPr>
          <p:nvPr>
            <p:ph type="sldNum" sz="quarter" idx="12"/>
          </p:nvPr>
        </p:nvSpPr>
        <p:spPr/>
        <p:txBody>
          <a:bodyPr/>
          <a:lstStyle/>
          <a:p>
            <a:fld id="{D57F1E4F-1CFF-5643-939E-217C01CDF565}" type="slidenum">
              <a:rPr lang="en-US" smtClean="0"/>
              <a:pPr/>
              <a:t>48</a:t>
            </a:fld>
            <a:endParaRPr lang="en-US" dirty="0"/>
          </a:p>
        </p:txBody>
      </p:sp>
      <p:sp>
        <p:nvSpPr>
          <p:cNvPr id="3" name="TextBox 2">
            <a:extLst>
              <a:ext uri="{FF2B5EF4-FFF2-40B4-BE49-F238E27FC236}">
                <a16:creationId xmlns:a16="http://schemas.microsoft.com/office/drawing/2014/main" id="{0FFA5885-D6CF-E002-24E4-4CE9E620789F}"/>
              </a:ext>
            </a:extLst>
          </p:cNvPr>
          <p:cNvSpPr txBox="1"/>
          <p:nvPr/>
        </p:nvSpPr>
        <p:spPr>
          <a:xfrm>
            <a:off x="578498" y="1324947"/>
            <a:ext cx="5208477" cy="4801314"/>
          </a:xfrm>
          <a:prstGeom prst="rect">
            <a:avLst/>
          </a:prstGeom>
          <a:noFill/>
        </p:spPr>
        <p:txBody>
          <a:bodyPr wrap="none" rtlCol="0">
            <a:spAutoFit/>
          </a:bodyPr>
          <a:lstStyle/>
          <a:p>
            <a:br>
              <a:rPr lang="en-IN" dirty="0"/>
            </a:br>
            <a:endParaRPr lang="en-IN" dirty="0"/>
          </a:p>
          <a:p>
            <a:r>
              <a:rPr lang="en-IN" dirty="0" err="1"/>
              <a:t>mae</a:t>
            </a:r>
            <a:r>
              <a:rPr lang="en-IN" dirty="0"/>
              <a:t> = </a:t>
            </a:r>
            <a:r>
              <a:rPr lang="en-IN" dirty="0" err="1"/>
              <a:t>mean_absolute_error</a:t>
            </a:r>
            <a:r>
              <a:rPr lang="en-IN" dirty="0"/>
              <a:t>(</a:t>
            </a:r>
            <a:r>
              <a:rPr lang="en-IN" dirty="0" err="1"/>
              <a:t>y_test</a:t>
            </a:r>
            <a:r>
              <a:rPr lang="en-IN" dirty="0"/>
              <a:t>, predictions)</a:t>
            </a:r>
          </a:p>
          <a:p>
            <a:br>
              <a:rPr lang="en-IN" dirty="0"/>
            </a:br>
            <a:endParaRPr lang="en-IN" dirty="0"/>
          </a:p>
          <a:p>
            <a:r>
              <a:rPr lang="en-IN" dirty="0" err="1"/>
              <a:t>rmse</a:t>
            </a:r>
            <a:r>
              <a:rPr lang="en-IN" dirty="0"/>
              <a:t> = </a:t>
            </a:r>
            <a:r>
              <a:rPr lang="en-IN" dirty="0" err="1"/>
              <a:t>np.sqrt</a:t>
            </a:r>
            <a:r>
              <a:rPr lang="en-IN" dirty="0"/>
              <a:t>(</a:t>
            </a:r>
          </a:p>
          <a:p>
            <a:r>
              <a:rPr lang="en-IN" dirty="0"/>
              <a:t>    </a:t>
            </a:r>
            <a:r>
              <a:rPr lang="en-IN" dirty="0" err="1"/>
              <a:t>mean_squared_error</a:t>
            </a:r>
            <a:r>
              <a:rPr lang="en-IN" dirty="0"/>
              <a:t>(</a:t>
            </a:r>
            <a:r>
              <a:rPr lang="en-IN" dirty="0" err="1"/>
              <a:t>y_test</a:t>
            </a:r>
            <a:r>
              <a:rPr lang="en-IN" dirty="0"/>
              <a:t>, predictions)</a:t>
            </a:r>
          </a:p>
          <a:p>
            <a:r>
              <a:rPr lang="en-IN" dirty="0"/>
              <a:t>)</a:t>
            </a:r>
          </a:p>
          <a:p>
            <a:br>
              <a:rPr lang="en-IN" dirty="0"/>
            </a:br>
            <a:endParaRPr lang="en-IN" dirty="0"/>
          </a:p>
          <a:p>
            <a:r>
              <a:rPr lang="en-IN" dirty="0"/>
              <a:t>r2 = r2_score(</a:t>
            </a:r>
            <a:r>
              <a:rPr lang="en-IN" dirty="0" err="1"/>
              <a:t>y_test</a:t>
            </a:r>
            <a:r>
              <a:rPr lang="en-IN" dirty="0"/>
              <a:t>, predictions)</a:t>
            </a:r>
          </a:p>
          <a:p>
            <a:br>
              <a:rPr lang="en-IN" dirty="0"/>
            </a:br>
            <a:endParaRPr lang="en-IN" dirty="0"/>
          </a:p>
          <a:p>
            <a:r>
              <a:rPr lang="en-IN" dirty="0"/>
              <a:t>print("Mean Absolute Error:", </a:t>
            </a:r>
            <a:r>
              <a:rPr lang="en-IN" dirty="0" err="1"/>
              <a:t>mae</a:t>
            </a:r>
            <a:r>
              <a:rPr lang="en-IN" dirty="0"/>
              <a:t>)</a:t>
            </a:r>
          </a:p>
          <a:p>
            <a:r>
              <a:rPr lang="en-IN" dirty="0"/>
              <a:t>print("Root Mean Squared Error:", </a:t>
            </a:r>
            <a:r>
              <a:rPr lang="en-IN" dirty="0" err="1"/>
              <a:t>rmse</a:t>
            </a:r>
            <a:r>
              <a:rPr lang="en-IN" dirty="0"/>
              <a:t>)</a:t>
            </a:r>
          </a:p>
          <a:p>
            <a:r>
              <a:rPr lang="en-IN" dirty="0"/>
              <a:t>print("R² Score:", r2)</a:t>
            </a:r>
          </a:p>
          <a:p>
            <a:endParaRPr lang="en-IN" dirty="0"/>
          </a:p>
        </p:txBody>
      </p:sp>
      <p:sp>
        <p:nvSpPr>
          <p:cNvPr id="4" name="TextBox 3">
            <a:extLst>
              <a:ext uri="{FF2B5EF4-FFF2-40B4-BE49-F238E27FC236}">
                <a16:creationId xmlns:a16="http://schemas.microsoft.com/office/drawing/2014/main" id="{3B5A1CD5-DF29-01AD-584A-817CD8B133F6}"/>
              </a:ext>
            </a:extLst>
          </p:cNvPr>
          <p:cNvSpPr txBox="1"/>
          <p:nvPr/>
        </p:nvSpPr>
        <p:spPr>
          <a:xfrm>
            <a:off x="6270171" y="2855166"/>
            <a:ext cx="3950154" cy="1200329"/>
          </a:xfrm>
          <a:prstGeom prst="rect">
            <a:avLst/>
          </a:prstGeom>
          <a:noFill/>
        </p:spPr>
        <p:txBody>
          <a:bodyPr wrap="square" rtlCol="0">
            <a:spAutoFit/>
          </a:bodyPr>
          <a:lstStyle/>
          <a:p>
            <a:r>
              <a:rPr lang="en-IN" dirty="0"/>
              <a:t>Mean Absolute Error: 0.449497187500001 Root Mean Squared Error: 1.577680117927312 R² Score: 0.9870897554013689</a:t>
            </a:r>
          </a:p>
        </p:txBody>
      </p:sp>
    </p:spTree>
    <p:extLst>
      <p:ext uri="{BB962C8B-B14F-4D97-AF65-F5344CB8AC3E}">
        <p14:creationId xmlns:p14="http://schemas.microsoft.com/office/powerpoint/2010/main" val="15987689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CACE98-2A07-DD01-A4DE-D11F79DE106E}"/>
              </a:ext>
            </a:extLst>
          </p:cNvPr>
          <p:cNvSpPr>
            <a:spLocks noGrp="1"/>
          </p:cNvSpPr>
          <p:nvPr>
            <p:ph type="sldNum" sz="quarter" idx="12"/>
          </p:nvPr>
        </p:nvSpPr>
        <p:spPr/>
        <p:txBody>
          <a:bodyPr/>
          <a:lstStyle/>
          <a:p>
            <a:fld id="{D57F1E4F-1CFF-5643-939E-217C01CDF565}" type="slidenum">
              <a:rPr lang="en-US" smtClean="0"/>
              <a:pPr/>
              <a:t>49</a:t>
            </a:fld>
            <a:endParaRPr lang="en-US" dirty="0"/>
          </a:p>
        </p:txBody>
      </p:sp>
      <p:sp>
        <p:nvSpPr>
          <p:cNvPr id="3" name="TextBox 2">
            <a:extLst>
              <a:ext uri="{FF2B5EF4-FFF2-40B4-BE49-F238E27FC236}">
                <a16:creationId xmlns:a16="http://schemas.microsoft.com/office/drawing/2014/main" id="{1B58C245-25B6-D379-3B25-983787A077F2}"/>
              </a:ext>
            </a:extLst>
          </p:cNvPr>
          <p:cNvSpPr txBox="1"/>
          <p:nvPr/>
        </p:nvSpPr>
        <p:spPr>
          <a:xfrm>
            <a:off x="447869" y="877078"/>
            <a:ext cx="3694923" cy="5078313"/>
          </a:xfrm>
          <a:prstGeom prst="rect">
            <a:avLst/>
          </a:prstGeom>
          <a:noFill/>
        </p:spPr>
        <p:txBody>
          <a:bodyPr wrap="square" rtlCol="0">
            <a:spAutoFit/>
          </a:bodyPr>
          <a:lstStyle/>
          <a:p>
            <a:r>
              <a:rPr lang="en-IN" dirty="0" err="1"/>
              <a:t>feature_importance</a:t>
            </a:r>
            <a:r>
              <a:rPr lang="en-IN" dirty="0"/>
              <a:t> = </a:t>
            </a:r>
            <a:r>
              <a:rPr lang="en-IN" dirty="0" err="1"/>
              <a:t>pd.DataFrame</a:t>
            </a:r>
            <a:r>
              <a:rPr lang="en-IN" dirty="0"/>
              <a:t>({</a:t>
            </a:r>
          </a:p>
          <a:p>
            <a:r>
              <a:rPr lang="en-IN" dirty="0"/>
              <a:t>    'Feature': </a:t>
            </a:r>
            <a:r>
              <a:rPr lang="en-IN" dirty="0" err="1"/>
              <a:t>X.columns</a:t>
            </a:r>
            <a:r>
              <a:rPr lang="en-IN" dirty="0"/>
              <a:t>,</a:t>
            </a:r>
          </a:p>
          <a:p>
            <a:r>
              <a:rPr lang="en-IN" dirty="0"/>
              <a:t>    'Importance': </a:t>
            </a:r>
            <a:r>
              <a:rPr lang="en-IN" dirty="0" err="1"/>
              <a:t>model.feature_importances</a:t>
            </a:r>
            <a:r>
              <a:rPr lang="en-IN" dirty="0"/>
              <a:t>_</a:t>
            </a:r>
          </a:p>
          <a:p>
            <a:r>
              <a:rPr lang="en-IN" dirty="0"/>
              <a:t>})</a:t>
            </a:r>
          </a:p>
          <a:p>
            <a:br>
              <a:rPr lang="en-IN" dirty="0"/>
            </a:br>
            <a:endParaRPr lang="en-IN" dirty="0"/>
          </a:p>
          <a:p>
            <a:r>
              <a:rPr lang="en-IN" dirty="0" err="1"/>
              <a:t>feature_importance</a:t>
            </a:r>
            <a:r>
              <a:rPr lang="en-IN" dirty="0"/>
              <a:t> = </a:t>
            </a:r>
            <a:r>
              <a:rPr lang="en-IN" dirty="0" err="1"/>
              <a:t>feature_importance.sort_values</a:t>
            </a:r>
            <a:r>
              <a:rPr lang="en-IN" dirty="0"/>
              <a:t>(</a:t>
            </a:r>
          </a:p>
          <a:p>
            <a:r>
              <a:rPr lang="en-IN" dirty="0"/>
              <a:t>    'Importance',</a:t>
            </a:r>
          </a:p>
          <a:p>
            <a:r>
              <a:rPr lang="en-IN" dirty="0"/>
              <a:t>    ascending=False</a:t>
            </a:r>
          </a:p>
          <a:p>
            <a:r>
              <a:rPr lang="en-IN" dirty="0"/>
              <a:t>)</a:t>
            </a:r>
          </a:p>
          <a:p>
            <a:br>
              <a:rPr lang="en-IN" dirty="0"/>
            </a:br>
            <a:endParaRPr lang="en-IN" dirty="0"/>
          </a:p>
          <a:p>
            <a:r>
              <a:rPr lang="en-IN" dirty="0"/>
              <a:t>display(</a:t>
            </a:r>
            <a:r>
              <a:rPr lang="en-IN" dirty="0" err="1"/>
              <a:t>feature_importance.head</a:t>
            </a:r>
            <a:r>
              <a:rPr lang="en-IN" dirty="0"/>
              <a:t>(20))</a:t>
            </a:r>
          </a:p>
          <a:p>
            <a:endParaRPr lang="en-IN" dirty="0"/>
          </a:p>
        </p:txBody>
      </p:sp>
      <p:graphicFrame>
        <p:nvGraphicFramePr>
          <p:cNvPr id="5" name="Table 4">
            <a:extLst>
              <a:ext uri="{FF2B5EF4-FFF2-40B4-BE49-F238E27FC236}">
                <a16:creationId xmlns:a16="http://schemas.microsoft.com/office/drawing/2014/main" id="{1EFBC6D2-7417-5B65-0E9F-074BF7F1FA40}"/>
              </a:ext>
            </a:extLst>
          </p:cNvPr>
          <p:cNvGraphicFramePr>
            <a:graphicFrameLocks noGrp="1"/>
          </p:cNvGraphicFramePr>
          <p:nvPr>
            <p:extLst>
              <p:ext uri="{D42A27DB-BD31-4B8C-83A1-F6EECF244321}">
                <p14:modId xmlns:p14="http://schemas.microsoft.com/office/powerpoint/2010/main" val="3611079700"/>
              </p:ext>
            </p:extLst>
          </p:nvPr>
        </p:nvGraphicFramePr>
        <p:xfrm>
          <a:off x="5085534" y="219822"/>
          <a:ext cx="6157854" cy="6638178"/>
        </p:xfrm>
        <a:graphic>
          <a:graphicData uri="http://schemas.openxmlformats.org/drawingml/2006/table">
            <a:tbl>
              <a:tblPr>
                <a:tableStyleId>{6E25E649-3F16-4E02-A733-19D2CDBF48F0}</a:tableStyleId>
              </a:tblPr>
              <a:tblGrid>
                <a:gridCol w="2052618">
                  <a:extLst>
                    <a:ext uri="{9D8B030D-6E8A-4147-A177-3AD203B41FA5}">
                      <a16:colId xmlns:a16="http://schemas.microsoft.com/office/drawing/2014/main" val="2778363023"/>
                    </a:ext>
                  </a:extLst>
                </a:gridCol>
                <a:gridCol w="2052618">
                  <a:extLst>
                    <a:ext uri="{9D8B030D-6E8A-4147-A177-3AD203B41FA5}">
                      <a16:colId xmlns:a16="http://schemas.microsoft.com/office/drawing/2014/main" val="45595751"/>
                    </a:ext>
                  </a:extLst>
                </a:gridCol>
                <a:gridCol w="2052618">
                  <a:extLst>
                    <a:ext uri="{9D8B030D-6E8A-4147-A177-3AD203B41FA5}">
                      <a16:colId xmlns:a16="http://schemas.microsoft.com/office/drawing/2014/main" val="1176263811"/>
                    </a:ext>
                  </a:extLst>
                </a:gridCol>
              </a:tblGrid>
              <a:tr h="295030">
                <a:tc>
                  <a:txBody>
                    <a:bodyPr/>
                    <a:lstStyle/>
                    <a:p>
                      <a:pPr algn="r" fontAlgn="t">
                        <a:buNone/>
                      </a:pPr>
                      <a:endParaRPr lang="en-IN" sz="800">
                        <a:effectLst/>
                      </a:endParaRPr>
                    </a:p>
                  </a:txBody>
                  <a:tcPr marL="43127" marR="43127" marT="21564" marB="21564"/>
                </a:tc>
                <a:tc>
                  <a:txBody>
                    <a:bodyPr/>
                    <a:lstStyle/>
                    <a:p>
                      <a:pPr algn="r" fontAlgn="t">
                        <a:buNone/>
                      </a:pPr>
                      <a:r>
                        <a:rPr lang="en-IN" sz="800">
                          <a:effectLst/>
                        </a:rPr>
                        <a:t>Feature</a:t>
                      </a:r>
                    </a:p>
                  </a:txBody>
                  <a:tcPr marL="43127" marR="43127" marT="21564" marB="21564"/>
                </a:tc>
                <a:tc>
                  <a:txBody>
                    <a:bodyPr/>
                    <a:lstStyle/>
                    <a:p>
                      <a:pPr algn="r" fontAlgn="t">
                        <a:buNone/>
                      </a:pPr>
                      <a:r>
                        <a:rPr lang="en-IN" sz="800">
                          <a:effectLst/>
                        </a:rPr>
                        <a:t>Importance</a:t>
                      </a:r>
                    </a:p>
                  </a:txBody>
                  <a:tcPr marL="43127" marR="43127" marT="21564" marB="21564"/>
                </a:tc>
                <a:extLst>
                  <a:ext uri="{0D108BD9-81ED-4DB2-BD59-A6C34878D82A}">
                    <a16:rowId xmlns:a16="http://schemas.microsoft.com/office/drawing/2014/main" val="729792941"/>
                  </a:ext>
                </a:extLst>
              </a:tr>
              <a:tr h="516304">
                <a:tc>
                  <a:txBody>
                    <a:bodyPr/>
                    <a:lstStyle/>
                    <a:p>
                      <a:pPr fontAlgn="t">
                        <a:buNone/>
                      </a:pPr>
                      <a:r>
                        <a:rPr lang="en-IN" sz="800">
                          <a:effectLst/>
                        </a:rPr>
                        <a:t>19</a:t>
                      </a:r>
                    </a:p>
                  </a:txBody>
                  <a:tcPr marL="43127" marR="43127" marT="21564" marB="21564"/>
                </a:tc>
                <a:tc>
                  <a:txBody>
                    <a:bodyPr/>
                    <a:lstStyle/>
                    <a:p>
                      <a:pPr fontAlgn="t">
                        <a:buNone/>
                      </a:pPr>
                      <a:r>
                        <a:rPr lang="en-IN" sz="800">
                          <a:effectLst/>
                        </a:rPr>
                        <a:t>Water_Efficiency_t_per_1000m3</a:t>
                      </a:r>
                    </a:p>
                  </a:txBody>
                  <a:tcPr marL="43127" marR="43127" marT="21564" marB="21564"/>
                </a:tc>
                <a:tc>
                  <a:txBody>
                    <a:bodyPr/>
                    <a:lstStyle/>
                    <a:p>
                      <a:pPr fontAlgn="t">
                        <a:buNone/>
                      </a:pPr>
                      <a:r>
                        <a:rPr lang="en-IN" sz="800">
                          <a:effectLst/>
                        </a:rPr>
                        <a:t>0.850272</a:t>
                      </a:r>
                    </a:p>
                  </a:txBody>
                  <a:tcPr marL="43127" marR="43127" marT="21564" marB="21564"/>
                </a:tc>
                <a:extLst>
                  <a:ext uri="{0D108BD9-81ED-4DB2-BD59-A6C34878D82A}">
                    <a16:rowId xmlns:a16="http://schemas.microsoft.com/office/drawing/2014/main" val="1305482161"/>
                  </a:ext>
                </a:extLst>
              </a:tr>
              <a:tr h="295030">
                <a:tc>
                  <a:txBody>
                    <a:bodyPr/>
                    <a:lstStyle/>
                    <a:p>
                      <a:pPr fontAlgn="t">
                        <a:buNone/>
                      </a:pPr>
                      <a:r>
                        <a:rPr lang="en-IN" sz="800">
                          <a:effectLst/>
                        </a:rPr>
                        <a:t>21</a:t>
                      </a:r>
                    </a:p>
                  </a:txBody>
                  <a:tcPr marL="43127" marR="43127" marT="21564" marB="21564"/>
                </a:tc>
                <a:tc>
                  <a:txBody>
                    <a:bodyPr/>
                    <a:lstStyle/>
                    <a:p>
                      <a:pPr fontAlgn="t">
                        <a:buNone/>
                      </a:pPr>
                      <a:r>
                        <a:rPr lang="en-IN" sz="800">
                          <a:effectLst/>
                        </a:rPr>
                        <a:t>Performance_Score</a:t>
                      </a:r>
                    </a:p>
                  </a:txBody>
                  <a:tcPr marL="43127" marR="43127" marT="21564" marB="21564"/>
                </a:tc>
                <a:tc>
                  <a:txBody>
                    <a:bodyPr/>
                    <a:lstStyle/>
                    <a:p>
                      <a:pPr fontAlgn="t">
                        <a:buNone/>
                      </a:pPr>
                      <a:r>
                        <a:rPr lang="en-IN" sz="800">
                          <a:effectLst/>
                        </a:rPr>
                        <a:t>0.102538</a:t>
                      </a:r>
                    </a:p>
                  </a:txBody>
                  <a:tcPr marL="43127" marR="43127" marT="21564" marB="21564"/>
                </a:tc>
                <a:extLst>
                  <a:ext uri="{0D108BD9-81ED-4DB2-BD59-A6C34878D82A}">
                    <a16:rowId xmlns:a16="http://schemas.microsoft.com/office/drawing/2014/main" val="2801296142"/>
                  </a:ext>
                </a:extLst>
              </a:tr>
              <a:tr h="295030">
                <a:tc>
                  <a:txBody>
                    <a:bodyPr/>
                    <a:lstStyle/>
                    <a:p>
                      <a:pPr fontAlgn="t">
                        <a:buNone/>
                      </a:pPr>
                      <a:r>
                        <a:rPr lang="en-IN" sz="800">
                          <a:effectLst/>
                        </a:rPr>
                        <a:t>13</a:t>
                      </a:r>
                    </a:p>
                  </a:txBody>
                  <a:tcPr marL="43127" marR="43127" marT="21564" marB="21564"/>
                </a:tc>
                <a:tc>
                  <a:txBody>
                    <a:bodyPr/>
                    <a:lstStyle/>
                    <a:p>
                      <a:pPr fontAlgn="t">
                        <a:buNone/>
                      </a:pPr>
                      <a:r>
                        <a:rPr lang="en-IN" sz="800">
                          <a:effectLst/>
                        </a:rPr>
                        <a:t>Production_Tonnes</a:t>
                      </a:r>
                    </a:p>
                  </a:txBody>
                  <a:tcPr marL="43127" marR="43127" marT="21564" marB="21564"/>
                </a:tc>
                <a:tc>
                  <a:txBody>
                    <a:bodyPr/>
                    <a:lstStyle/>
                    <a:p>
                      <a:pPr fontAlgn="t">
                        <a:buNone/>
                      </a:pPr>
                      <a:r>
                        <a:rPr lang="en-IN" sz="800">
                          <a:effectLst/>
                        </a:rPr>
                        <a:t>0.019703</a:t>
                      </a:r>
                    </a:p>
                  </a:txBody>
                  <a:tcPr marL="43127" marR="43127" marT="21564" marB="21564"/>
                </a:tc>
                <a:extLst>
                  <a:ext uri="{0D108BD9-81ED-4DB2-BD59-A6C34878D82A}">
                    <a16:rowId xmlns:a16="http://schemas.microsoft.com/office/drawing/2014/main" val="992255457"/>
                  </a:ext>
                </a:extLst>
              </a:tr>
              <a:tr h="295030">
                <a:tc>
                  <a:txBody>
                    <a:bodyPr/>
                    <a:lstStyle/>
                    <a:p>
                      <a:pPr fontAlgn="t">
                        <a:buNone/>
                      </a:pPr>
                      <a:r>
                        <a:rPr lang="en-IN" sz="800">
                          <a:effectLst/>
                        </a:rPr>
                        <a:t>14</a:t>
                      </a:r>
                    </a:p>
                  </a:txBody>
                  <a:tcPr marL="43127" marR="43127" marT="21564" marB="21564"/>
                </a:tc>
                <a:tc>
                  <a:txBody>
                    <a:bodyPr/>
                    <a:lstStyle/>
                    <a:p>
                      <a:pPr fontAlgn="t">
                        <a:buNone/>
                      </a:pPr>
                      <a:r>
                        <a:rPr lang="en-IN" sz="800">
                          <a:effectLst/>
                        </a:rPr>
                        <a:t>Market_Price_INR_Tonne</a:t>
                      </a:r>
                    </a:p>
                  </a:txBody>
                  <a:tcPr marL="43127" marR="43127" marT="21564" marB="21564"/>
                </a:tc>
                <a:tc>
                  <a:txBody>
                    <a:bodyPr/>
                    <a:lstStyle/>
                    <a:p>
                      <a:pPr fontAlgn="t">
                        <a:buNone/>
                      </a:pPr>
                      <a:r>
                        <a:rPr lang="en-IN" sz="800">
                          <a:effectLst/>
                        </a:rPr>
                        <a:t>0.006142</a:t>
                      </a:r>
                    </a:p>
                  </a:txBody>
                  <a:tcPr marL="43127" marR="43127" marT="21564" marB="21564"/>
                </a:tc>
                <a:extLst>
                  <a:ext uri="{0D108BD9-81ED-4DB2-BD59-A6C34878D82A}">
                    <a16:rowId xmlns:a16="http://schemas.microsoft.com/office/drawing/2014/main" val="3337751065"/>
                  </a:ext>
                </a:extLst>
              </a:tr>
              <a:tr h="295030">
                <a:tc>
                  <a:txBody>
                    <a:bodyPr/>
                    <a:lstStyle/>
                    <a:p>
                      <a:pPr fontAlgn="t">
                        <a:buNone/>
                      </a:pPr>
                      <a:r>
                        <a:rPr lang="en-IN" sz="800">
                          <a:effectLst/>
                        </a:rPr>
                        <a:t>0</a:t>
                      </a:r>
                    </a:p>
                  </a:txBody>
                  <a:tcPr marL="43127" marR="43127" marT="21564" marB="21564"/>
                </a:tc>
                <a:tc>
                  <a:txBody>
                    <a:bodyPr/>
                    <a:lstStyle/>
                    <a:p>
                      <a:pPr fontAlgn="t">
                        <a:buNone/>
                      </a:pPr>
                      <a:r>
                        <a:rPr lang="en-IN" sz="800">
                          <a:effectLst/>
                        </a:rPr>
                        <a:t>Farm_Area_Hectares</a:t>
                      </a:r>
                    </a:p>
                  </a:txBody>
                  <a:tcPr marL="43127" marR="43127" marT="21564" marB="21564"/>
                </a:tc>
                <a:tc>
                  <a:txBody>
                    <a:bodyPr/>
                    <a:lstStyle/>
                    <a:p>
                      <a:pPr fontAlgn="t">
                        <a:buNone/>
                      </a:pPr>
                      <a:r>
                        <a:rPr lang="en-IN" sz="800">
                          <a:effectLst/>
                        </a:rPr>
                        <a:t>0.003713</a:t>
                      </a:r>
                    </a:p>
                  </a:txBody>
                  <a:tcPr marL="43127" marR="43127" marT="21564" marB="21564"/>
                </a:tc>
                <a:extLst>
                  <a:ext uri="{0D108BD9-81ED-4DB2-BD59-A6C34878D82A}">
                    <a16:rowId xmlns:a16="http://schemas.microsoft.com/office/drawing/2014/main" val="4132273348"/>
                  </a:ext>
                </a:extLst>
              </a:tr>
              <a:tr h="516304">
                <a:tc>
                  <a:txBody>
                    <a:bodyPr/>
                    <a:lstStyle/>
                    <a:p>
                      <a:pPr fontAlgn="t">
                        <a:buNone/>
                      </a:pPr>
                      <a:r>
                        <a:rPr lang="en-IN" sz="800">
                          <a:effectLst/>
                        </a:rPr>
                        <a:t>48</a:t>
                      </a:r>
                    </a:p>
                  </a:txBody>
                  <a:tcPr marL="43127" marR="43127" marT="21564" marB="21564"/>
                </a:tc>
                <a:tc>
                  <a:txBody>
                    <a:bodyPr/>
                    <a:lstStyle/>
                    <a:p>
                      <a:pPr fontAlgn="t">
                        <a:buNone/>
                      </a:pPr>
                      <a:r>
                        <a:rPr lang="en-IN" sz="800">
                          <a:effectLst/>
                        </a:rPr>
                        <a:t>Irrigation_Method_Rainfed</a:t>
                      </a:r>
                    </a:p>
                  </a:txBody>
                  <a:tcPr marL="43127" marR="43127" marT="21564" marB="21564"/>
                </a:tc>
                <a:tc>
                  <a:txBody>
                    <a:bodyPr/>
                    <a:lstStyle/>
                    <a:p>
                      <a:pPr fontAlgn="t">
                        <a:buNone/>
                      </a:pPr>
                      <a:r>
                        <a:rPr lang="en-IN" sz="800">
                          <a:effectLst/>
                        </a:rPr>
                        <a:t>0.003057</a:t>
                      </a:r>
                    </a:p>
                  </a:txBody>
                  <a:tcPr marL="43127" marR="43127" marT="21564" marB="21564"/>
                </a:tc>
                <a:extLst>
                  <a:ext uri="{0D108BD9-81ED-4DB2-BD59-A6C34878D82A}">
                    <a16:rowId xmlns:a16="http://schemas.microsoft.com/office/drawing/2014/main" val="3947042563"/>
                  </a:ext>
                </a:extLst>
              </a:tr>
              <a:tr h="295030">
                <a:tc>
                  <a:txBody>
                    <a:bodyPr/>
                    <a:lstStyle/>
                    <a:p>
                      <a:pPr fontAlgn="t">
                        <a:buNone/>
                      </a:pPr>
                      <a:r>
                        <a:rPr lang="en-IN" sz="800">
                          <a:effectLst/>
                        </a:rPr>
                        <a:t>15</a:t>
                      </a:r>
                    </a:p>
                  </a:txBody>
                  <a:tcPr marL="43127" marR="43127" marT="21564" marB="21564"/>
                </a:tc>
                <a:tc>
                  <a:txBody>
                    <a:bodyPr/>
                    <a:lstStyle/>
                    <a:p>
                      <a:pPr fontAlgn="t">
                        <a:buNone/>
                      </a:pPr>
                      <a:r>
                        <a:rPr lang="en-IN" sz="800">
                          <a:effectLst/>
                        </a:rPr>
                        <a:t>Total_Cost_INR</a:t>
                      </a:r>
                    </a:p>
                  </a:txBody>
                  <a:tcPr marL="43127" marR="43127" marT="21564" marB="21564"/>
                </a:tc>
                <a:tc>
                  <a:txBody>
                    <a:bodyPr/>
                    <a:lstStyle/>
                    <a:p>
                      <a:pPr fontAlgn="t">
                        <a:buNone/>
                      </a:pPr>
                      <a:r>
                        <a:rPr lang="en-IN" sz="800">
                          <a:effectLst/>
                        </a:rPr>
                        <a:t>0.001646</a:t>
                      </a:r>
                    </a:p>
                  </a:txBody>
                  <a:tcPr marL="43127" marR="43127" marT="21564" marB="21564"/>
                </a:tc>
                <a:extLst>
                  <a:ext uri="{0D108BD9-81ED-4DB2-BD59-A6C34878D82A}">
                    <a16:rowId xmlns:a16="http://schemas.microsoft.com/office/drawing/2014/main" val="293411161"/>
                  </a:ext>
                </a:extLst>
              </a:tr>
              <a:tr h="295030">
                <a:tc>
                  <a:txBody>
                    <a:bodyPr/>
                    <a:lstStyle/>
                    <a:p>
                      <a:pPr fontAlgn="t">
                        <a:buNone/>
                      </a:pPr>
                      <a:r>
                        <a:rPr lang="en-IN" sz="800">
                          <a:effectLst/>
                        </a:rPr>
                        <a:t>17</a:t>
                      </a:r>
                    </a:p>
                  </a:txBody>
                  <a:tcPr marL="43127" marR="43127" marT="21564" marB="21564"/>
                </a:tc>
                <a:tc>
                  <a:txBody>
                    <a:bodyPr/>
                    <a:lstStyle/>
                    <a:p>
                      <a:pPr fontAlgn="t">
                        <a:buNone/>
                      </a:pPr>
                      <a:r>
                        <a:rPr lang="en-IN" sz="800">
                          <a:effectLst/>
                        </a:rPr>
                        <a:t>Profit_INR</a:t>
                      </a:r>
                    </a:p>
                  </a:txBody>
                  <a:tcPr marL="43127" marR="43127" marT="21564" marB="21564"/>
                </a:tc>
                <a:tc>
                  <a:txBody>
                    <a:bodyPr/>
                    <a:lstStyle/>
                    <a:p>
                      <a:pPr fontAlgn="t">
                        <a:buNone/>
                      </a:pPr>
                      <a:r>
                        <a:rPr lang="en-IN" sz="800">
                          <a:effectLst/>
                        </a:rPr>
                        <a:t>0.001446</a:t>
                      </a:r>
                    </a:p>
                  </a:txBody>
                  <a:tcPr marL="43127" marR="43127" marT="21564" marB="21564"/>
                </a:tc>
                <a:extLst>
                  <a:ext uri="{0D108BD9-81ED-4DB2-BD59-A6C34878D82A}">
                    <a16:rowId xmlns:a16="http://schemas.microsoft.com/office/drawing/2014/main" val="3211560801"/>
                  </a:ext>
                </a:extLst>
              </a:tr>
              <a:tr h="295030">
                <a:tc>
                  <a:txBody>
                    <a:bodyPr/>
                    <a:lstStyle/>
                    <a:p>
                      <a:pPr fontAlgn="t">
                        <a:buNone/>
                      </a:pPr>
                      <a:r>
                        <a:rPr lang="en-IN" sz="800">
                          <a:effectLst/>
                        </a:rPr>
                        <a:t>43</a:t>
                      </a:r>
                    </a:p>
                  </a:txBody>
                  <a:tcPr marL="43127" marR="43127" marT="21564" marB="21564"/>
                </a:tc>
                <a:tc>
                  <a:txBody>
                    <a:bodyPr/>
                    <a:lstStyle/>
                    <a:p>
                      <a:pPr fontAlgn="t">
                        <a:buNone/>
                      </a:pPr>
                      <a:r>
                        <a:rPr lang="en-IN" sz="800">
                          <a:effectLst/>
                        </a:rPr>
                        <a:t>Crop_Sugarcane</a:t>
                      </a:r>
                    </a:p>
                  </a:txBody>
                  <a:tcPr marL="43127" marR="43127" marT="21564" marB="21564"/>
                </a:tc>
                <a:tc>
                  <a:txBody>
                    <a:bodyPr/>
                    <a:lstStyle/>
                    <a:p>
                      <a:pPr fontAlgn="t">
                        <a:buNone/>
                      </a:pPr>
                      <a:r>
                        <a:rPr lang="en-IN" sz="800">
                          <a:effectLst/>
                        </a:rPr>
                        <a:t>0.001303</a:t>
                      </a:r>
                    </a:p>
                  </a:txBody>
                  <a:tcPr marL="43127" marR="43127" marT="21564" marB="21564"/>
                </a:tc>
                <a:extLst>
                  <a:ext uri="{0D108BD9-81ED-4DB2-BD59-A6C34878D82A}">
                    <a16:rowId xmlns:a16="http://schemas.microsoft.com/office/drawing/2014/main" val="1985922435"/>
                  </a:ext>
                </a:extLst>
              </a:tr>
              <a:tr h="295030">
                <a:tc>
                  <a:txBody>
                    <a:bodyPr/>
                    <a:lstStyle/>
                    <a:p>
                      <a:pPr fontAlgn="t">
                        <a:buNone/>
                      </a:pPr>
                      <a:r>
                        <a:rPr lang="en-IN" sz="800">
                          <a:effectLst/>
                        </a:rPr>
                        <a:t>10</a:t>
                      </a:r>
                    </a:p>
                  </a:txBody>
                  <a:tcPr marL="43127" marR="43127" marT="21564" marB="21564"/>
                </a:tc>
                <a:tc>
                  <a:txBody>
                    <a:bodyPr/>
                    <a:lstStyle/>
                    <a:p>
                      <a:pPr fontAlgn="t">
                        <a:buNone/>
                      </a:pPr>
                      <a:r>
                        <a:rPr lang="en-IN" sz="800">
                          <a:effectLst/>
                        </a:rPr>
                        <a:t>Fertilizer_kg_ha</a:t>
                      </a:r>
                    </a:p>
                  </a:txBody>
                  <a:tcPr marL="43127" marR="43127" marT="21564" marB="21564"/>
                </a:tc>
                <a:tc>
                  <a:txBody>
                    <a:bodyPr/>
                    <a:lstStyle/>
                    <a:p>
                      <a:pPr fontAlgn="t">
                        <a:buNone/>
                      </a:pPr>
                      <a:r>
                        <a:rPr lang="en-IN" sz="800">
                          <a:effectLst/>
                        </a:rPr>
                        <a:t>0.000851</a:t>
                      </a:r>
                    </a:p>
                  </a:txBody>
                  <a:tcPr marL="43127" marR="43127" marT="21564" marB="21564"/>
                </a:tc>
                <a:extLst>
                  <a:ext uri="{0D108BD9-81ED-4DB2-BD59-A6C34878D82A}">
                    <a16:rowId xmlns:a16="http://schemas.microsoft.com/office/drawing/2014/main" val="1304415142"/>
                  </a:ext>
                </a:extLst>
              </a:tr>
              <a:tr h="295030">
                <a:tc>
                  <a:txBody>
                    <a:bodyPr/>
                    <a:lstStyle/>
                    <a:p>
                      <a:pPr fontAlgn="t">
                        <a:buNone/>
                      </a:pPr>
                      <a:r>
                        <a:rPr lang="en-IN" sz="800">
                          <a:effectLst/>
                        </a:rPr>
                        <a:t>12</a:t>
                      </a:r>
                    </a:p>
                  </a:txBody>
                  <a:tcPr marL="43127" marR="43127" marT="21564" marB="21564"/>
                </a:tc>
                <a:tc>
                  <a:txBody>
                    <a:bodyPr/>
                    <a:lstStyle/>
                    <a:p>
                      <a:pPr fontAlgn="t">
                        <a:buNone/>
                      </a:pPr>
                      <a:r>
                        <a:rPr lang="en-IN" sz="800">
                          <a:effectLst/>
                        </a:rPr>
                        <a:t>Seed_Quality_Score</a:t>
                      </a:r>
                    </a:p>
                  </a:txBody>
                  <a:tcPr marL="43127" marR="43127" marT="21564" marB="21564"/>
                </a:tc>
                <a:tc>
                  <a:txBody>
                    <a:bodyPr/>
                    <a:lstStyle/>
                    <a:p>
                      <a:pPr fontAlgn="t">
                        <a:buNone/>
                      </a:pPr>
                      <a:r>
                        <a:rPr lang="en-IN" sz="800">
                          <a:effectLst/>
                        </a:rPr>
                        <a:t>0.000820</a:t>
                      </a:r>
                    </a:p>
                  </a:txBody>
                  <a:tcPr marL="43127" marR="43127" marT="21564" marB="21564"/>
                </a:tc>
                <a:extLst>
                  <a:ext uri="{0D108BD9-81ED-4DB2-BD59-A6C34878D82A}">
                    <a16:rowId xmlns:a16="http://schemas.microsoft.com/office/drawing/2014/main" val="1103632507"/>
                  </a:ext>
                </a:extLst>
              </a:tr>
              <a:tr h="295030">
                <a:tc>
                  <a:txBody>
                    <a:bodyPr/>
                    <a:lstStyle/>
                    <a:p>
                      <a:pPr fontAlgn="t">
                        <a:buNone/>
                      </a:pPr>
                      <a:r>
                        <a:rPr lang="en-IN" sz="800">
                          <a:effectLst/>
                        </a:rPr>
                        <a:t>5</a:t>
                      </a:r>
                    </a:p>
                  </a:txBody>
                  <a:tcPr marL="43127" marR="43127" marT="21564" marB="21564"/>
                </a:tc>
                <a:tc>
                  <a:txBody>
                    <a:bodyPr/>
                    <a:lstStyle/>
                    <a:p>
                      <a:pPr fontAlgn="t">
                        <a:buNone/>
                      </a:pPr>
                      <a:r>
                        <a:rPr lang="en-IN" sz="800">
                          <a:effectLst/>
                        </a:rPr>
                        <a:t>Soil_pH</a:t>
                      </a:r>
                    </a:p>
                  </a:txBody>
                  <a:tcPr marL="43127" marR="43127" marT="21564" marB="21564"/>
                </a:tc>
                <a:tc>
                  <a:txBody>
                    <a:bodyPr/>
                    <a:lstStyle/>
                    <a:p>
                      <a:pPr fontAlgn="t">
                        <a:buNone/>
                      </a:pPr>
                      <a:r>
                        <a:rPr lang="en-IN" sz="800">
                          <a:effectLst/>
                        </a:rPr>
                        <a:t>0.000706</a:t>
                      </a:r>
                    </a:p>
                  </a:txBody>
                  <a:tcPr marL="43127" marR="43127" marT="21564" marB="21564"/>
                </a:tc>
                <a:extLst>
                  <a:ext uri="{0D108BD9-81ED-4DB2-BD59-A6C34878D82A}">
                    <a16:rowId xmlns:a16="http://schemas.microsoft.com/office/drawing/2014/main" val="1702189784"/>
                  </a:ext>
                </a:extLst>
              </a:tr>
              <a:tr h="295030">
                <a:tc>
                  <a:txBody>
                    <a:bodyPr/>
                    <a:lstStyle/>
                    <a:p>
                      <a:pPr fontAlgn="t">
                        <a:buNone/>
                      </a:pPr>
                      <a:r>
                        <a:rPr lang="en-IN" sz="800">
                          <a:effectLst/>
                        </a:rPr>
                        <a:t>9</a:t>
                      </a:r>
                    </a:p>
                  </a:txBody>
                  <a:tcPr marL="43127" marR="43127" marT="21564" marB="21564"/>
                </a:tc>
                <a:tc>
                  <a:txBody>
                    <a:bodyPr/>
                    <a:lstStyle/>
                    <a:p>
                      <a:pPr fontAlgn="t">
                        <a:buNone/>
                      </a:pPr>
                      <a:r>
                        <a:rPr lang="en-IN" sz="800">
                          <a:effectLst/>
                        </a:rPr>
                        <a:t>Potassium_kg_ha</a:t>
                      </a:r>
                    </a:p>
                  </a:txBody>
                  <a:tcPr marL="43127" marR="43127" marT="21564" marB="21564"/>
                </a:tc>
                <a:tc>
                  <a:txBody>
                    <a:bodyPr/>
                    <a:lstStyle/>
                    <a:p>
                      <a:pPr fontAlgn="t">
                        <a:buNone/>
                      </a:pPr>
                      <a:r>
                        <a:rPr lang="en-IN" sz="800">
                          <a:effectLst/>
                        </a:rPr>
                        <a:t>0.000665</a:t>
                      </a:r>
                    </a:p>
                  </a:txBody>
                  <a:tcPr marL="43127" marR="43127" marT="21564" marB="21564"/>
                </a:tc>
                <a:extLst>
                  <a:ext uri="{0D108BD9-81ED-4DB2-BD59-A6C34878D82A}">
                    <a16:rowId xmlns:a16="http://schemas.microsoft.com/office/drawing/2014/main" val="1678791959"/>
                  </a:ext>
                </a:extLst>
              </a:tr>
              <a:tr h="295030">
                <a:tc>
                  <a:txBody>
                    <a:bodyPr/>
                    <a:lstStyle/>
                    <a:p>
                      <a:pPr fontAlgn="t">
                        <a:buNone/>
                      </a:pPr>
                      <a:r>
                        <a:rPr lang="en-IN" sz="800">
                          <a:effectLst/>
                        </a:rPr>
                        <a:t>8</a:t>
                      </a:r>
                    </a:p>
                  </a:txBody>
                  <a:tcPr marL="43127" marR="43127" marT="21564" marB="21564"/>
                </a:tc>
                <a:tc>
                  <a:txBody>
                    <a:bodyPr/>
                    <a:lstStyle/>
                    <a:p>
                      <a:pPr fontAlgn="t">
                        <a:buNone/>
                      </a:pPr>
                      <a:r>
                        <a:rPr lang="en-IN" sz="800">
                          <a:effectLst/>
                        </a:rPr>
                        <a:t>Phosphorus_kg_ha</a:t>
                      </a:r>
                    </a:p>
                  </a:txBody>
                  <a:tcPr marL="43127" marR="43127" marT="21564" marB="21564"/>
                </a:tc>
                <a:tc>
                  <a:txBody>
                    <a:bodyPr/>
                    <a:lstStyle/>
                    <a:p>
                      <a:pPr fontAlgn="t">
                        <a:buNone/>
                      </a:pPr>
                      <a:r>
                        <a:rPr lang="en-IN" sz="800">
                          <a:effectLst/>
                        </a:rPr>
                        <a:t>0.000623</a:t>
                      </a:r>
                    </a:p>
                  </a:txBody>
                  <a:tcPr marL="43127" marR="43127" marT="21564" marB="21564"/>
                </a:tc>
                <a:extLst>
                  <a:ext uri="{0D108BD9-81ED-4DB2-BD59-A6C34878D82A}">
                    <a16:rowId xmlns:a16="http://schemas.microsoft.com/office/drawing/2014/main" val="1388415764"/>
                  </a:ext>
                </a:extLst>
              </a:tr>
              <a:tr h="295030">
                <a:tc>
                  <a:txBody>
                    <a:bodyPr/>
                    <a:lstStyle/>
                    <a:p>
                      <a:pPr fontAlgn="t">
                        <a:buNone/>
                      </a:pPr>
                      <a:r>
                        <a:rPr lang="en-IN" sz="800">
                          <a:effectLst/>
                        </a:rPr>
                        <a:t>4</a:t>
                      </a:r>
                    </a:p>
                  </a:txBody>
                  <a:tcPr marL="43127" marR="43127" marT="21564" marB="21564"/>
                </a:tc>
                <a:tc>
                  <a:txBody>
                    <a:bodyPr/>
                    <a:lstStyle/>
                    <a:p>
                      <a:pPr fontAlgn="t">
                        <a:buNone/>
                      </a:pPr>
                      <a:r>
                        <a:rPr lang="en-IN" sz="800">
                          <a:effectLst/>
                        </a:rPr>
                        <a:t>Sunlight_Hours_Day</a:t>
                      </a:r>
                    </a:p>
                  </a:txBody>
                  <a:tcPr marL="43127" marR="43127" marT="21564" marB="21564"/>
                </a:tc>
                <a:tc>
                  <a:txBody>
                    <a:bodyPr/>
                    <a:lstStyle/>
                    <a:p>
                      <a:pPr fontAlgn="t">
                        <a:buNone/>
                      </a:pPr>
                      <a:r>
                        <a:rPr lang="en-IN" sz="800">
                          <a:effectLst/>
                        </a:rPr>
                        <a:t>0.000610</a:t>
                      </a:r>
                    </a:p>
                  </a:txBody>
                  <a:tcPr marL="43127" marR="43127" marT="21564" marB="21564"/>
                </a:tc>
                <a:extLst>
                  <a:ext uri="{0D108BD9-81ED-4DB2-BD59-A6C34878D82A}">
                    <a16:rowId xmlns:a16="http://schemas.microsoft.com/office/drawing/2014/main" val="3852382752"/>
                  </a:ext>
                </a:extLst>
              </a:tr>
              <a:tr h="295030">
                <a:tc>
                  <a:txBody>
                    <a:bodyPr/>
                    <a:lstStyle/>
                    <a:p>
                      <a:pPr fontAlgn="t">
                        <a:buNone/>
                      </a:pPr>
                      <a:r>
                        <a:rPr lang="en-IN" sz="800">
                          <a:effectLst/>
                        </a:rPr>
                        <a:t>2</a:t>
                      </a:r>
                    </a:p>
                  </a:txBody>
                  <a:tcPr marL="43127" marR="43127" marT="21564" marB="21564"/>
                </a:tc>
                <a:tc>
                  <a:txBody>
                    <a:bodyPr/>
                    <a:lstStyle/>
                    <a:p>
                      <a:pPr fontAlgn="t">
                        <a:buNone/>
                      </a:pPr>
                      <a:r>
                        <a:rPr lang="en-IN" sz="800">
                          <a:effectLst/>
                        </a:rPr>
                        <a:t>Avg_Temperature_C</a:t>
                      </a:r>
                    </a:p>
                  </a:txBody>
                  <a:tcPr marL="43127" marR="43127" marT="21564" marB="21564"/>
                </a:tc>
                <a:tc>
                  <a:txBody>
                    <a:bodyPr/>
                    <a:lstStyle/>
                    <a:p>
                      <a:pPr fontAlgn="t">
                        <a:buNone/>
                      </a:pPr>
                      <a:r>
                        <a:rPr lang="en-IN" sz="800">
                          <a:effectLst/>
                        </a:rPr>
                        <a:t>0.000574</a:t>
                      </a:r>
                    </a:p>
                  </a:txBody>
                  <a:tcPr marL="43127" marR="43127" marT="21564" marB="21564"/>
                </a:tc>
                <a:extLst>
                  <a:ext uri="{0D108BD9-81ED-4DB2-BD59-A6C34878D82A}">
                    <a16:rowId xmlns:a16="http://schemas.microsoft.com/office/drawing/2014/main" val="2735404783"/>
                  </a:ext>
                </a:extLst>
              </a:tr>
              <a:tr h="295030">
                <a:tc>
                  <a:txBody>
                    <a:bodyPr/>
                    <a:lstStyle/>
                    <a:p>
                      <a:pPr fontAlgn="t">
                        <a:buNone/>
                      </a:pPr>
                      <a:r>
                        <a:rPr lang="en-IN" sz="800">
                          <a:effectLst/>
                        </a:rPr>
                        <a:t>11</a:t>
                      </a:r>
                    </a:p>
                  </a:txBody>
                  <a:tcPr marL="43127" marR="43127" marT="21564" marB="21564"/>
                </a:tc>
                <a:tc>
                  <a:txBody>
                    <a:bodyPr/>
                    <a:lstStyle/>
                    <a:p>
                      <a:pPr fontAlgn="t">
                        <a:buNone/>
                      </a:pPr>
                      <a:r>
                        <a:rPr lang="en-IN" sz="800">
                          <a:effectLst/>
                        </a:rPr>
                        <a:t>Pesticide_Litre_ha</a:t>
                      </a:r>
                    </a:p>
                  </a:txBody>
                  <a:tcPr marL="43127" marR="43127" marT="21564" marB="21564"/>
                </a:tc>
                <a:tc>
                  <a:txBody>
                    <a:bodyPr/>
                    <a:lstStyle/>
                    <a:p>
                      <a:pPr fontAlgn="t">
                        <a:buNone/>
                      </a:pPr>
                      <a:r>
                        <a:rPr lang="en-IN" sz="800">
                          <a:effectLst/>
                        </a:rPr>
                        <a:t>0.000556</a:t>
                      </a:r>
                    </a:p>
                  </a:txBody>
                  <a:tcPr marL="43127" marR="43127" marT="21564" marB="21564"/>
                </a:tc>
                <a:extLst>
                  <a:ext uri="{0D108BD9-81ED-4DB2-BD59-A6C34878D82A}">
                    <a16:rowId xmlns:a16="http://schemas.microsoft.com/office/drawing/2014/main" val="4016679996"/>
                  </a:ext>
                </a:extLst>
              </a:tr>
              <a:tr h="295030">
                <a:tc>
                  <a:txBody>
                    <a:bodyPr/>
                    <a:lstStyle/>
                    <a:p>
                      <a:pPr fontAlgn="t">
                        <a:buNone/>
                      </a:pPr>
                      <a:r>
                        <a:rPr lang="en-IN" sz="800">
                          <a:effectLst/>
                        </a:rPr>
                        <a:t>3</a:t>
                      </a:r>
                    </a:p>
                  </a:txBody>
                  <a:tcPr marL="43127" marR="43127" marT="21564" marB="21564"/>
                </a:tc>
                <a:tc>
                  <a:txBody>
                    <a:bodyPr/>
                    <a:lstStyle/>
                    <a:p>
                      <a:pPr fontAlgn="t">
                        <a:buNone/>
                      </a:pPr>
                      <a:r>
                        <a:rPr lang="en-IN" sz="800">
                          <a:effectLst/>
                        </a:rPr>
                        <a:t>Humidity_pct</a:t>
                      </a:r>
                    </a:p>
                  </a:txBody>
                  <a:tcPr marL="43127" marR="43127" marT="21564" marB="21564"/>
                </a:tc>
                <a:tc>
                  <a:txBody>
                    <a:bodyPr/>
                    <a:lstStyle/>
                    <a:p>
                      <a:pPr fontAlgn="t">
                        <a:buNone/>
                      </a:pPr>
                      <a:r>
                        <a:rPr lang="en-IN" sz="800">
                          <a:effectLst/>
                        </a:rPr>
                        <a:t>0.000530</a:t>
                      </a:r>
                    </a:p>
                  </a:txBody>
                  <a:tcPr marL="43127" marR="43127" marT="21564" marB="21564"/>
                </a:tc>
                <a:extLst>
                  <a:ext uri="{0D108BD9-81ED-4DB2-BD59-A6C34878D82A}">
                    <a16:rowId xmlns:a16="http://schemas.microsoft.com/office/drawing/2014/main" val="3958327302"/>
                  </a:ext>
                </a:extLst>
              </a:tr>
              <a:tr h="295030">
                <a:tc>
                  <a:txBody>
                    <a:bodyPr/>
                    <a:lstStyle/>
                    <a:p>
                      <a:pPr fontAlgn="t">
                        <a:buNone/>
                      </a:pPr>
                      <a:r>
                        <a:rPr lang="en-IN" sz="800">
                          <a:effectLst/>
                        </a:rPr>
                        <a:t>16</a:t>
                      </a:r>
                    </a:p>
                  </a:txBody>
                  <a:tcPr marL="43127" marR="43127" marT="21564" marB="21564"/>
                </a:tc>
                <a:tc>
                  <a:txBody>
                    <a:bodyPr/>
                    <a:lstStyle/>
                    <a:p>
                      <a:pPr fontAlgn="t">
                        <a:buNone/>
                      </a:pPr>
                      <a:r>
                        <a:rPr lang="en-IN" sz="800">
                          <a:effectLst/>
                        </a:rPr>
                        <a:t>Revenue_INR</a:t>
                      </a:r>
                    </a:p>
                  </a:txBody>
                  <a:tcPr marL="43127" marR="43127" marT="21564" marB="21564"/>
                </a:tc>
                <a:tc>
                  <a:txBody>
                    <a:bodyPr/>
                    <a:lstStyle/>
                    <a:p>
                      <a:pPr fontAlgn="t">
                        <a:buNone/>
                      </a:pPr>
                      <a:r>
                        <a:rPr lang="en-IN" sz="800">
                          <a:effectLst/>
                        </a:rPr>
                        <a:t>0.000526</a:t>
                      </a:r>
                    </a:p>
                  </a:txBody>
                  <a:tcPr marL="43127" marR="43127" marT="21564" marB="21564"/>
                </a:tc>
                <a:extLst>
                  <a:ext uri="{0D108BD9-81ED-4DB2-BD59-A6C34878D82A}">
                    <a16:rowId xmlns:a16="http://schemas.microsoft.com/office/drawing/2014/main" val="171559098"/>
                  </a:ext>
                </a:extLst>
              </a:tr>
              <a:tr h="295030">
                <a:tc>
                  <a:txBody>
                    <a:bodyPr/>
                    <a:lstStyle/>
                    <a:p>
                      <a:pPr fontAlgn="t">
                        <a:buNone/>
                      </a:pPr>
                      <a:r>
                        <a:rPr lang="en-IN" sz="800">
                          <a:effectLst/>
                        </a:rPr>
                        <a:t>1</a:t>
                      </a:r>
                    </a:p>
                  </a:txBody>
                  <a:tcPr marL="43127" marR="43127" marT="21564" marB="21564"/>
                </a:tc>
                <a:tc>
                  <a:txBody>
                    <a:bodyPr/>
                    <a:lstStyle/>
                    <a:p>
                      <a:pPr fontAlgn="t">
                        <a:buNone/>
                      </a:pPr>
                      <a:r>
                        <a:rPr lang="en-IN" sz="800" dirty="0" err="1">
                          <a:effectLst/>
                        </a:rPr>
                        <a:t>Rainfall_mm</a:t>
                      </a:r>
                      <a:endParaRPr lang="en-IN" sz="800" dirty="0">
                        <a:effectLst/>
                      </a:endParaRPr>
                    </a:p>
                  </a:txBody>
                  <a:tcPr marL="43127" marR="43127" marT="21564" marB="21564"/>
                </a:tc>
                <a:tc>
                  <a:txBody>
                    <a:bodyPr/>
                    <a:lstStyle/>
                    <a:p>
                      <a:pPr fontAlgn="t">
                        <a:buNone/>
                      </a:pPr>
                      <a:r>
                        <a:rPr lang="en-IN" sz="800" dirty="0">
                          <a:effectLst/>
                        </a:rPr>
                        <a:t>0.000503</a:t>
                      </a:r>
                    </a:p>
                  </a:txBody>
                  <a:tcPr marL="43127" marR="43127" marT="21564" marB="21564"/>
                </a:tc>
                <a:extLst>
                  <a:ext uri="{0D108BD9-81ED-4DB2-BD59-A6C34878D82A}">
                    <a16:rowId xmlns:a16="http://schemas.microsoft.com/office/drawing/2014/main" val="757204984"/>
                  </a:ext>
                </a:extLst>
              </a:tr>
            </a:tbl>
          </a:graphicData>
        </a:graphic>
      </p:graphicFrame>
    </p:spTree>
    <p:extLst>
      <p:ext uri="{BB962C8B-B14F-4D97-AF65-F5344CB8AC3E}">
        <p14:creationId xmlns:p14="http://schemas.microsoft.com/office/powerpoint/2010/main" val="2934906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BF8D8D-D6D4-C2D7-D871-457359FC7EBE}"/>
              </a:ext>
            </a:extLst>
          </p:cNvPr>
          <p:cNvSpPr>
            <a:spLocks noGrp="1"/>
          </p:cNvSpPr>
          <p:nvPr>
            <p:ph type="sldNum" sz="quarter" idx="12"/>
          </p:nvPr>
        </p:nvSpPr>
        <p:spPr/>
        <p:txBody>
          <a:bodyPr/>
          <a:lstStyle/>
          <a:p>
            <a:fld id="{D57F1E4F-1CFF-5643-939E-217C01CDF565}" type="slidenum">
              <a:rPr lang="en-US" smtClean="0"/>
              <a:pPr/>
              <a:t>50</a:t>
            </a:fld>
            <a:endParaRPr lang="en-US" dirty="0"/>
          </a:p>
        </p:txBody>
      </p:sp>
      <p:sp>
        <p:nvSpPr>
          <p:cNvPr id="3" name="TextBox 2">
            <a:extLst>
              <a:ext uri="{FF2B5EF4-FFF2-40B4-BE49-F238E27FC236}">
                <a16:creationId xmlns:a16="http://schemas.microsoft.com/office/drawing/2014/main" id="{0D818C12-71CA-8BD6-4C0B-33C258EC41DA}"/>
              </a:ext>
            </a:extLst>
          </p:cNvPr>
          <p:cNvSpPr txBox="1"/>
          <p:nvPr/>
        </p:nvSpPr>
        <p:spPr>
          <a:xfrm>
            <a:off x="578499" y="774176"/>
            <a:ext cx="3349690" cy="4247317"/>
          </a:xfrm>
          <a:prstGeom prst="rect">
            <a:avLst/>
          </a:prstGeom>
          <a:noFill/>
        </p:spPr>
        <p:txBody>
          <a:bodyPr wrap="square" rtlCol="0">
            <a:spAutoFit/>
          </a:bodyPr>
          <a:lstStyle/>
          <a:p>
            <a:r>
              <a:rPr lang="en-IN" dirty="0" err="1"/>
              <a:t>top_features</a:t>
            </a:r>
            <a:r>
              <a:rPr lang="en-IN" dirty="0"/>
              <a:t> = </a:t>
            </a:r>
            <a:r>
              <a:rPr lang="en-IN" dirty="0" err="1"/>
              <a:t>feature_importance.head</a:t>
            </a:r>
            <a:r>
              <a:rPr lang="en-IN" dirty="0"/>
              <a:t>(15)</a:t>
            </a:r>
          </a:p>
          <a:p>
            <a:r>
              <a:rPr lang="en-IN" dirty="0" err="1"/>
              <a:t>plt.figure</a:t>
            </a:r>
            <a:r>
              <a:rPr lang="en-IN" dirty="0"/>
              <a:t>(</a:t>
            </a:r>
            <a:r>
              <a:rPr lang="en-IN" dirty="0" err="1"/>
              <a:t>figsize</a:t>
            </a:r>
            <a:r>
              <a:rPr lang="en-IN" dirty="0"/>
              <a:t>=(10,7))</a:t>
            </a:r>
          </a:p>
          <a:p>
            <a:r>
              <a:rPr lang="en-IN" dirty="0" err="1"/>
              <a:t>sns.barplot</a:t>
            </a:r>
            <a:r>
              <a:rPr lang="en-IN" dirty="0"/>
              <a:t>(</a:t>
            </a:r>
          </a:p>
          <a:p>
            <a:r>
              <a:rPr lang="en-IN" dirty="0"/>
              <a:t>    data=</a:t>
            </a:r>
            <a:r>
              <a:rPr lang="en-IN" dirty="0" err="1"/>
              <a:t>top_features</a:t>
            </a:r>
            <a:r>
              <a:rPr lang="en-IN" dirty="0"/>
              <a:t>,</a:t>
            </a:r>
          </a:p>
          <a:p>
            <a:r>
              <a:rPr lang="en-IN" dirty="0"/>
              <a:t>    x='Importance',</a:t>
            </a:r>
          </a:p>
          <a:p>
            <a:r>
              <a:rPr lang="en-IN" dirty="0"/>
              <a:t>    y='Feature'</a:t>
            </a:r>
          </a:p>
          <a:p>
            <a:r>
              <a:rPr lang="en-IN" dirty="0"/>
              <a:t>)</a:t>
            </a:r>
          </a:p>
          <a:p>
            <a:r>
              <a:rPr lang="en-IN" dirty="0" err="1"/>
              <a:t>plt.title</a:t>
            </a:r>
            <a:r>
              <a:rPr lang="en-IN" dirty="0"/>
              <a:t>('Top Factors Associated with Yield Prediction')</a:t>
            </a:r>
          </a:p>
          <a:p>
            <a:r>
              <a:rPr lang="en-IN" dirty="0" err="1"/>
              <a:t>plt.xlabel</a:t>
            </a:r>
            <a:r>
              <a:rPr lang="en-IN" dirty="0"/>
              <a:t>('Importance')</a:t>
            </a:r>
          </a:p>
          <a:p>
            <a:r>
              <a:rPr lang="en-IN" dirty="0" err="1"/>
              <a:t>plt.ylabel</a:t>
            </a:r>
            <a:r>
              <a:rPr lang="en-IN" dirty="0"/>
              <a:t>('Feature')</a:t>
            </a:r>
          </a:p>
          <a:p>
            <a:r>
              <a:rPr lang="en-IN" dirty="0" err="1"/>
              <a:t>plt.show</a:t>
            </a:r>
            <a:r>
              <a:rPr lang="en-IN" dirty="0"/>
              <a:t>()</a:t>
            </a:r>
          </a:p>
          <a:p>
            <a:endParaRPr lang="en-IN" dirty="0"/>
          </a:p>
        </p:txBody>
      </p:sp>
      <p:pic>
        <p:nvPicPr>
          <p:cNvPr id="5" name="Picture 4">
            <a:extLst>
              <a:ext uri="{FF2B5EF4-FFF2-40B4-BE49-F238E27FC236}">
                <a16:creationId xmlns:a16="http://schemas.microsoft.com/office/drawing/2014/main" id="{FC5AC88F-BAC4-0D9A-B486-BAE7D6931A88}"/>
              </a:ext>
            </a:extLst>
          </p:cNvPr>
          <p:cNvPicPr>
            <a:picLocks noChangeAspect="1"/>
          </p:cNvPicPr>
          <p:nvPr/>
        </p:nvPicPr>
        <p:blipFill>
          <a:blip r:embed="rId2"/>
          <a:stretch>
            <a:fillRect/>
          </a:stretch>
        </p:blipFill>
        <p:spPr>
          <a:xfrm>
            <a:off x="4105469" y="576066"/>
            <a:ext cx="7921690" cy="5705867"/>
          </a:xfrm>
          <a:prstGeom prst="rect">
            <a:avLst/>
          </a:prstGeom>
        </p:spPr>
      </p:pic>
    </p:spTree>
    <p:extLst>
      <p:ext uri="{BB962C8B-B14F-4D97-AF65-F5344CB8AC3E}">
        <p14:creationId xmlns:p14="http://schemas.microsoft.com/office/powerpoint/2010/main" val="872502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4A5D6E-640F-1DAF-94BF-4201512F8D6F}"/>
              </a:ext>
            </a:extLst>
          </p:cNvPr>
          <p:cNvSpPr>
            <a:spLocks noGrp="1"/>
          </p:cNvSpPr>
          <p:nvPr>
            <p:ph type="sldNum" sz="quarter" idx="12"/>
          </p:nvPr>
        </p:nvSpPr>
        <p:spPr/>
        <p:txBody>
          <a:bodyPr/>
          <a:lstStyle/>
          <a:p>
            <a:fld id="{D57F1E4F-1CFF-5643-939E-217C01CDF565}" type="slidenum">
              <a:rPr lang="en-US" smtClean="0"/>
              <a:pPr/>
              <a:t>51</a:t>
            </a:fld>
            <a:endParaRPr lang="en-US" dirty="0"/>
          </a:p>
        </p:txBody>
      </p:sp>
      <p:sp>
        <p:nvSpPr>
          <p:cNvPr id="3" name="TextBox 2">
            <a:extLst>
              <a:ext uri="{FF2B5EF4-FFF2-40B4-BE49-F238E27FC236}">
                <a16:creationId xmlns:a16="http://schemas.microsoft.com/office/drawing/2014/main" id="{DAD1387D-A8D4-AF84-9B7F-2555A4DE8CDB}"/>
              </a:ext>
            </a:extLst>
          </p:cNvPr>
          <p:cNvSpPr txBox="1"/>
          <p:nvPr/>
        </p:nvSpPr>
        <p:spPr>
          <a:xfrm>
            <a:off x="531845" y="1129004"/>
            <a:ext cx="3862873" cy="4801314"/>
          </a:xfrm>
          <a:prstGeom prst="rect">
            <a:avLst/>
          </a:prstGeom>
          <a:noFill/>
        </p:spPr>
        <p:txBody>
          <a:bodyPr wrap="square" rtlCol="0">
            <a:spAutoFit/>
          </a:bodyPr>
          <a:lstStyle/>
          <a:p>
            <a:r>
              <a:rPr lang="en-IN" dirty="0" err="1"/>
              <a:t>final_summary</a:t>
            </a:r>
            <a:r>
              <a:rPr lang="en-IN" dirty="0"/>
              <a:t> = </a:t>
            </a:r>
            <a:r>
              <a:rPr lang="en-IN" dirty="0" err="1"/>
              <a:t>df_clean.groupby</a:t>
            </a:r>
            <a:r>
              <a:rPr lang="en-IN" dirty="0"/>
              <a:t>('Season').</a:t>
            </a:r>
            <a:r>
              <a:rPr lang="en-IN" dirty="0" err="1"/>
              <a:t>agg</a:t>
            </a:r>
            <a:r>
              <a:rPr lang="en-IN" dirty="0"/>
              <a:t>({</a:t>
            </a:r>
          </a:p>
          <a:p>
            <a:br>
              <a:rPr lang="en-IN" dirty="0"/>
            </a:br>
            <a:endParaRPr lang="en-IN" dirty="0"/>
          </a:p>
          <a:p>
            <a:r>
              <a:rPr lang="en-IN" dirty="0"/>
              <a:t>    '</a:t>
            </a:r>
            <a:r>
              <a:rPr lang="en-IN" dirty="0" err="1"/>
              <a:t>Yield_Tonnes_Ha</a:t>
            </a:r>
            <a:r>
              <a:rPr lang="en-IN" dirty="0"/>
              <a:t>': 'mean',</a:t>
            </a:r>
          </a:p>
          <a:p>
            <a:r>
              <a:rPr lang="en-IN" dirty="0"/>
              <a:t>    '</a:t>
            </a:r>
            <a:r>
              <a:rPr lang="en-IN" dirty="0" err="1"/>
              <a:t>Production_Tonnes</a:t>
            </a:r>
            <a:r>
              <a:rPr lang="en-IN" dirty="0"/>
              <a:t>': 'mean',</a:t>
            </a:r>
          </a:p>
          <a:p>
            <a:r>
              <a:rPr lang="en-IN" dirty="0"/>
              <a:t>    '</a:t>
            </a:r>
            <a:r>
              <a:rPr lang="en-IN" dirty="0" err="1"/>
              <a:t>Profit_INR</a:t>
            </a:r>
            <a:r>
              <a:rPr lang="en-IN" dirty="0"/>
              <a:t>': 'mean',</a:t>
            </a:r>
          </a:p>
          <a:p>
            <a:r>
              <a:rPr lang="en-IN" dirty="0"/>
              <a:t>    'Water_Efficiency_t_per_1000m3': 'mean',</a:t>
            </a:r>
          </a:p>
          <a:p>
            <a:r>
              <a:rPr lang="en-IN" dirty="0"/>
              <a:t>    '</a:t>
            </a:r>
            <a:r>
              <a:rPr lang="en-IN" dirty="0" err="1"/>
              <a:t>Disease_Pest_Risk_pct</a:t>
            </a:r>
            <a:r>
              <a:rPr lang="en-IN" dirty="0"/>
              <a:t>': 'mean'</a:t>
            </a:r>
          </a:p>
          <a:p>
            <a:br>
              <a:rPr lang="en-IN" dirty="0"/>
            </a:br>
            <a:endParaRPr lang="en-IN" dirty="0"/>
          </a:p>
          <a:p>
            <a:r>
              <a:rPr lang="en-IN" dirty="0"/>
              <a:t>}).round(2)</a:t>
            </a:r>
          </a:p>
          <a:p>
            <a:br>
              <a:rPr lang="en-IN" dirty="0"/>
            </a:br>
            <a:endParaRPr lang="en-IN" dirty="0"/>
          </a:p>
          <a:p>
            <a:r>
              <a:rPr lang="en-IN" dirty="0"/>
              <a:t>display(</a:t>
            </a:r>
            <a:r>
              <a:rPr lang="en-IN" dirty="0" err="1"/>
              <a:t>final_summary</a:t>
            </a:r>
            <a:r>
              <a:rPr lang="en-IN" dirty="0"/>
              <a:t>)</a:t>
            </a:r>
          </a:p>
          <a:p>
            <a:endParaRPr lang="en-IN" dirty="0"/>
          </a:p>
        </p:txBody>
      </p:sp>
      <p:graphicFrame>
        <p:nvGraphicFramePr>
          <p:cNvPr id="5" name="Table 4">
            <a:extLst>
              <a:ext uri="{FF2B5EF4-FFF2-40B4-BE49-F238E27FC236}">
                <a16:creationId xmlns:a16="http://schemas.microsoft.com/office/drawing/2014/main" id="{7DAB2E6D-3412-AF0E-095D-CC33C287AF50}"/>
              </a:ext>
            </a:extLst>
          </p:cNvPr>
          <p:cNvGraphicFramePr>
            <a:graphicFrameLocks noGrp="1"/>
          </p:cNvGraphicFramePr>
          <p:nvPr>
            <p:extLst>
              <p:ext uri="{D42A27DB-BD31-4B8C-83A1-F6EECF244321}">
                <p14:modId xmlns:p14="http://schemas.microsoft.com/office/powerpoint/2010/main" val="1569958010"/>
              </p:ext>
            </p:extLst>
          </p:nvPr>
        </p:nvGraphicFramePr>
        <p:xfrm>
          <a:off x="4627984" y="1895549"/>
          <a:ext cx="7457042" cy="2651760"/>
        </p:xfrm>
        <a:graphic>
          <a:graphicData uri="http://schemas.openxmlformats.org/drawingml/2006/table">
            <a:tbl>
              <a:tblPr>
                <a:tableStyleId>{6E25E649-3F16-4E02-A733-19D2CDBF48F0}</a:tableStyleId>
              </a:tblPr>
              <a:tblGrid>
                <a:gridCol w="1048452">
                  <a:extLst>
                    <a:ext uri="{9D8B030D-6E8A-4147-A177-3AD203B41FA5}">
                      <a16:colId xmlns:a16="http://schemas.microsoft.com/office/drawing/2014/main" val="419308933"/>
                    </a:ext>
                  </a:extLst>
                </a:gridCol>
                <a:gridCol w="1281718">
                  <a:extLst>
                    <a:ext uri="{9D8B030D-6E8A-4147-A177-3AD203B41FA5}">
                      <a16:colId xmlns:a16="http://schemas.microsoft.com/office/drawing/2014/main" val="113942371"/>
                    </a:ext>
                  </a:extLst>
                </a:gridCol>
                <a:gridCol w="1281718">
                  <a:extLst>
                    <a:ext uri="{9D8B030D-6E8A-4147-A177-3AD203B41FA5}">
                      <a16:colId xmlns:a16="http://schemas.microsoft.com/office/drawing/2014/main" val="773226546"/>
                    </a:ext>
                  </a:extLst>
                </a:gridCol>
                <a:gridCol w="1281718">
                  <a:extLst>
                    <a:ext uri="{9D8B030D-6E8A-4147-A177-3AD203B41FA5}">
                      <a16:colId xmlns:a16="http://schemas.microsoft.com/office/drawing/2014/main" val="633973756"/>
                    </a:ext>
                  </a:extLst>
                </a:gridCol>
                <a:gridCol w="1281718">
                  <a:extLst>
                    <a:ext uri="{9D8B030D-6E8A-4147-A177-3AD203B41FA5}">
                      <a16:colId xmlns:a16="http://schemas.microsoft.com/office/drawing/2014/main" val="1176834330"/>
                    </a:ext>
                  </a:extLst>
                </a:gridCol>
                <a:gridCol w="1281718">
                  <a:extLst>
                    <a:ext uri="{9D8B030D-6E8A-4147-A177-3AD203B41FA5}">
                      <a16:colId xmlns:a16="http://schemas.microsoft.com/office/drawing/2014/main" val="296627572"/>
                    </a:ext>
                  </a:extLst>
                </a:gridCol>
              </a:tblGrid>
              <a:tr h="914400">
                <a:tc>
                  <a:txBody>
                    <a:bodyPr/>
                    <a:lstStyle/>
                    <a:p>
                      <a:pPr algn="r" fontAlgn="t">
                        <a:buNone/>
                      </a:pPr>
                      <a:endParaRPr lang="en-IN" sz="1800">
                        <a:effectLst/>
                      </a:endParaRPr>
                    </a:p>
                  </a:txBody>
                  <a:tcPr/>
                </a:tc>
                <a:tc>
                  <a:txBody>
                    <a:bodyPr/>
                    <a:lstStyle/>
                    <a:p>
                      <a:pPr algn="r" fontAlgn="t">
                        <a:buNone/>
                      </a:pPr>
                      <a:r>
                        <a:rPr lang="en-IN" sz="1800">
                          <a:effectLst/>
                        </a:rPr>
                        <a:t>Yield_Tonnes_Ha</a:t>
                      </a:r>
                    </a:p>
                  </a:txBody>
                  <a:tcPr/>
                </a:tc>
                <a:tc>
                  <a:txBody>
                    <a:bodyPr/>
                    <a:lstStyle/>
                    <a:p>
                      <a:pPr algn="r" fontAlgn="t">
                        <a:buNone/>
                      </a:pPr>
                      <a:r>
                        <a:rPr lang="en-IN" sz="1800">
                          <a:effectLst/>
                        </a:rPr>
                        <a:t>Production_Tonnes</a:t>
                      </a:r>
                    </a:p>
                  </a:txBody>
                  <a:tcPr/>
                </a:tc>
                <a:tc>
                  <a:txBody>
                    <a:bodyPr/>
                    <a:lstStyle/>
                    <a:p>
                      <a:pPr algn="r" fontAlgn="t">
                        <a:buNone/>
                      </a:pPr>
                      <a:r>
                        <a:rPr lang="en-IN" sz="1800">
                          <a:effectLst/>
                        </a:rPr>
                        <a:t>Profit_INR</a:t>
                      </a:r>
                    </a:p>
                  </a:txBody>
                  <a:tcPr/>
                </a:tc>
                <a:tc>
                  <a:txBody>
                    <a:bodyPr/>
                    <a:lstStyle/>
                    <a:p>
                      <a:pPr algn="r" fontAlgn="t">
                        <a:buNone/>
                      </a:pPr>
                      <a:r>
                        <a:rPr lang="en-IN" sz="1800">
                          <a:effectLst/>
                        </a:rPr>
                        <a:t>Water_Efficiency_t_per_1000m3</a:t>
                      </a:r>
                    </a:p>
                  </a:txBody>
                  <a:tcPr/>
                </a:tc>
                <a:tc>
                  <a:txBody>
                    <a:bodyPr/>
                    <a:lstStyle/>
                    <a:p>
                      <a:pPr algn="r" fontAlgn="t">
                        <a:buNone/>
                      </a:pPr>
                      <a:r>
                        <a:rPr lang="en-IN" sz="1800">
                          <a:effectLst/>
                        </a:rPr>
                        <a:t>Disease_Pest_Risk_pct</a:t>
                      </a:r>
                    </a:p>
                  </a:txBody>
                  <a:tcPr/>
                </a:tc>
                <a:extLst>
                  <a:ext uri="{0D108BD9-81ED-4DB2-BD59-A6C34878D82A}">
                    <a16:rowId xmlns:a16="http://schemas.microsoft.com/office/drawing/2014/main" val="1629891519"/>
                  </a:ext>
                </a:extLst>
              </a:tr>
              <a:tr h="365760">
                <a:tc>
                  <a:txBody>
                    <a:bodyPr/>
                    <a:lstStyle/>
                    <a:p>
                      <a:pPr fontAlgn="t">
                        <a:buNone/>
                      </a:pPr>
                      <a:r>
                        <a:rPr lang="en-IN" sz="1800">
                          <a:effectLst/>
                        </a:rPr>
                        <a:t>Season</a:t>
                      </a: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tc>
                  <a:txBody>
                    <a:bodyPr/>
                    <a:lstStyle/>
                    <a:p>
                      <a:pPr fontAlgn="t">
                        <a:buNone/>
                      </a:pPr>
                      <a:endParaRPr lang="en-IN" sz="1800">
                        <a:effectLst/>
                      </a:endParaRPr>
                    </a:p>
                  </a:txBody>
                  <a:tcPr/>
                </a:tc>
                <a:extLst>
                  <a:ext uri="{0D108BD9-81ED-4DB2-BD59-A6C34878D82A}">
                    <a16:rowId xmlns:a16="http://schemas.microsoft.com/office/drawing/2014/main" val="1664320323"/>
                  </a:ext>
                </a:extLst>
              </a:tr>
              <a:tr h="365760">
                <a:tc>
                  <a:txBody>
                    <a:bodyPr/>
                    <a:lstStyle/>
                    <a:p>
                      <a:pPr fontAlgn="t">
                        <a:buNone/>
                      </a:pPr>
                      <a:r>
                        <a:rPr lang="en-IN" sz="1800">
                          <a:effectLst/>
                        </a:rPr>
                        <a:t>Kharif</a:t>
                      </a:r>
                    </a:p>
                  </a:txBody>
                  <a:tcPr/>
                </a:tc>
                <a:tc>
                  <a:txBody>
                    <a:bodyPr/>
                    <a:lstStyle/>
                    <a:p>
                      <a:pPr fontAlgn="t">
                        <a:buNone/>
                      </a:pPr>
                      <a:r>
                        <a:rPr lang="en-IN" sz="1800">
                          <a:effectLst/>
                        </a:rPr>
                        <a:t>5.63</a:t>
                      </a:r>
                    </a:p>
                  </a:txBody>
                  <a:tcPr/>
                </a:tc>
                <a:tc>
                  <a:txBody>
                    <a:bodyPr/>
                    <a:lstStyle/>
                    <a:p>
                      <a:pPr fontAlgn="t">
                        <a:buNone/>
                      </a:pPr>
                      <a:r>
                        <a:rPr lang="en-IN" sz="1800">
                          <a:effectLst/>
                        </a:rPr>
                        <a:t>46.31</a:t>
                      </a:r>
                    </a:p>
                  </a:txBody>
                  <a:tcPr/>
                </a:tc>
                <a:tc>
                  <a:txBody>
                    <a:bodyPr/>
                    <a:lstStyle/>
                    <a:p>
                      <a:pPr fontAlgn="t">
                        <a:buNone/>
                      </a:pPr>
                      <a:r>
                        <a:rPr lang="en-IN" sz="1800">
                          <a:effectLst/>
                        </a:rPr>
                        <a:t>178914.65</a:t>
                      </a:r>
                    </a:p>
                  </a:txBody>
                  <a:tcPr/>
                </a:tc>
                <a:tc>
                  <a:txBody>
                    <a:bodyPr/>
                    <a:lstStyle/>
                    <a:p>
                      <a:pPr fontAlgn="t">
                        <a:buNone/>
                      </a:pPr>
                      <a:r>
                        <a:rPr lang="en-IN" sz="1800">
                          <a:effectLst/>
                        </a:rPr>
                        <a:t>5.89</a:t>
                      </a:r>
                    </a:p>
                  </a:txBody>
                  <a:tcPr/>
                </a:tc>
                <a:tc>
                  <a:txBody>
                    <a:bodyPr/>
                    <a:lstStyle/>
                    <a:p>
                      <a:pPr fontAlgn="t">
                        <a:buNone/>
                      </a:pPr>
                      <a:r>
                        <a:rPr lang="en-IN" sz="1800">
                          <a:effectLst/>
                        </a:rPr>
                        <a:t>54.47</a:t>
                      </a:r>
                    </a:p>
                  </a:txBody>
                  <a:tcPr/>
                </a:tc>
                <a:extLst>
                  <a:ext uri="{0D108BD9-81ED-4DB2-BD59-A6C34878D82A}">
                    <a16:rowId xmlns:a16="http://schemas.microsoft.com/office/drawing/2014/main" val="927874612"/>
                  </a:ext>
                </a:extLst>
              </a:tr>
              <a:tr h="365760">
                <a:tc>
                  <a:txBody>
                    <a:bodyPr/>
                    <a:lstStyle/>
                    <a:p>
                      <a:pPr fontAlgn="t">
                        <a:buNone/>
                      </a:pPr>
                      <a:r>
                        <a:rPr lang="en-IN" sz="1800">
                          <a:effectLst/>
                        </a:rPr>
                        <a:t>Rabi</a:t>
                      </a:r>
                    </a:p>
                  </a:txBody>
                  <a:tcPr/>
                </a:tc>
                <a:tc>
                  <a:txBody>
                    <a:bodyPr/>
                    <a:lstStyle/>
                    <a:p>
                      <a:pPr fontAlgn="t">
                        <a:buNone/>
                      </a:pPr>
                      <a:r>
                        <a:rPr lang="en-IN" sz="1800">
                          <a:effectLst/>
                        </a:rPr>
                        <a:t>5.04</a:t>
                      </a:r>
                    </a:p>
                  </a:txBody>
                  <a:tcPr/>
                </a:tc>
                <a:tc>
                  <a:txBody>
                    <a:bodyPr/>
                    <a:lstStyle/>
                    <a:p>
                      <a:pPr fontAlgn="t">
                        <a:buNone/>
                      </a:pPr>
                      <a:r>
                        <a:rPr lang="en-IN" sz="1800">
                          <a:effectLst/>
                        </a:rPr>
                        <a:t>41.49</a:t>
                      </a:r>
                    </a:p>
                  </a:txBody>
                  <a:tcPr/>
                </a:tc>
                <a:tc>
                  <a:txBody>
                    <a:bodyPr/>
                    <a:lstStyle/>
                    <a:p>
                      <a:pPr fontAlgn="t">
                        <a:buNone/>
                      </a:pPr>
                      <a:r>
                        <a:rPr lang="en-IN" sz="1800">
                          <a:effectLst/>
                        </a:rPr>
                        <a:t>87689.47</a:t>
                      </a:r>
                    </a:p>
                  </a:txBody>
                  <a:tcPr/>
                </a:tc>
                <a:tc>
                  <a:txBody>
                    <a:bodyPr/>
                    <a:lstStyle/>
                    <a:p>
                      <a:pPr fontAlgn="t">
                        <a:buNone/>
                      </a:pPr>
                      <a:r>
                        <a:rPr lang="en-IN" sz="1800">
                          <a:effectLst/>
                        </a:rPr>
                        <a:t>5.19</a:t>
                      </a:r>
                    </a:p>
                  </a:txBody>
                  <a:tcPr/>
                </a:tc>
                <a:tc>
                  <a:txBody>
                    <a:bodyPr/>
                    <a:lstStyle/>
                    <a:p>
                      <a:pPr fontAlgn="t">
                        <a:buNone/>
                      </a:pPr>
                      <a:r>
                        <a:rPr lang="en-IN" sz="1800">
                          <a:effectLst/>
                        </a:rPr>
                        <a:t>40.48</a:t>
                      </a:r>
                    </a:p>
                  </a:txBody>
                  <a:tcPr/>
                </a:tc>
                <a:extLst>
                  <a:ext uri="{0D108BD9-81ED-4DB2-BD59-A6C34878D82A}">
                    <a16:rowId xmlns:a16="http://schemas.microsoft.com/office/drawing/2014/main" val="4209433821"/>
                  </a:ext>
                </a:extLst>
              </a:tr>
              <a:tr h="365760">
                <a:tc>
                  <a:txBody>
                    <a:bodyPr/>
                    <a:lstStyle/>
                    <a:p>
                      <a:pPr fontAlgn="t">
                        <a:buNone/>
                      </a:pPr>
                      <a:r>
                        <a:rPr lang="en-IN" sz="1800">
                          <a:effectLst/>
                        </a:rPr>
                        <a:t>Zaid</a:t>
                      </a:r>
                    </a:p>
                  </a:txBody>
                  <a:tcPr/>
                </a:tc>
                <a:tc>
                  <a:txBody>
                    <a:bodyPr/>
                    <a:lstStyle/>
                    <a:p>
                      <a:pPr fontAlgn="t">
                        <a:buNone/>
                      </a:pPr>
                      <a:r>
                        <a:rPr lang="en-IN" sz="1800">
                          <a:effectLst/>
                        </a:rPr>
                        <a:t>4.64</a:t>
                      </a:r>
                    </a:p>
                  </a:txBody>
                  <a:tcPr/>
                </a:tc>
                <a:tc>
                  <a:txBody>
                    <a:bodyPr/>
                    <a:lstStyle/>
                    <a:p>
                      <a:pPr fontAlgn="t">
                        <a:buNone/>
                      </a:pPr>
                      <a:r>
                        <a:rPr lang="en-IN" sz="1800">
                          <a:effectLst/>
                        </a:rPr>
                        <a:t>38.89</a:t>
                      </a:r>
                    </a:p>
                  </a:txBody>
                  <a:tcPr/>
                </a:tc>
                <a:tc>
                  <a:txBody>
                    <a:bodyPr/>
                    <a:lstStyle/>
                    <a:p>
                      <a:pPr fontAlgn="t">
                        <a:buNone/>
                      </a:pPr>
                      <a:r>
                        <a:rPr lang="en-IN" sz="1800">
                          <a:effectLst/>
                        </a:rPr>
                        <a:t>-24804.82</a:t>
                      </a:r>
                    </a:p>
                  </a:txBody>
                  <a:tcPr/>
                </a:tc>
                <a:tc>
                  <a:txBody>
                    <a:bodyPr/>
                    <a:lstStyle/>
                    <a:p>
                      <a:pPr fontAlgn="t">
                        <a:buNone/>
                      </a:pPr>
                      <a:r>
                        <a:rPr lang="en-IN" sz="1800">
                          <a:effectLst/>
                        </a:rPr>
                        <a:t>4.41</a:t>
                      </a:r>
                    </a:p>
                  </a:txBody>
                  <a:tcPr/>
                </a:tc>
                <a:tc>
                  <a:txBody>
                    <a:bodyPr/>
                    <a:lstStyle/>
                    <a:p>
                      <a:pPr fontAlgn="t">
                        <a:buNone/>
                      </a:pPr>
                      <a:r>
                        <a:rPr lang="en-IN" sz="1800" dirty="0">
                          <a:effectLst/>
                        </a:rPr>
                        <a:t>38.22</a:t>
                      </a:r>
                    </a:p>
                  </a:txBody>
                  <a:tcPr/>
                </a:tc>
                <a:extLst>
                  <a:ext uri="{0D108BD9-81ED-4DB2-BD59-A6C34878D82A}">
                    <a16:rowId xmlns:a16="http://schemas.microsoft.com/office/drawing/2014/main" val="1018940135"/>
                  </a:ext>
                </a:extLst>
              </a:tr>
            </a:tbl>
          </a:graphicData>
        </a:graphic>
      </p:graphicFrame>
    </p:spTree>
    <p:extLst>
      <p:ext uri="{BB962C8B-B14F-4D97-AF65-F5344CB8AC3E}">
        <p14:creationId xmlns:p14="http://schemas.microsoft.com/office/powerpoint/2010/main" val="4120742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048B45-BEB5-8BDC-4137-DEB8335643B1}"/>
              </a:ext>
            </a:extLst>
          </p:cNvPr>
          <p:cNvSpPr>
            <a:spLocks noGrp="1"/>
          </p:cNvSpPr>
          <p:nvPr>
            <p:ph type="sldNum" sz="quarter" idx="12"/>
          </p:nvPr>
        </p:nvSpPr>
        <p:spPr/>
        <p:txBody>
          <a:bodyPr/>
          <a:lstStyle/>
          <a:p>
            <a:fld id="{D57F1E4F-1CFF-5643-939E-217C01CDF565}" type="slidenum">
              <a:rPr lang="en-US" smtClean="0"/>
              <a:pPr/>
              <a:t>52</a:t>
            </a:fld>
            <a:endParaRPr lang="en-US" dirty="0"/>
          </a:p>
        </p:txBody>
      </p:sp>
      <p:sp>
        <p:nvSpPr>
          <p:cNvPr id="3" name="TextBox 2">
            <a:extLst>
              <a:ext uri="{FF2B5EF4-FFF2-40B4-BE49-F238E27FC236}">
                <a16:creationId xmlns:a16="http://schemas.microsoft.com/office/drawing/2014/main" id="{5D547755-81C1-95B7-8462-A2E5A94D22B8}"/>
              </a:ext>
            </a:extLst>
          </p:cNvPr>
          <p:cNvSpPr txBox="1"/>
          <p:nvPr/>
        </p:nvSpPr>
        <p:spPr>
          <a:xfrm>
            <a:off x="307910" y="625150"/>
            <a:ext cx="6783356" cy="6124754"/>
          </a:xfrm>
          <a:prstGeom prst="rect">
            <a:avLst/>
          </a:prstGeom>
          <a:noFill/>
        </p:spPr>
        <p:txBody>
          <a:bodyPr wrap="square" rtlCol="0">
            <a:spAutoFit/>
          </a:bodyPr>
          <a:lstStyle/>
          <a:p>
            <a:r>
              <a:rPr lang="en-IN" sz="1600" dirty="0" err="1"/>
              <a:t>best_yield_season</a:t>
            </a:r>
            <a:r>
              <a:rPr lang="en-IN" sz="1600" dirty="0"/>
              <a:t> = (</a:t>
            </a:r>
          </a:p>
          <a:p>
            <a:r>
              <a:rPr lang="en-IN" sz="1600" dirty="0"/>
              <a:t>    </a:t>
            </a:r>
            <a:r>
              <a:rPr lang="en-IN" sz="1600" dirty="0" err="1"/>
              <a:t>df_clean.groupby</a:t>
            </a:r>
            <a:r>
              <a:rPr lang="en-IN" sz="1600" dirty="0"/>
              <a:t>('Season')['</a:t>
            </a:r>
            <a:r>
              <a:rPr lang="en-IN" sz="1600" dirty="0" err="1"/>
              <a:t>Yield_Tonnes_Ha</a:t>
            </a:r>
            <a:r>
              <a:rPr lang="en-IN" sz="1600" dirty="0"/>
              <a:t>']</a:t>
            </a:r>
          </a:p>
          <a:p>
            <a:r>
              <a:rPr lang="en-IN" sz="1600" dirty="0"/>
              <a:t>    .mean()</a:t>
            </a:r>
          </a:p>
          <a:p>
            <a:r>
              <a:rPr lang="en-IN" sz="1600" dirty="0"/>
              <a:t>    .</a:t>
            </a:r>
            <a:r>
              <a:rPr lang="en-IN" sz="1600" dirty="0" err="1"/>
              <a:t>idxmax</a:t>
            </a:r>
            <a:r>
              <a:rPr lang="en-IN" sz="1600" dirty="0"/>
              <a:t>()</a:t>
            </a:r>
          </a:p>
          <a:p>
            <a:r>
              <a:rPr lang="en-IN" sz="1600" dirty="0"/>
              <a:t>)</a:t>
            </a:r>
          </a:p>
          <a:p>
            <a:r>
              <a:rPr lang="en-IN" sz="1600" dirty="0" err="1"/>
              <a:t>worst_yield_season</a:t>
            </a:r>
            <a:r>
              <a:rPr lang="en-IN" sz="1600" dirty="0"/>
              <a:t> = (</a:t>
            </a:r>
          </a:p>
          <a:p>
            <a:r>
              <a:rPr lang="en-IN" sz="1600" dirty="0"/>
              <a:t>    </a:t>
            </a:r>
            <a:r>
              <a:rPr lang="en-IN" sz="1600" dirty="0" err="1"/>
              <a:t>df_clean.groupby</a:t>
            </a:r>
            <a:r>
              <a:rPr lang="en-IN" sz="1600" dirty="0"/>
              <a:t>('Season')['</a:t>
            </a:r>
            <a:r>
              <a:rPr lang="en-IN" sz="1600" dirty="0" err="1"/>
              <a:t>Yield_Tonnes_Ha</a:t>
            </a:r>
            <a:r>
              <a:rPr lang="en-IN" sz="1600" dirty="0"/>
              <a:t>']</a:t>
            </a:r>
          </a:p>
          <a:p>
            <a:r>
              <a:rPr lang="en-IN" sz="1600" dirty="0"/>
              <a:t>    .mean()</a:t>
            </a:r>
          </a:p>
          <a:p>
            <a:r>
              <a:rPr lang="en-IN" sz="1600" dirty="0"/>
              <a:t>    .</a:t>
            </a:r>
            <a:r>
              <a:rPr lang="en-IN" sz="1600" dirty="0" err="1"/>
              <a:t>idxmin</a:t>
            </a:r>
            <a:r>
              <a:rPr lang="en-IN" sz="1600" dirty="0"/>
              <a:t>()</a:t>
            </a:r>
          </a:p>
          <a:p>
            <a:r>
              <a:rPr lang="en-IN" sz="1600" dirty="0"/>
              <a:t>)</a:t>
            </a:r>
          </a:p>
          <a:p>
            <a:r>
              <a:rPr lang="en-IN" sz="1600" dirty="0" err="1"/>
              <a:t>best_profit_season</a:t>
            </a:r>
            <a:r>
              <a:rPr lang="en-IN" sz="1600" dirty="0"/>
              <a:t> = (</a:t>
            </a:r>
          </a:p>
          <a:p>
            <a:r>
              <a:rPr lang="en-IN" sz="1600" dirty="0"/>
              <a:t>    </a:t>
            </a:r>
            <a:r>
              <a:rPr lang="en-IN" sz="1600" dirty="0" err="1"/>
              <a:t>df_clean.groupby</a:t>
            </a:r>
            <a:r>
              <a:rPr lang="en-IN" sz="1600" dirty="0"/>
              <a:t>('Season')['</a:t>
            </a:r>
            <a:r>
              <a:rPr lang="en-IN" sz="1600" dirty="0" err="1"/>
              <a:t>Profit_INR</a:t>
            </a:r>
            <a:r>
              <a:rPr lang="en-IN" sz="1600" dirty="0"/>
              <a:t>']</a:t>
            </a:r>
          </a:p>
          <a:p>
            <a:r>
              <a:rPr lang="en-IN" sz="1600" dirty="0"/>
              <a:t>    .mean()</a:t>
            </a:r>
          </a:p>
          <a:p>
            <a:r>
              <a:rPr lang="en-IN" sz="1600" dirty="0"/>
              <a:t>    .</a:t>
            </a:r>
            <a:r>
              <a:rPr lang="en-IN" sz="1600" dirty="0" err="1"/>
              <a:t>idxmax</a:t>
            </a:r>
            <a:r>
              <a:rPr lang="en-IN" sz="1600" dirty="0"/>
              <a:t>()</a:t>
            </a:r>
          </a:p>
          <a:p>
            <a:r>
              <a:rPr lang="en-IN" sz="1600" dirty="0"/>
              <a:t>)</a:t>
            </a:r>
          </a:p>
          <a:p>
            <a:r>
              <a:rPr lang="en-IN" sz="1600" dirty="0" err="1"/>
              <a:t>best_water_season</a:t>
            </a:r>
            <a:r>
              <a:rPr lang="en-IN" sz="1600" dirty="0"/>
              <a:t> = (</a:t>
            </a:r>
          </a:p>
          <a:p>
            <a:r>
              <a:rPr lang="en-IN" sz="1600" dirty="0"/>
              <a:t>    </a:t>
            </a:r>
            <a:r>
              <a:rPr lang="en-IN" sz="1600" dirty="0" err="1"/>
              <a:t>df_clean.groupby</a:t>
            </a:r>
            <a:r>
              <a:rPr lang="en-IN" sz="1600" dirty="0"/>
              <a:t>('Season')['Water_Efficiency_t_per_1000m3']</a:t>
            </a:r>
          </a:p>
          <a:p>
            <a:r>
              <a:rPr lang="en-IN" sz="1600" dirty="0"/>
              <a:t>    .mean()</a:t>
            </a:r>
          </a:p>
          <a:p>
            <a:r>
              <a:rPr lang="en-IN" sz="1600" dirty="0"/>
              <a:t>    .</a:t>
            </a:r>
            <a:r>
              <a:rPr lang="en-IN" sz="1600" dirty="0" err="1"/>
              <a:t>idxmax</a:t>
            </a:r>
            <a:r>
              <a:rPr lang="en-IN" sz="1600" dirty="0"/>
              <a:t>()</a:t>
            </a:r>
          </a:p>
          <a:p>
            <a:r>
              <a:rPr lang="en-IN" sz="1600" dirty="0"/>
              <a:t>)</a:t>
            </a:r>
          </a:p>
          <a:p>
            <a:r>
              <a:rPr lang="en-IN" sz="1600" dirty="0"/>
              <a:t>print("Best season based on average yield:", </a:t>
            </a:r>
            <a:r>
              <a:rPr lang="en-IN" sz="1600" dirty="0" err="1"/>
              <a:t>best_yield_season</a:t>
            </a:r>
            <a:r>
              <a:rPr lang="en-IN" sz="1600" dirty="0"/>
              <a:t>)</a:t>
            </a:r>
          </a:p>
          <a:p>
            <a:r>
              <a:rPr lang="en-IN" sz="1600" dirty="0"/>
              <a:t>print("Lowest season based on average yield:", </a:t>
            </a:r>
            <a:r>
              <a:rPr lang="en-IN" sz="1600" dirty="0" err="1"/>
              <a:t>worst_yield_season</a:t>
            </a:r>
            <a:r>
              <a:rPr lang="en-IN" sz="1600" dirty="0"/>
              <a:t>)</a:t>
            </a:r>
          </a:p>
          <a:p>
            <a:r>
              <a:rPr lang="en-IN" sz="1600" dirty="0"/>
              <a:t>print("Best season based on average profit:", </a:t>
            </a:r>
            <a:r>
              <a:rPr lang="en-IN" sz="1600" dirty="0" err="1"/>
              <a:t>best_profit_season</a:t>
            </a:r>
            <a:r>
              <a:rPr lang="en-IN" sz="1600" dirty="0"/>
              <a:t>)</a:t>
            </a:r>
          </a:p>
          <a:p>
            <a:r>
              <a:rPr lang="en-IN" sz="1600" dirty="0"/>
              <a:t>print("Best season based on water efficiency:", </a:t>
            </a:r>
            <a:r>
              <a:rPr lang="en-IN" sz="1600" dirty="0" err="1"/>
              <a:t>best_water_season</a:t>
            </a:r>
            <a:r>
              <a:rPr lang="en-IN" sz="1600" dirty="0"/>
              <a:t>)</a:t>
            </a:r>
          </a:p>
          <a:p>
            <a:endParaRPr lang="en-IN" sz="800" dirty="0"/>
          </a:p>
        </p:txBody>
      </p:sp>
      <p:sp>
        <p:nvSpPr>
          <p:cNvPr id="4" name="TextBox 3">
            <a:extLst>
              <a:ext uri="{FF2B5EF4-FFF2-40B4-BE49-F238E27FC236}">
                <a16:creationId xmlns:a16="http://schemas.microsoft.com/office/drawing/2014/main" id="{A83195CF-503A-A2D2-E481-4B042B0F7A28}"/>
              </a:ext>
            </a:extLst>
          </p:cNvPr>
          <p:cNvSpPr txBox="1"/>
          <p:nvPr/>
        </p:nvSpPr>
        <p:spPr>
          <a:xfrm>
            <a:off x="7931020" y="1679510"/>
            <a:ext cx="3293707" cy="3416320"/>
          </a:xfrm>
          <a:prstGeom prst="rect">
            <a:avLst/>
          </a:prstGeom>
          <a:noFill/>
        </p:spPr>
        <p:txBody>
          <a:bodyPr wrap="square" rtlCol="0">
            <a:spAutoFit/>
          </a:bodyPr>
          <a:lstStyle/>
          <a:p>
            <a:r>
              <a:rPr lang="en-IN" dirty="0"/>
              <a:t>Best season based on average yield: Kharif</a:t>
            </a:r>
          </a:p>
          <a:p>
            <a:r>
              <a:rPr lang="en-IN" dirty="0"/>
              <a:t>Lowest season based on average yield: Zaid</a:t>
            </a:r>
          </a:p>
          <a:p>
            <a:r>
              <a:rPr lang="en-IN" dirty="0"/>
              <a:t>Best season based on average profit: Kharif</a:t>
            </a:r>
          </a:p>
          <a:p>
            <a:r>
              <a:rPr lang="en-IN" dirty="0"/>
              <a:t>Best season based on water efficiency: Kharif</a:t>
            </a:r>
          </a:p>
          <a:p>
            <a:br>
              <a:rPr lang="en-IN" dirty="0"/>
            </a:br>
            <a:endParaRPr lang="en-IN" dirty="0"/>
          </a:p>
          <a:p>
            <a:br>
              <a:rPr lang="en-IN" dirty="0"/>
            </a:br>
            <a:endParaRPr lang="en-IN" dirty="0"/>
          </a:p>
        </p:txBody>
      </p:sp>
    </p:spTree>
    <p:extLst>
      <p:ext uri="{BB962C8B-B14F-4D97-AF65-F5344CB8AC3E}">
        <p14:creationId xmlns:p14="http://schemas.microsoft.com/office/powerpoint/2010/main" val="3359285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A288E5-64AF-9967-A4F4-E1C1639C8C18}"/>
              </a:ext>
            </a:extLst>
          </p:cNvPr>
          <p:cNvSpPr>
            <a:spLocks noGrp="1"/>
          </p:cNvSpPr>
          <p:nvPr>
            <p:ph type="sldNum" sz="quarter" idx="12"/>
          </p:nvPr>
        </p:nvSpPr>
        <p:spPr/>
        <p:txBody>
          <a:bodyPr/>
          <a:lstStyle/>
          <a:p>
            <a:fld id="{D57F1E4F-1CFF-5643-939E-217C01CDF565}" type="slidenum">
              <a:rPr lang="en-US" smtClean="0"/>
              <a:pPr/>
              <a:t>53</a:t>
            </a:fld>
            <a:endParaRPr lang="en-US" dirty="0"/>
          </a:p>
        </p:txBody>
      </p:sp>
      <p:sp>
        <p:nvSpPr>
          <p:cNvPr id="3" name="TextBox 2">
            <a:extLst>
              <a:ext uri="{FF2B5EF4-FFF2-40B4-BE49-F238E27FC236}">
                <a16:creationId xmlns:a16="http://schemas.microsoft.com/office/drawing/2014/main" id="{8CF5DD2E-52E4-392D-63D8-393D10D54901}"/>
              </a:ext>
            </a:extLst>
          </p:cNvPr>
          <p:cNvSpPr txBox="1"/>
          <p:nvPr/>
        </p:nvSpPr>
        <p:spPr>
          <a:xfrm>
            <a:off x="410548" y="859982"/>
            <a:ext cx="3862874" cy="5755422"/>
          </a:xfrm>
          <a:prstGeom prst="rect">
            <a:avLst/>
          </a:prstGeom>
          <a:noFill/>
        </p:spPr>
        <p:txBody>
          <a:bodyPr wrap="square" rtlCol="0">
            <a:spAutoFit/>
          </a:bodyPr>
          <a:lstStyle/>
          <a:p>
            <a:r>
              <a:rPr lang="en-IN" sz="1000" b="1" dirty="0" err="1"/>
              <a:t>season_stats</a:t>
            </a:r>
            <a:r>
              <a:rPr lang="en-IN" sz="1000" b="1" dirty="0"/>
              <a:t> = </a:t>
            </a:r>
            <a:r>
              <a:rPr lang="en-IN" sz="1000" b="1" dirty="0" err="1"/>
              <a:t>df_clean.groupby</a:t>
            </a:r>
            <a:r>
              <a:rPr lang="en-IN" sz="1000" b="1" dirty="0"/>
              <a:t>('Season').</a:t>
            </a:r>
            <a:r>
              <a:rPr lang="en-IN" sz="1000" b="1" dirty="0" err="1"/>
              <a:t>agg</a:t>
            </a:r>
            <a:r>
              <a:rPr lang="en-IN" sz="1000" b="1" dirty="0"/>
              <a:t>({</a:t>
            </a:r>
          </a:p>
          <a:p>
            <a:r>
              <a:rPr lang="en-IN" sz="1000" b="1" dirty="0"/>
              <a:t>    '</a:t>
            </a:r>
            <a:r>
              <a:rPr lang="en-IN" sz="1000" b="1" dirty="0" err="1"/>
              <a:t>Yield_Tonnes_Ha</a:t>
            </a:r>
            <a:r>
              <a:rPr lang="en-IN" sz="1000" b="1" dirty="0"/>
              <a:t>': 'mean',</a:t>
            </a:r>
          </a:p>
          <a:p>
            <a:r>
              <a:rPr lang="en-IN" sz="1000" b="1" dirty="0"/>
              <a:t>    '</a:t>
            </a:r>
            <a:r>
              <a:rPr lang="en-IN" sz="1000" b="1" dirty="0" err="1"/>
              <a:t>Production_Tonnes</a:t>
            </a:r>
            <a:r>
              <a:rPr lang="en-IN" sz="1000" b="1" dirty="0"/>
              <a:t>': 'mean',</a:t>
            </a:r>
          </a:p>
          <a:p>
            <a:r>
              <a:rPr lang="en-IN" sz="1000" b="1" dirty="0"/>
              <a:t>    '</a:t>
            </a:r>
            <a:r>
              <a:rPr lang="en-IN" sz="1000" b="1" dirty="0" err="1"/>
              <a:t>Profit_INR</a:t>
            </a:r>
            <a:r>
              <a:rPr lang="en-IN" sz="1000" b="1" dirty="0"/>
              <a:t>': 'mean',</a:t>
            </a:r>
          </a:p>
          <a:p>
            <a:r>
              <a:rPr lang="en-IN" sz="1000" b="1" dirty="0"/>
              <a:t>    'Water_Used_m3': 'mean',</a:t>
            </a:r>
          </a:p>
          <a:p>
            <a:r>
              <a:rPr lang="en-IN" sz="1000" b="1" dirty="0"/>
              <a:t>    'Water_Efficiency_t_per_1000m3': 'mean',</a:t>
            </a:r>
          </a:p>
          <a:p>
            <a:r>
              <a:rPr lang="en-IN" sz="1000" b="1" dirty="0"/>
              <a:t>    '</a:t>
            </a:r>
            <a:r>
              <a:rPr lang="en-IN" sz="1000" b="1" dirty="0" err="1"/>
              <a:t>Disease_Pest_Risk_pct</a:t>
            </a:r>
            <a:r>
              <a:rPr lang="en-IN" sz="1000" b="1" dirty="0"/>
              <a:t>': 'mean'</a:t>
            </a:r>
          </a:p>
          <a:p>
            <a:r>
              <a:rPr lang="en-IN" sz="1000" b="1" dirty="0"/>
              <a:t>})</a:t>
            </a:r>
          </a:p>
          <a:p>
            <a:r>
              <a:rPr lang="en-IN" sz="1000" b="1" dirty="0" err="1"/>
              <a:t>best_yield</a:t>
            </a:r>
            <a:r>
              <a:rPr lang="en-IN" sz="1000" b="1" dirty="0"/>
              <a:t> = </a:t>
            </a:r>
            <a:r>
              <a:rPr lang="en-IN" sz="1000" b="1" dirty="0" err="1"/>
              <a:t>season_stats</a:t>
            </a:r>
            <a:r>
              <a:rPr lang="en-IN" sz="1000" b="1" dirty="0"/>
              <a:t>['</a:t>
            </a:r>
            <a:r>
              <a:rPr lang="en-IN" sz="1000" b="1" dirty="0" err="1"/>
              <a:t>Yield_Tonnes_Ha</a:t>
            </a:r>
            <a:r>
              <a:rPr lang="en-IN" sz="1000" b="1" dirty="0"/>
              <a:t>'].</a:t>
            </a:r>
            <a:r>
              <a:rPr lang="en-IN" sz="1000" b="1" dirty="0" err="1"/>
              <a:t>idxmax</a:t>
            </a:r>
            <a:r>
              <a:rPr lang="en-IN" sz="1000" b="1" dirty="0"/>
              <a:t>()</a:t>
            </a:r>
          </a:p>
          <a:p>
            <a:r>
              <a:rPr lang="en-IN" sz="1000" b="1" dirty="0" err="1"/>
              <a:t>best_profit</a:t>
            </a:r>
            <a:r>
              <a:rPr lang="en-IN" sz="1000" b="1" dirty="0"/>
              <a:t> = </a:t>
            </a:r>
            <a:r>
              <a:rPr lang="en-IN" sz="1000" b="1" dirty="0" err="1"/>
              <a:t>season_stats</a:t>
            </a:r>
            <a:r>
              <a:rPr lang="en-IN" sz="1000" b="1" dirty="0"/>
              <a:t>['</a:t>
            </a:r>
            <a:r>
              <a:rPr lang="en-IN" sz="1000" b="1" dirty="0" err="1"/>
              <a:t>Profit_INR</a:t>
            </a:r>
            <a:r>
              <a:rPr lang="en-IN" sz="1000" b="1" dirty="0"/>
              <a:t>'].</a:t>
            </a:r>
            <a:r>
              <a:rPr lang="en-IN" sz="1000" b="1" dirty="0" err="1"/>
              <a:t>idxmax</a:t>
            </a:r>
            <a:r>
              <a:rPr lang="en-IN" sz="1000" b="1" dirty="0"/>
              <a:t>()</a:t>
            </a:r>
          </a:p>
          <a:p>
            <a:r>
              <a:rPr lang="en-IN" sz="1000" b="1" dirty="0" err="1"/>
              <a:t>best_water</a:t>
            </a:r>
            <a:r>
              <a:rPr lang="en-IN" sz="1000" b="1" dirty="0"/>
              <a:t> = </a:t>
            </a:r>
            <a:r>
              <a:rPr lang="en-IN" sz="1000" b="1" dirty="0" err="1"/>
              <a:t>season_stats</a:t>
            </a:r>
            <a:r>
              <a:rPr lang="en-IN" sz="1000" b="1" dirty="0"/>
              <a:t>['Water_Efficiency_t_per_1000m3'].</a:t>
            </a:r>
            <a:r>
              <a:rPr lang="en-IN" sz="1000" b="1" dirty="0" err="1"/>
              <a:t>idxmax</a:t>
            </a:r>
            <a:r>
              <a:rPr lang="en-IN" sz="1000" b="1" dirty="0"/>
              <a:t>()</a:t>
            </a:r>
          </a:p>
          <a:p>
            <a:r>
              <a:rPr lang="en-IN" sz="1000" b="1" dirty="0" err="1"/>
              <a:t>highest_risk</a:t>
            </a:r>
            <a:r>
              <a:rPr lang="en-IN" sz="1000" b="1" dirty="0"/>
              <a:t> = </a:t>
            </a:r>
            <a:r>
              <a:rPr lang="en-IN" sz="1000" b="1" dirty="0" err="1"/>
              <a:t>season_stats</a:t>
            </a:r>
            <a:r>
              <a:rPr lang="en-IN" sz="1000" b="1" dirty="0"/>
              <a:t>['</a:t>
            </a:r>
            <a:r>
              <a:rPr lang="en-IN" sz="1000" b="1" dirty="0" err="1"/>
              <a:t>Disease_Pest_Risk_pct</a:t>
            </a:r>
            <a:r>
              <a:rPr lang="en-IN" sz="1000" b="1" dirty="0"/>
              <a:t>'].</a:t>
            </a:r>
            <a:r>
              <a:rPr lang="en-IN" sz="1000" b="1" dirty="0" err="1"/>
              <a:t>idxmax</a:t>
            </a:r>
            <a:r>
              <a:rPr lang="en-IN" sz="1000" b="1" dirty="0"/>
              <a:t>()</a:t>
            </a:r>
          </a:p>
          <a:p>
            <a:r>
              <a:rPr lang="en-IN" sz="1000" b="1" dirty="0"/>
              <a:t>print("========== KEY FINDINGS ==========\n")</a:t>
            </a:r>
          </a:p>
          <a:p>
            <a:r>
              <a:rPr lang="en-IN" sz="1000" b="1" dirty="0"/>
              <a:t>print(</a:t>
            </a:r>
          </a:p>
          <a:p>
            <a:r>
              <a:rPr lang="en-IN" sz="1000" b="1" dirty="0"/>
              <a:t>    f"1. Highest average yield: {</a:t>
            </a:r>
            <a:r>
              <a:rPr lang="en-IN" sz="1000" b="1" dirty="0" err="1"/>
              <a:t>best_yield</a:t>
            </a:r>
            <a:r>
              <a:rPr lang="en-IN" sz="1000" b="1" dirty="0"/>
              <a:t>} "</a:t>
            </a:r>
          </a:p>
          <a:p>
            <a:r>
              <a:rPr lang="en-IN" sz="1000" b="1" dirty="0"/>
              <a:t>    f"({</a:t>
            </a:r>
            <a:r>
              <a:rPr lang="en-IN" sz="1000" b="1" dirty="0" err="1"/>
              <a:t>season_stats.loc</a:t>
            </a:r>
            <a:r>
              <a:rPr lang="en-IN" sz="1000" b="1" dirty="0"/>
              <a:t>[</a:t>
            </a:r>
            <a:r>
              <a:rPr lang="en-IN" sz="1000" b="1" dirty="0" err="1"/>
              <a:t>best_yield</a:t>
            </a:r>
            <a:r>
              <a:rPr lang="en-IN" sz="1000" b="1" dirty="0"/>
              <a:t>, '</a:t>
            </a:r>
            <a:r>
              <a:rPr lang="en-IN" sz="1000" b="1" dirty="0" err="1"/>
              <a:t>Yield_Tonnes_Ha</a:t>
            </a:r>
            <a:r>
              <a:rPr lang="en-IN" sz="1000" b="1" dirty="0"/>
              <a:t>']:.2f} tonnes/ha)"</a:t>
            </a:r>
          </a:p>
          <a:p>
            <a:r>
              <a:rPr lang="en-IN" sz="1000" b="1" dirty="0"/>
              <a:t>)</a:t>
            </a:r>
          </a:p>
          <a:p>
            <a:r>
              <a:rPr lang="en-IN" sz="1000" b="1" dirty="0"/>
              <a:t>print(</a:t>
            </a:r>
          </a:p>
          <a:p>
            <a:r>
              <a:rPr lang="en-IN" sz="1000" b="1" dirty="0"/>
              <a:t>    f"2. Highest average profit: {</a:t>
            </a:r>
            <a:r>
              <a:rPr lang="en-IN" sz="1000" b="1" dirty="0" err="1"/>
              <a:t>best_profit</a:t>
            </a:r>
            <a:r>
              <a:rPr lang="en-IN" sz="1000" b="1" dirty="0"/>
              <a:t>} "</a:t>
            </a:r>
          </a:p>
          <a:p>
            <a:r>
              <a:rPr lang="en-IN" sz="1000" b="1" dirty="0"/>
              <a:t>    f"(INR {</a:t>
            </a:r>
            <a:r>
              <a:rPr lang="en-IN" sz="1000" b="1" dirty="0" err="1"/>
              <a:t>season_stats.loc</a:t>
            </a:r>
            <a:r>
              <a:rPr lang="en-IN" sz="1000" b="1" dirty="0"/>
              <a:t>[</a:t>
            </a:r>
            <a:r>
              <a:rPr lang="en-IN" sz="1000" b="1" dirty="0" err="1"/>
              <a:t>best_profit</a:t>
            </a:r>
            <a:r>
              <a:rPr lang="en-IN" sz="1000" b="1" dirty="0"/>
              <a:t>, '</a:t>
            </a:r>
            <a:r>
              <a:rPr lang="en-IN" sz="1000" b="1" dirty="0" err="1"/>
              <a:t>Profit_INR</a:t>
            </a:r>
            <a:r>
              <a:rPr lang="en-IN" sz="1000" b="1" dirty="0"/>
              <a:t>']:,.2f})"</a:t>
            </a:r>
          </a:p>
          <a:p>
            <a:r>
              <a:rPr lang="en-IN" sz="1000" b="1" dirty="0"/>
              <a:t>)</a:t>
            </a:r>
          </a:p>
          <a:p>
            <a:r>
              <a:rPr lang="en-IN" sz="1000" b="1" dirty="0"/>
              <a:t>print(</a:t>
            </a:r>
          </a:p>
          <a:p>
            <a:r>
              <a:rPr lang="en-IN" sz="1000" b="1" dirty="0"/>
              <a:t>    f"3. Highest water efficiency: {</a:t>
            </a:r>
            <a:r>
              <a:rPr lang="en-IN" sz="1000" b="1" dirty="0" err="1"/>
              <a:t>best_water</a:t>
            </a:r>
            <a:r>
              <a:rPr lang="en-IN" sz="1000" b="1" dirty="0"/>
              <a:t>} "</a:t>
            </a:r>
          </a:p>
          <a:p>
            <a:r>
              <a:rPr lang="en-IN" sz="1000" b="1" dirty="0"/>
              <a:t>    f"({</a:t>
            </a:r>
            <a:r>
              <a:rPr lang="en-IN" sz="1000" b="1" dirty="0" err="1"/>
              <a:t>season_stats.loc</a:t>
            </a:r>
            <a:r>
              <a:rPr lang="en-IN" sz="1000" b="1" dirty="0"/>
              <a:t>[</a:t>
            </a:r>
            <a:r>
              <a:rPr lang="en-IN" sz="1000" b="1" dirty="0" err="1"/>
              <a:t>best_water</a:t>
            </a:r>
            <a:r>
              <a:rPr lang="en-IN" sz="1000" b="1" dirty="0"/>
              <a:t>, 'Water_Efficiency_t_per_1000m3']:.2f})"</a:t>
            </a:r>
          </a:p>
          <a:p>
            <a:r>
              <a:rPr lang="en-IN" sz="1000" b="1" dirty="0"/>
              <a:t>)</a:t>
            </a:r>
          </a:p>
          <a:p>
            <a:r>
              <a:rPr lang="en-IN" sz="1000" b="1" dirty="0"/>
              <a:t>print(</a:t>
            </a:r>
          </a:p>
          <a:p>
            <a:r>
              <a:rPr lang="en-IN" sz="1000" b="1" dirty="0"/>
              <a:t>    f"4. Highest average disease/pest risk: {</a:t>
            </a:r>
            <a:r>
              <a:rPr lang="en-IN" sz="1000" b="1" dirty="0" err="1"/>
              <a:t>highest_risk</a:t>
            </a:r>
            <a:r>
              <a:rPr lang="en-IN" sz="1000" b="1" dirty="0"/>
              <a:t>} "</a:t>
            </a:r>
          </a:p>
          <a:p>
            <a:r>
              <a:rPr lang="en-IN" sz="1000" b="1" dirty="0"/>
              <a:t>    f"({</a:t>
            </a:r>
            <a:r>
              <a:rPr lang="en-IN" sz="1000" b="1" dirty="0" err="1"/>
              <a:t>season_stats.loc</a:t>
            </a:r>
            <a:r>
              <a:rPr lang="en-IN" sz="1000" b="1" dirty="0"/>
              <a:t>[</a:t>
            </a:r>
            <a:r>
              <a:rPr lang="en-IN" sz="1000" b="1" dirty="0" err="1"/>
              <a:t>highest_risk</a:t>
            </a:r>
            <a:r>
              <a:rPr lang="en-IN" sz="1000" b="1" dirty="0"/>
              <a:t>, '</a:t>
            </a:r>
            <a:r>
              <a:rPr lang="en-IN" sz="1000" b="1" dirty="0" err="1"/>
              <a:t>Disease_Pest_Risk_pct</a:t>
            </a:r>
            <a:r>
              <a:rPr lang="en-IN" sz="1000" b="1" dirty="0"/>
              <a:t>']:.2f}%)"</a:t>
            </a:r>
          </a:p>
          <a:p>
            <a:r>
              <a:rPr lang="en-IN" sz="1000" b="1" dirty="0"/>
              <a:t>)</a:t>
            </a:r>
          </a:p>
          <a:p>
            <a:r>
              <a:rPr lang="en-IN" sz="1000" b="1" dirty="0"/>
              <a:t>print("\n========== SEASON SUMMARY ==========\n")</a:t>
            </a:r>
          </a:p>
          <a:p>
            <a:r>
              <a:rPr lang="en-IN" sz="1000" b="1" dirty="0"/>
              <a:t>display(</a:t>
            </a:r>
            <a:r>
              <a:rPr lang="en-IN" sz="1000" b="1" dirty="0" err="1"/>
              <a:t>season_stats.round</a:t>
            </a:r>
            <a:r>
              <a:rPr lang="en-IN" sz="1000" b="1" dirty="0"/>
              <a:t>(2))</a:t>
            </a:r>
          </a:p>
          <a:p>
            <a:endParaRPr lang="en-IN" sz="800" dirty="0"/>
          </a:p>
        </p:txBody>
      </p:sp>
      <p:pic>
        <p:nvPicPr>
          <p:cNvPr id="10" name="Picture 9">
            <a:extLst>
              <a:ext uri="{FF2B5EF4-FFF2-40B4-BE49-F238E27FC236}">
                <a16:creationId xmlns:a16="http://schemas.microsoft.com/office/drawing/2014/main" id="{56CFE002-7AFF-DCFA-9047-A4604A379DCD}"/>
              </a:ext>
            </a:extLst>
          </p:cNvPr>
          <p:cNvPicPr>
            <a:picLocks noChangeAspect="1"/>
          </p:cNvPicPr>
          <p:nvPr/>
        </p:nvPicPr>
        <p:blipFill>
          <a:blip r:embed="rId2"/>
          <a:stretch>
            <a:fillRect/>
          </a:stretch>
        </p:blipFill>
        <p:spPr>
          <a:xfrm>
            <a:off x="4469363" y="102637"/>
            <a:ext cx="7722637" cy="6512767"/>
          </a:xfrm>
          <a:prstGeom prst="rect">
            <a:avLst/>
          </a:prstGeom>
        </p:spPr>
      </p:pic>
    </p:spTree>
    <p:extLst>
      <p:ext uri="{BB962C8B-B14F-4D97-AF65-F5344CB8AC3E}">
        <p14:creationId xmlns:p14="http://schemas.microsoft.com/office/powerpoint/2010/main" val="38306608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5BD6DB-CD49-DF70-D9CA-44EE832D650A}"/>
              </a:ext>
            </a:extLst>
          </p:cNvPr>
          <p:cNvSpPr>
            <a:spLocks noGrp="1"/>
          </p:cNvSpPr>
          <p:nvPr>
            <p:ph type="sldNum" sz="quarter" idx="12"/>
          </p:nvPr>
        </p:nvSpPr>
        <p:spPr/>
        <p:txBody>
          <a:bodyPr/>
          <a:lstStyle/>
          <a:p>
            <a:fld id="{D57F1E4F-1CFF-5643-939E-217C01CDF565}" type="slidenum">
              <a:rPr lang="en-US" smtClean="0"/>
              <a:pPr/>
              <a:t>54</a:t>
            </a:fld>
            <a:endParaRPr lang="en-US" dirty="0"/>
          </a:p>
        </p:txBody>
      </p:sp>
      <p:sp>
        <p:nvSpPr>
          <p:cNvPr id="4" name="TextBox 3">
            <a:extLst>
              <a:ext uri="{FF2B5EF4-FFF2-40B4-BE49-F238E27FC236}">
                <a16:creationId xmlns:a16="http://schemas.microsoft.com/office/drawing/2014/main" id="{ED8E901B-12CD-50E4-6916-559DE94F1D61}"/>
              </a:ext>
            </a:extLst>
          </p:cNvPr>
          <p:cNvSpPr txBox="1"/>
          <p:nvPr/>
        </p:nvSpPr>
        <p:spPr>
          <a:xfrm>
            <a:off x="606490" y="391886"/>
            <a:ext cx="4161453" cy="707886"/>
          </a:xfrm>
          <a:prstGeom prst="rect">
            <a:avLst/>
          </a:prstGeom>
          <a:noFill/>
        </p:spPr>
        <p:txBody>
          <a:bodyPr wrap="square" rtlCol="0">
            <a:spAutoFit/>
          </a:bodyPr>
          <a:lstStyle/>
          <a:p>
            <a:r>
              <a:rPr kumimoji="0" lang="en-IN" sz="4000" b="1" i="0" u="none" strike="noStrike" kern="1200" cap="none" spc="0" normalizeH="0" baseline="0" noProof="0" dirty="0">
                <a:ln>
                  <a:noFill/>
                </a:ln>
                <a:solidFill>
                  <a:prstClr val="black"/>
                </a:solidFill>
                <a:effectLst/>
                <a:uLnTx/>
                <a:uFillTx/>
                <a:latin typeface="Bookman Old Style" panose="02050604050505020204" pitchFamily="18" charset="0"/>
                <a:ea typeface="+mj-ea"/>
                <a:cs typeface="+mj-cs"/>
              </a:rPr>
              <a:t>Future scope</a:t>
            </a:r>
            <a:endParaRPr lang="en-IN" dirty="0"/>
          </a:p>
        </p:txBody>
      </p:sp>
      <p:sp>
        <p:nvSpPr>
          <p:cNvPr id="5" name="TextBox 4">
            <a:extLst>
              <a:ext uri="{FF2B5EF4-FFF2-40B4-BE49-F238E27FC236}">
                <a16:creationId xmlns:a16="http://schemas.microsoft.com/office/drawing/2014/main" id="{7ADBF7CF-99FB-2CC7-073E-73205CAEFF40}"/>
              </a:ext>
            </a:extLst>
          </p:cNvPr>
          <p:cNvSpPr txBox="1"/>
          <p:nvPr/>
        </p:nvSpPr>
        <p:spPr>
          <a:xfrm>
            <a:off x="923731" y="1931437"/>
            <a:ext cx="8724122" cy="298543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endParaRP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Develop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predictive models</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 for seasonal crop performance.</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Include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real-time weather and market data</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Build an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interactive dashboard</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 for farmers and planners.</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Provide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personalized crop and resource recommendations</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Expand the analysis to </a:t>
            </a:r>
            <a:r>
              <a:rPr kumimoji="0" lang="en-IN" sz="20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more regions and crops</a:t>
            </a:r>
            <a:r>
              <a:rPr kumimoji="0" lang="en-IN" sz="2000" b="0"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a:t>
            </a:r>
          </a:p>
          <a:p>
            <a:endParaRPr lang="en-IN" dirty="0"/>
          </a:p>
        </p:txBody>
      </p:sp>
    </p:spTree>
    <p:extLst>
      <p:ext uri="{BB962C8B-B14F-4D97-AF65-F5344CB8AC3E}">
        <p14:creationId xmlns:p14="http://schemas.microsoft.com/office/powerpoint/2010/main" val="42081872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idx="4294967295"/>
          </p:nvPr>
        </p:nvSpPr>
        <p:spPr>
          <a:xfrm>
            <a:off x="0" y="369888"/>
            <a:ext cx="4735513" cy="831850"/>
          </a:xfrm>
        </p:spPr>
        <p:txBody>
          <a:bodyPr>
            <a:normAutofit/>
          </a:bodyPr>
          <a:lstStyle/>
          <a:p>
            <a:r>
              <a:rPr lang="en-IN" sz="4000" dirty="0">
                <a:solidFill>
                  <a:schemeClr val="tx1"/>
                </a:solidFill>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7EBDEB5D-FF9E-6A61-D816-2C26C3554790}"/>
              </a:ext>
            </a:extLst>
          </p:cNvPr>
          <p:cNvSpPr txBox="1"/>
          <p:nvPr/>
        </p:nvSpPr>
        <p:spPr>
          <a:xfrm>
            <a:off x="1170220" y="2705877"/>
            <a:ext cx="9694507" cy="369332"/>
          </a:xfrm>
          <a:prstGeom prst="rect">
            <a:avLst/>
          </a:prstGeom>
          <a:noFill/>
        </p:spPr>
        <p:txBody>
          <a:bodyPr wrap="square" rtlCol="0">
            <a:spAutoFit/>
          </a:bodyPr>
          <a:lstStyle/>
          <a:p>
            <a:r>
              <a:rPr lang="en-IN" dirty="0">
                <a:solidFill>
                  <a:srgbClr val="00B0F0"/>
                </a:solidFill>
                <a:hlinkClick r:id="rId3"/>
              </a:rPr>
              <a:t>https://github.com/rudranil-glitch/Seasonal-Agriculture-Performance-Analysis</a:t>
            </a:r>
            <a:endParaRPr lang="en-IN" dirty="0">
              <a:solidFill>
                <a:srgbClr val="00B0F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5" name="TextBox 14">
            <a:extLst>
              <a:ext uri="{FF2B5EF4-FFF2-40B4-BE49-F238E27FC236}">
                <a16:creationId xmlns:a16="http://schemas.microsoft.com/office/drawing/2014/main" id="{1CF2A5C7-CCE6-0E34-8913-0617E6F05BCE}"/>
              </a:ext>
            </a:extLst>
          </p:cNvPr>
          <p:cNvSpPr txBox="1"/>
          <p:nvPr/>
        </p:nvSpPr>
        <p:spPr>
          <a:xfrm>
            <a:off x="1604865" y="2379306"/>
            <a:ext cx="184731" cy="369332"/>
          </a:xfrm>
          <a:prstGeom prst="rect">
            <a:avLst/>
          </a:prstGeom>
          <a:noFill/>
        </p:spPr>
        <p:txBody>
          <a:bodyPr wrap="none" rtlCol="0">
            <a:spAutoFit/>
          </a:bodyPr>
          <a:lstStyle/>
          <a:p>
            <a:endParaRPr lang="en-IN" dirty="0"/>
          </a:p>
        </p:txBody>
      </p:sp>
      <p:pic>
        <p:nvPicPr>
          <p:cNvPr id="17" name="Picture 16">
            <a:extLst>
              <a:ext uri="{FF2B5EF4-FFF2-40B4-BE49-F238E27FC236}">
                <a16:creationId xmlns:a16="http://schemas.microsoft.com/office/drawing/2014/main" id="{13348C9C-3611-5914-3CD8-50CEFE6754BC}"/>
              </a:ext>
            </a:extLst>
          </p:cNvPr>
          <p:cNvPicPr>
            <a:picLocks noChangeAspect="1"/>
          </p:cNvPicPr>
          <p:nvPr/>
        </p:nvPicPr>
        <p:blipFill>
          <a:blip r:embed="rId3"/>
          <a:stretch>
            <a:fillRect/>
          </a:stretch>
        </p:blipFill>
        <p:spPr>
          <a:xfrm>
            <a:off x="867747" y="1474236"/>
            <a:ext cx="10282335" cy="519072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2807737"/>
            <a:ext cx="9131437" cy="621263"/>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770</TotalTime>
  <Words>4718</Words>
  <Application>Microsoft Office PowerPoint</Application>
  <PresentationFormat>Widescreen</PresentationFormat>
  <Paragraphs>910</Paragraphs>
  <Slides>57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Bahnschrift SemiLight</vt:lpstr>
      <vt:lpstr>Bookman Old Style</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MOHIT DE</cp:lastModifiedBy>
  <cp:revision>101</cp:revision>
  <dcterms:created xsi:type="dcterms:W3CDTF">2021-07-11T13:13:15Z</dcterms:created>
  <dcterms:modified xsi:type="dcterms:W3CDTF">2026-09-10T07:14:03Z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